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97025d193ba4bc3" /><Relationship Type="http://schemas.openxmlformats.org/officeDocument/2006/relationships/extended-properties" Target="/docProps/app.xml" Id="Rd17febce68634d56" /><Relationship Type="http://schemas.openxmlformats.org/officeDocument/2006/relationships/officeDocument" Target="/ppt/presentation.xml" Id="R591c6eeee30b4cae" /></Relationships>
</file>

<file path=ppt/presentation.xml><?xml version="1.0" encoding="utf-8"?>
<p:presentation xmlns:p="http://schemas.openxmlformats.org/presentationml/2006/main">
  <p:sldMasterIdLst>
    <p:sldMasterId xmlns:r="http://schemas.openxmlformats.org/officeDocument/2006/relationships" id="2147483648" r:id="R2c3836014916402a"/>
  </p:sldMasterIdLst>
  <p:notesMasterIdLst>
    <p:notesMasterId xmlns:r="http://schemas.openxmlformats.org/officeDocument/2006/relationships" r:id="R6ed69d906ada44d6"/>
  </p:notesMasterIdLst>
  <p:sldIdLst>
    <p:sldId xmlns:r="http://schemas.openxmlformats.org/officeDocument/2006/relationships" id="256" r:id="Rdc34072ea2974f57"/>
    <p:sldId xmlns:r="http://schemas.openxmlformats.org/officeDocument/2006/relationships" id="257" r:id="R625c44b3a5374aca"/>
    <p:sldId xmlns:r="http://schemas.openxmlformats.org/officeDocument/2006/relationships" id="258" r:id="R0d5ff5574b034146"/>
    <p:sldId xmlns:r="http://schemas.openxmlformats.org/officeDocument/2006/relationships" id="259" r:id="Rafbecb19a47841bc"/>
    <p:sldId xmlns:r="http://schemas.openxmlformats.org/officeDocument/2006/relationships" id="260" r:id="Rc5e2a8b601274370"/>
    <p:sldId xmlns:r="http://schemas.openxmlformats.org/officeDocument/2006/relationships" id="261" r:id="Rbce5c633a1414632"/>
    <p:sldId xmlns:r="http://schemas.openxmlformats.org/officeDocument/2006/relationships" id="262" r:id="R4bbbcec8d07b403f"/>
    <p:sldId xmlns:r="http://schemas.openxmlformats.org/officeDocument/2006/relationships" id="263" r:id="R11c4fe2458774f1b"/>
    <p:sldId xmlns:r="http://schemas.openxmlformats.org/officeDocument/2006/relationships" id="264" r:id="R8dcad977d07d47cb"/>
    <p:sldId xmlns:r="http://schemas.openxmlformats.org/officeDocument/2006/relationships" id="265" r:id="Rd0ebed1945b247ae"/>
    <p:sldId xmlns:r="http://schemas.openxmlformats.org/officeDocument/2006/relationships" id="266" r:id="R414051381a344579"/>
    <p:sldId xmlns:r="http://schemas.openxmlformats.org/officeDocument/2006/relationships" id="267" r:id="R3ec30986de9c4a65"/>
    <p:sldId xmlns:r="http://schemas.openxmlformats.org/officeDocument/2006/relationships" id="268" r:id="R4e1b2f687dbf422d"/>
    <p:sldId xmlns:r="http://schemas.openxmlformats.org/officeDocument/2006/relationships" id="269" r:id="Rb7a332b7d642440c"/>
    <p:sldId xmlns:r="http://schemas.openxmlformats.org/officeDocument/2006/relationships" id="270" r:id="R32292c86c5fa402d"/>
    <p:sldId xmlns:r="http://schemas.openxmlformats.org/officeDocument/2006/relationships" id="271" r:id="Rb690f36e5d3647b5"/>
    <p:sldId xmlns:r="http://schemas.openxmlformats.org/officeDocument/2006/relationships" id="272" r:id="R12561f9e8477482f"/>
    <p:sldId xmlns:r="http://schemas.openxmlformats.org/officeDocument/2006/relationships" id="273" r:id="R00384a58e31d44b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93351630694cb0" /><Relationship Type="http://schemas.openxmlformats.org/officeDocument/2006/relationships/slideMaster" Target="/ppt/slideMasters/slideMaster1.xml" Id="R2c3836014916402a" /><Relationship Type="http://schemas.openxmlformats.org/officeDocument/2006/relationships/notesMaster" Target="/ppt/notesMasters/notesMaster1.xml" Id="R6ed69d906ada44d6" /><Relationship Type="http://schemas.openxmlformats.org/officeDocument/2006/relationships/presProps" Target="/ppt/presProps.xml" Id="R06617189245a49fc" /><Relationship Type="http://schemas.openxmlformats.org/officeDocument/2006/relationships/tableStyles" Target="/ppt/tableStyles.xml" Id="R4ce51962d4064834" /><Relationship Type="http://schemas.openxmlformats.org/officeDocument/2006/relationships/slide" Target="/ppt/slides/slide1.xml" Id="Rdc34072ea2974f57" /><Relationship Type="http://schemas.openxmlformats.org/officeDocument/2006/relationships/slide" Target="/ppt/slides/slide2.xml" Id="R625c44b3a5374aca" /><Relationship Type="http://schemas.openxmlformats.org/officeDocument/2006/relationships/slide" Target="/ppt/slides/slide3.xml" Id="R0d5ff5574b034146" /><Relationship Type="http://schemas.openxmlformats.org/officeDocument/2006/relationships/slide" Target="/ppt/slides/slide4.xml" Id="Rafbecb19a47841bc" /><Relationship Type="http://schemas.openxmlformats.org/officeDocument/2006/relationships/slide" Target="/ppt/slides/slide5.xml" Id="Rc5e2a8b601274370" /><Relationship Type="http://schemas.openxmlformats.org/officeDocument/2006/relationships/slide" Target="/ppt/slides/slide6.xml" Id="Rbce5c633a1414632" /><Relationship Type="http://schemas.openxmlformats.org/officeDocument/2006/relationships/slide" Target="/ppt/slides/slide7.xml" Id="R4bbbcec8d07b403f" /><Relationship Type="http://schemas.openxmlformats.org/officeDocument/2006/relationships/slide" Target="/ppt/slides/slide8.xml" Id="R11c4fe2458774f1b" /><Relationship Type="http://schemas.openxmlformats.org/officeDocument/2006/relationships/slide" Target="/ppt/slides/slide9.xml" Id="R8dcad977d07d47cb" /><Relationship Type="http://schemas.openxmlformats.org/officeDocument/2006/relationships/slide" Target="/ppt/slides/slide10.xml" Id="Rd0ebed1945b247ae" /><Relationship Type="http://schemas.openxmlformats.org/officeDocument/2006/relationships/slide" Target="/ppt/slides/slide11.xml" Id="R414051381a344579" /><Relationship Type="http://schemas.openxmlformats.org/officeDocument/2006/relationships/slide" Target="/ppt/slides/slide12.xml" Id="R3ec30986de9c4a65" /><Relationship Type="http://schemas.openxmlformats.org/officeDocument/2006/relationships/slide" Target="/ppt/slides/slide13.xml" Id="R4e1b2f687dbf422d" /><Relationship Type="http://schemas.openxmlformats.org/officeDocument/2006/relationships/slide" Target="/ppt/slides/slide14.xml" Id="Rb7a332b7d642440c" /><Relationship Type="http://schemas.openxmlformats.org/officeDocument/2006/relationships/slide" Target="/ppt/slides/slide15.xml" Id="R32292c86c5fa402d" /><Relationship Type="http://schemas.openxmlformats.org/officeDocument/2006/relationships/slide" Target="/ppt/slides/slide16.xml" Id="Rb690f36e5d3647b5" /><Relationship Type="http://schemas.openxmlformats.org/officeDocument/2006/relationships/slide" Target="/ppt/slides/slide17.xml" Id="R12561f9e8477482f" /><Relationship Type="http://schemas.openxmlformats.org/officeDocument/2006/relationships/slide" Target="/ppt/slides/slide18.xml" Id="R00384a58e31d44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e92e1793624a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ec2c2631c94432" /><Relationship Type="http://schemas.openxmlformats.org/officeDocument/2006/relationships/notesMaster" Target="/ppt/notesMasters/notesMaster1.xml" Id="R39b05b6088654a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5980ef61764d1a" /><Relationship Type="http://schemas.openxmlformats.org/officeDocument/2006/relationships/notesMaster" Target="/ppt/notesMasters/notesMaster1.xml" Id="Re88a0d41c4b342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eb2208c9534610" /><Relationship Type="http://schemas.openxmlformats.org/officeDocument/2006/relationships/notesMaster" Target="/ppt/notesMasters/notesMaster1.xml" Id="Rb7799bc19d1549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8dd509b52245d0" /><Relationship Type="http://schemas.openxmlformats.org/officeDocument/2006/relationships/notesMaster" Target="/ppt/notesMasters/notesMaster1.xml" Id="Re037a5cb33fc43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fb1c3e6b0542bd" /><Relationship Type="http://schemas.openxmlformats.org/officeDocument/2006/relationships/notesMaster" Target="/ppt/notesMasters/notesMaster1.xml" Id="R3d98bb2cb7a440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0695dd433b481d" /><Relationship Type="http://schemas.openxmlformats.org/officeDocument/2006/relationships/notesMaster" Target="/ppt/notesMasters/notesMaster1.xml" Id="R774d51fa446241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b7e171d9614a9c" /><Relationship Type="http://schemas.openxmlformats.org/officeDocument/2006/relationships/notesMaster" Target="/ppt/notesMasters/notesMaster1.xml" Id="Rca4eb53aade247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066e7269fb4b24" /><Relationship Type="http://schemas.openxmlformats.org/officeDocument/2006/relationships/notesMaster" Target="/ppt/notesMasters/notesMaster1.xml" Id="R4db443ae43f543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c75a2da44f43dd" /><Relationship Type="http://schemas.openxmlformats.org/officeDocument/2006/relationships/notesMaster" Target="/ppt/notesMasters/notesMaster1.xml" Id="R8c0e29d7c65f4c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0d98b03edc4733" /><Relationship Type="http://schemas.openxmlformats.org/officeDocument/2006/relationships/notesMaster" Target="/ppt/notesMasters/notesMaster1.xml" Id="R2bab9aff34554d1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f36afa03c2e4a96" /><Relationship Type="http://schemas.openxmlformats.org/officeDocument/2006/relationships/notesMaster" Target="/ppt/notesMasters/notesMaster1.xml" Id="R5199040b8e9e446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33b6b78dc75480f" /><Relationship Type="http://schemas.openxmlformats.org/officeDocument/2006/relationships/notesMaster" Target="/ppt/notesMasters/notesMaster1.xml" Id="R685eea35a77244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a9a33c3dd2341f7" /><Relationship Type="http://schemas.openxmlformats.org/officeDocument/2006/relationships/notesMaster" Target="/ppt/notesMasters/notesMaster1.xml" Id="R909637954d964f8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423a26687d442d" /><Relationship Type="http://schemas.openxmlformats.org/officeDocument/2006/relationships/notesMaster" Target="/ppt/notesMasters/notesMaster1.xml" Id="R74a216be30a14e1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8ab6fe110f24707" /><Relationship Type="http://schemas.openxmlformats.org/officeDocument/2006/relationships/notesMaster" Target="/ppt/notesMasters/notesMaster1.xml" Id="R68241e77db734ec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c6e052214dc43d0" /><Relationship Type="http://schemas.openxmlformats.org/officeDocument/2006/relationships/notesMaster" Target="/ppt/notesMasters/notesMaster1.xml" Id="R6977e5bb35404e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9c7920fae94ca9" /><Relationship Type="http://schemas.openxmlformats.org/officeDocument/2006/relationships/notesMaster" Target="/ppt/notesMasters/notesMaster1.xml" Id="R42c5512f6b9e46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2d519691dd14247" /><Relationship Type="http://schemas.openxmlformats.org/officeDocument/2006/relationships/notesMaster" Target="/ppt/notesMasters/notesMaster1.xml" Id="R35522389e8324b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Apresente o trabalho como projeto de qualificação de Débora Cristina Coutinho Vilas Bôas, orientado pela professora Suzana Rodrigues, no Doutorado em Administração da Universidade FUMEC. A agenda informada é 27 de outubro de 2026, às 15 horas. Este roteiro reúne a proposta e uma extensão analítica independente para apoiar a discussão: essa distinção será identificada ao longo da apresentação. Abra com a pergunta: quando comparamos números de sinistros, estamos comparando segurança, capacidade de registrar ou ambas? A fotografia da capa é uma ilustração gerada por IA e não documenta um sinistro real. Fonte: projeto, capa e resumo; agenda informada pelo avaliador.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segundos.</a:t>
            </a:r>
          </a:p>
          <a:p xmlns:a="http://schemas.openxmlformats.org/drawingml/2006/main">
            <a:r>
              <a:t/>
            </a:r>
          </a:p>
          <a:p xmlns:a="http://schemas.openxmlformats.org/drawingml/2006/main">
            <a:r>
              <a:t>A comparação convencional usa sinistros registrados como indicador comum de desempenho. A proposta questiona a comparabilidade desse indicador quando os arranjos têm obrigações e instrumentos de observação diferentes. Não se afirma que todo aumento de registro decorra de melhor observação, nem que concessões registrem perfeitamente: são mecanismos concorrentes que precisam ser testados. O problema é metodológico e institucional. A cobertura da informação afeta quem entra no mapa das prioridades e como gestores são avaliados. O segundo problema surge depois: mesmo quando o risco é conhecido, a resposta não é automática. Transição: qual é o argumento que conecta os dois problemas? Fonte: projeto, seções 1.2–1.6.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segundos.</a:t>
            </a:r>
          </a:p>
          <a:p xmlns:a="http://schemas.openxmlformats.org/drawingml/2006/main">
            <a:r>
              <a:t/>
            </a:r>
          </a:p>
          <a:p xmlns:a="http://schemas.openxmlformats.org/drawingml/2006/main">
            <a:r>
              <a:t>A seção 1.5 argumenta que dados oficiais não são um retrato neutro: dependem da capacidade de registro do próprio arranjo. O conceito proposto é Visibilidade da Governança Pública Regulatória. A segunda proposição é que registrar o risco não garante resposta estatal. É importante distinguir o argumento da autora da evidência já obtida: persistência de perdas, isoladamente, não comprova ausência de ação. A classificação de falha de governança precisa reconstruir obrigações, decisões e execução, e diferenciar ação inexistente de ação insuficiente. O teste adequado deve permitir refutar a hipótese, incluindo casos em que o arranjo respondeu e os resultados não melhoraram. Fonte: projeto, seção 1.5; síntese interpretativa para discussão.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65 segundos.</a:t>
            </a:r>
          </a:p>
          <a:p xmlns:a="http://schemas.openxmlformats.org/drawingml/2006/main">
            <a:r>
              <a:t/>
            </a:r>
          </a:p>
          <a:p xmlns:a="http://schemas.openxmlformats.org/drawingml/2006/main">
            <a:r>
              <a:t>Scott é a teoria de base no projeto. Espeland e Stevens ajudam a compreender a transformação de realidades distintas em métricas comuns. Power alerta para a diferença entre tornar algo auditável e melhorar seu resultado. A proposta articula esses elementos à governança regulatória e ao ciclo PDCA. O cuidado é não tratar o PDCA como explicação suficiente: é preciso mostrar o mecanismo que produz uma interrupção. Desacoplamento institucional e responsabilidade distribuída são explicações complementares introduzidas na agenda do laboratório, não resultados já comprovados pela autora. Fontes: projeto, seções 2.1–2.8; Scott (1998), Espeland e Stevens (1998), Power (1997).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segundos.</a:t>
            </a:r>
          </a:p>
          <a:p xmlns:a="http://schemas.openxmlformats.org/drawingml/2006/main">
            <a:r>
              <a:t/>
            </a:r>
          </a:p>
          <a:p xmlns:a="http://schemas.openxmlformats.org/drawingml/2006/main">
            <a:r>
              <a:t>A autora propõe deslocar a mensurabilidade de condição para a escolha de governança para consequência dessa escolha. Essa é uma possibilidade de contribuição de doutorado, mas não pode se apoiar apenas no nome de um construto ou na disponibilidade de um painel. É necessário estabelecer a diferença em relação à capacidade informacional, transparência, auditabilidade e desempenho, com previsões observáveis. Na literatura de concessões, resultados favoráveis à segurança e diferenças de registro podem coexistir. A presente extensão não refuta estudos causais anteriores com uma associação contemporânea. O produto técnico é útil quando explicita onde há evidência, onde há incompatibilidade e qual decisão de pesquisa vem a seguir. Fontes: projeto, seção 1.6; Alves et al. (2021), https://www.urbandemographics.org/files/2021_Alves_highway-concessions-road-safety.pdf.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segundos.</a:t>
            </a:r>
          </a:p>
          <a:p xmlns:a="http://schemas.openxmlformats.org/drawingml/2006/main">
            <a:r>
              <a:t/>
            </a:r>
          </a:p>
          <a:p xmlns:a="http://schemas.openxmlformats.org/drawingml/2006/main">
            <a:r>
              <a:t>O projeto prevê métodos mistos e exclusivamente dados e documentos públicos. A etapa quantitativa organiza diagnóstico informacional, sinistros esperados, gradiente de gravidade e persistência; a etapa documental examina obrigações e resposta no PDCA. A integração precisa preservar a unidade e a versão da malha. A contagem esperada de um modelo é uma previsão sob suas hipóteses: não é observação do total real de sinistros. Portanto, a diferença observado–esperado não identifica sozinha sub-registro. Na etapa institucional, processos, relatórios e pedidos de LAI podem esclarecer lacunas; entrevistas são uma possível extensão futura, fora do desenho público documental original. Este slide apresenta o desenho; os próximos distinguem o que já foi executado no laboratório. Fonte: projeto, seções 3 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segundos.</a:t>
            </a:r>
          </a:p>
          <a:p xmlns:a="http://schemas.openxmlformats.org/drawingml/2006/main">
            <a:r>
              <a:t/>
            </a:r>
          </a:p>
          <a:p xmlns:a="http://schemas.openxmlformats.org/drawingml/2006/main">
            <a:r>
              <a:t>Estes números são da extensão executada para apoiar a avaliação, não devem ser atribuídos como resultados já produzidos pela autora. As ocorrências PRF foram auditadas quanto a identificadores, classificação, localização, datas e pessoas. O PNCT fornece um denominador de tráfego nos dois arranjos, embora modelado e com janela específica em 2025. O SNV de 2026 permite visualizar a rede e diagnosticar vinculação retrospectiva, sem certificar mudanças de gestão. Os dados ANTT preservados oferecem insumos institucionais, ainda com necessidade de harmonização. Passagens em pedágios não foram tratadas como VMD de cada trecho. As fontes podem ser reproduzidas pela release e notebook. Fontes oficiais: https://www.gov.br/prf/pt-br/acesso-a-informacao/dados-abertos/dados-abertos-da-prf ; https://servicos.dnit.gov.br/dadospnct ; https://dados.antt.gov.br/.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65 segundos.</a:t>
            </a:r>
          </a:p>
          <a:p xmlns:a="http://schemas.openxmlformats.org/drawingml/2006/main">
            <a:r>
              <a:t/>
            </a:r>
          </a:p>
          <a:p xmlns:a="http://schemas.openxmlformats.org/drawingml/2006/main">
            <a:r>
              <a:t>A matriz do caderno define indicador, unidade, fonte e condição de teste. SAT, câmeras e radares podem ser contados por concessionária, UF e situação na fotografia preservada; não é correto inferir instalação ou funcionamento em 2022 pelo cadastro atual. O campo ano do SNV é referência de malha, não ano de instalação. Nos investimentos, previsto e executado precisam ter a unidade confirmada e a versão temporal adequada; não presumir que sejam dinheiro. As datas de conclusão ajudam a identificar candidatos a intervenções, mas exigem confirmação de objeto e localização. Obrigações e coordenação devem ser codificadas a partir de contratos e documentos. Fontes: arquivos oficiais preservados; matriz exports/operacionalizacao-governanca.csv e protocolo de governança do laboratório.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segundos.</a:t>
            </a:r>
          </a:p>
          <a:p xmlns:a="http://schemas.openxmlformats.org/drawingml/2006/main">
            <a:r>
              <a:t/>
            </a:r>
          </a:p>
          <a:p xmlns:a="http://schemas.openxmlformats.org/drawingml/2006/main">
            <a:r>
              <a:t>A regressão logística avalia a chance condicional de um sinistro registrado ser fatal. A binomial negativa usa exposição para comparar contagens e acomoda sobredispersão, com controles de infraestrutura, composição do tráfego, UF e ano. A multinomial distingue gravidade máxima em quatro categorias, sem impor um único efeito ordinal. A persistência é descritiva do universo que teve registro em algum ano. Os modelos têm validação e sensibilidades, mas não medem diretamente governança nem eventos ocultos. Moderação só testa um mecanismo institucional quando seus componentes foram medidos temporalmente; mediação requer ordem temporal e pressupostos de confundimento, não apenas um SEM bem ajustado. Fontes: scripts analisar.py, analisar_exposicao.py e modelo_multinomial.py; https://imai.fas.harvard.edu/research/mediation/.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90 segundos.</a:t>
            </a:r>
          </a:p>
          <a:p xmlns:a="http://schemas.openxmlformats.org/drawingml/2006/main">
            <a:r>
              <a:t/>
            </a:r>
          </a:p>
          <a:p xmlns:a="http://schemas.openxmlformats.org/drawingml/2006/main">
            <a:r>
              <a:t>A contagem passou de 5.441 mortes em 2022 para 6.043 em 2025, crescimento de aproximadamente 11,1%. O pico no intervalo foi 2024, com 6.163; 2025 apresenta redução em relação a esse ano. Essa leitura impede descrever uma tendência uniformemente crescente. A interpretação central é que número absoluto não é risco por viagem: mudanças de tráfego e cobertura de registro podem alterar a contagem. O próximo passo é usar exposição e examinar a sensibilidade da comparação. A informação gerencial é relevante para dimensionar perdas, mas não autoriza ranking causal entre modelos de administração. Fonte: PRF, arquivos anuais da release dados-2026-10-17; exports/indicadores-anuais.csv.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segundos.</a:t>
            </a:r>
          </a:p>
          <a:p xmlns:a="http://schemas.openxmlformats.org/drawingml/2006/main">
            <a:r>
              <a:t/>
            </a:r>
          </a:p>
          <a:p xmlns:a="http://schemas.openxmlformats.org/drawingml/2006/main">
            <a:r>
              <a:t>O resultado é um bom exemplo de por que a banca deve exigir a cadeia completa de mensuração. As taxas brutas e a associação ajustada podem apontar em direções diferentes. No modelo NB2, a associação de concessão com mortes é aproximadamente 1,20; ao excluir segmentos não simuláveis, o IC inclui a ausência de associação na escala do modelo. Não é prova de igualdade, mas evidencia sensibilidade. A exposição PNCT é estimada e sua incerteza não foi propagada aos intervalos. Há classificação cadastral e confundimento residual. A contribuição empírica aqui é mostrar a dependência da comparação às decisões analíticas, não confirmar a tese institucional. Fonte: dist/data/exposicao.json, modelos e sensitivity.sem_nao_simulavel; notas técnicas PNCT.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segundos.</a:t>
            </a:r>
          </a:p>
          <a:p xmlns:a="http://schemas.openxmlformats.org/drawingml/2006/main">
            <a:r>
              <a:t/>
            </a:r>
          </a:p>
          <a:p xmlns:a="http://schemas.openxmlformats.org/drawingml/2006/main">
            <a:r>
              <a:t>O modelo multinomial permite que as associações sejam diferentes para cada desfecho. A referência é sem vítimas e os tipos mais frequentes foram selecionados somente no treino 2022–2023. Para a categoria morte versus sem vítimas, a RRR de noite é cerca de 1,30; isso não equivale a aumento de 30% no risco marginal de viajar à noite. A comparação é de razões de probabilidades entre registros. No teste 2024–2025, log loss e Brier melhoram em relação à distribuição constante do treino, mas a acurácia quase não muda e a classe fatal tem baixa sensibilidade. Esse limite precisa ser mostrado junto com o resultado, assim como a hipótese IIA e possíveis diferenças de cobertura dos sinistros sem vítimas. Fonte: dist/data/multinomial.json e notebook, extensão multinomial.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segundos.</a:t>
            </a:r>
          </a:p>
          <a:p xmlns:a="http://schemas.openxmlformats.org/drawingml/2006/main">
            <a:r>
              <a:t/>
            </a:r>
          </a:p>
          <a:p xmlns:a="http://schemas.openxmlformats.org/drawingml/2006/main">
            <a:r>
              <a:t>A correlação de Spearman mostra que parte da concentração espacial persiste entre os biênios. O IC decorre de 500 reamostragens de corredores UF–BR, com semente preservada. Essa análise ajuda a selecionar episódios e casos contrários à hipótese. O universo não é toda a malha: exige ao menos um registro no período completo, inclusive posterior ao primeiro biênio, de modo que não é uma validação prospectiva. A persistência pode coexistir com intervenção executada, resposta insuficiente, alterações do tráfego ou novos riscos. A etapa documental deve separar esses cenários, sem transformar recorrência em diagnóstico automático de falha do PDCA. Fonte: dist/data/persistencia.json; projeto, proposta de análise de persistência e resposta registrada.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50 segundos.</a:t>
            </a:r>
          </a:p>
          <a:p xmlns:a="http://schemas.openxmlformats.org/drawingml/2006/main">
            <a:r>
              <a:t/>
            </a:r>
          </a:p>
          <a:p xmlns:a="http://schemas.openxmlformats.org/drawingml/2006/main">
            <a:r>
              <a:t>Este quadro é a ponte entre ambição teórica e execução. Já é possível auditar, descrever padrões e estimar associações com o tráfego e as características disponíveis. Há condições para selecionar candidatos a estudos documentais, mas não para classificá-los automaticamente como falhas. Os históricos de contrato, disponibilidade e resposta precisam ser integrados, e as relações causais exigem desenho próprio. Isso não torna a tese inviável: define a tarefa que precisa ser realizada para sua contribuição ultrapassar uma análise de segurança viária acompanhada de narrativa institucional. Fonte: exports/viabilidade-protocolo.json e protocolo de governança do caderno.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50 segundos.</a:t>
            </a:r>
          </a:p>
          <a:p xmlns:a="http://schemas.openxmlformats.org/drawingml/2006/main">
            <a:r>
              <a:t/>
            </a:r>
          </a:p>
          <a:p xmlns:a="http://schemas.openxmlformats.org/drawingml/2006/main">
            <a:r>
              <a:t>Apresente este quadro como cronograma original da autora, sem deslocar meses automaticamente. A agenda informada pelo avaliador é 27 de outubro às 15h, enquanto o Quadro 8 marca qualificação em novembro e dezembro: esse ponto deve ser harmonizado. A auditoria e revisão antecedem e acompanham a qualificação. O diagnóstico informacional, os modelos e a análise documental estão organizados até 2027. O acesso a documentos por LAI exige antecedência e pode afetar a sequência. A classificação de perdas não registradas depende de evidência adicional e não está validada apenas por resíduos. Preserve o planejamento e explicite quais etapas a extensão do laboratório ajuda a preparar. Fonte: projeto, seção 6, Quadro 8; meses extraídos das células originais do 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50 segundos.</a:t>
            </a:r>
          </a:p>
          <a:p xmlns:a="http://schemas.openxmlformats.org/drawingml/2006/main">
            <a:r>
              <a:t/>
            </a:r>
          </a:p>
          <a:p xmlns:a="http://schemas.openxmlformats.org/drawingml/2006/main">
            <a:r>
              <a:t>Apresente este quadro como cronograma original da autora, sem deslocar meses automaticamente. A agenda informada pelo avaliador é 27 de outubro às 15h, enquanto o Quadro 8 marca qualificação em novembro e dezembro: esse ponto deve ser harmonizado. A auditoria e revisão antecedem e acompanham a qualificação. O diagnóstico informacional, os modelos e a análise documental estão organizados até 2027. O acesso a documentos por LAI exige antecedência e pode afetar a sequência. A classificação de perdas não registradas depende de evidência adicional e não está validada apenas por resíduos. Preserve o planejamento e explicite quais etapas a extensão do laboratório ajuda a preparar. Fonte: projeto, seção 6, Quadro 8; meses extraídos das células originais do 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segundos.</a:t>
            </a:r>
          </a:p>
          <a:p xmlns:a="http://schemas.openxmlformats.org/drawingml/2006/main">
            <a:r>
              <a:t/>
            </a:r>
          </a:p>
          <a:p xmlns:a="http://schemas.openxmlformats.org/drawingml/2006/main">
            <a:r>
              <a:t>Retome a pergunta inicial e responda ao e daí. A extensão mostra que comparações dependem de exposição, universo e controles e que a associação é sensível a escolhas. Isso é compatível com a necessidade de tratar a produção dos indicadores como parte da governança, mas ainda não identifica o mecanismo. A contribuição de doutorado surgirá quando medidas institucionais explicarem como informação altera prioridades e respostas, confrontando tráfego, infraestrutura e explicações alternativas. A proposta deve declarar condições de confirmação e refutação e manter a distinção entre capacidade de registro e desempenho de segurança. As dez melhorias do caderno detalham esse avanço. Fontes: projeto, seções 1.6, 3 e 4; protocolo de operacionalização e viabilidade do laboratório.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Encerre retomando a contribuição em uma frase e abra a discussão. O laboratório e a apresentação são materiais de apoio à avaliação do projeto, com extensões explicitamente identificadas. Reforce que os dados e códigos públicos permitem verificar os cálculos, enquanto o plano institucional permite definir o que ainda deve ser coletado. Não prometa que a tese está confirmada nem que determinado arranjo é superior. Deixe os links de apoio disponíveis para perguntas e para aprofundar a sequência de documentos, variáveis e testes. Fonte: caderno consolidado e repositório público.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e54c747c0a4d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af6d20293f403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ccae01cba054c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6f4c76098f45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56d476c791f40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5e517a1e4c04f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F5BFE8F-14D7-4632-9872-56B6894C6F0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49EF54-E0A0-4D66-9531-3D47726562A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092CAC-B542-4291-A5FB-E66BDDDCF3D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A53385-CD70-4DBF-BD85-59856D5EE9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90D338E-D5F8-4392-95A0-D45CCFF636F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133815-8E70-4CE4-8F61-A1DFD61CA5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B20DCE-7044-42D8-B343-A473C5B96D9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4B5B876-6C68-4EF1-B76D-043F796C3A5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F9D13D-CAD5-4603-8B2A-9C8F25A206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AF7155-BFB8-48AB-9040-11298846E7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6341bab47ed4c6c" /><Relationship Type="http://schemas.openxmlformats.org/officeDocument/2006/relationships/slideLayout" Target="/ppt/slideLayouts/slideLayout1.xml" Id="Rd6dfe0f735684b87" /><Relationship Type="http://schemas.openxmlformats.org/officeDocument/2006/relationships/slideLayout" Target="/ppt/slideLayouts/slideLayout2.xml" Id="R72c667027e694a18" /><Relationship Type="http://schemas.openxmlformats.org/officeDocument/2006/relationships/slideLayout" Target="/ppt/slideLayouts/slideLayout3.xml" Id="Reb8d408245434d2f" /><Relationship Type="http://schemas.openxmlformats.org/officeDocument/2006/relationships/slideLayout" Target="/ppt/slideLayouts/slideLayout4.xml" Id="R14e0a24770ee431a" /><Relationship Type="http://schemas.openxmlformats.org/officeDocument/2006/relationships/slideLayout" Target="/ppt/slideLayouts/slideLayout5.xml" Id="Ra5158a0d90a44eb9" /><Relationship Type="http://schemas.openxmlformats.org/officeDocument/2006/relationships/slideLayout" Target="/ppt/slideLayouts/slideLayout6.xml" Id="Rf73f4c583b8f47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dfe0f735684b87"/>
    <p:sldLayoutId xmlns:r="http://schemas.openxmlformats.org/officeDocument/2006/relationships" id="2147483650" r:id="R72c667027e694a18"/>
    <p:sldLayoutId xmlns:r="http://schemas.openxmlformats.org/officeDocument/2006/relationships" id="2147483651" r:id="Reb8d408245434d2f"/>
    <p:sldLayoutId xmlns:r="http://schemas.openxmlformats.org/officeDocument/2006/relationships" id="2147483652" r:id="R14e0a24770ee431a"/>
    <p:sldLayoutId xmlns:r="http://schemas.openxmlformats.org/officeDocument/2006/relationships" id="2147483653" r:id="Ra5158a0d90a44eb9"/>
    <p:sldLayoutId xmlns:r="http://schemas.openxmlformats.org/officeDocument/2006/relationships" id="2147483654" r:id="Rf73f4c583b8f47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81f7a6dc05f4ccb" /><Relationship Type="http://schemas.openxmlformats.org/officeDocument/2006/relationships/image" Target="/ppt/media/image.png" Id="R9d821213685143c8" /><Relationship Type="http://schemas.openxmlformats.org/officeDocument/2006/relationships/image" Target="/ppt/media/image2.png" Id="R9ebc04f3a0df4cb9" /><Relationship Type="http://schemas.openxmlformats.org/officeDocument/2006/relationships/notesSlide" Target="/ppt/notesSlides/notesSlide1.xml" Id="Rd1c436acf9cd4c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150be07183547d5" /><Relationship Type="http://schemas.openxmlformats.org/officeDocument/2006/relationships/notesSlide" Target="/ppt/notesSlides/notesSlide2.xml" Id="R8965422fccbb46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5998c68d2b6495d" /><Relationship Type="http://schemas.openxmlformats.org/officeDocument/2006/relationships/notesSlide" Target="/ppt/notesSlides/notesSlide3.xml" Id="Re3887ac596bc40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cc19b5930f24d18" /><Relationship Type="http://schemas.openxmlformats.org/officeDocument/2006/relationships/notesSlide" Target="/ppt/notesSlides/notesSlide4.xml" Id="R50e9f8977a3d4d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732d2651167476b" /><Relationship Type="http://schemas.openxmlformats.org/officeDocument/2006/relationships/notesSlide" Target="/ppt/notesSlides/notesSlide5.xml" Id="R2cad09d9896943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a463ae5aa24f26" /><Relationship Type="http://schemas.openxmlformats.org/officeDocument/2006/relationships/notesSlide" Target="/ppt/notesSlides/notesSlide6.xml" Id="R52bd6d06cbe246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a74e485fd34012" /><Relationship Type="http://schemas.openxmlformats.org/officeDocument/2006/relationships/notesSlide" Target="/ppt/notesSlides/notesSlide7.xml" Id="R46bf434ac2204b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5dc93c4fc07498b" /><Relationship Type="http://schemas.openxmlformats.org/officeDocument/2006/relationships/notesSlide" Target="/ppt/notesSlides/notesSlide8.xml" Id="R4557260775154ad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53c8c6b49a44dbf" /><Relationship Type="http://schemas.openxmlformats.org/officeDocument/2006/relationships/notesSlide" Target="/ppt/notesSlides/notesSlide9.xml" Id="R5e24a9ef2c3e4e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13c38eac5154e51" /><Relationship Type="http://schemas.openxmlformats.org/officeDocument/2006/relationships/chart" Target="/ppt/slides/charts/chart1.xml" Id="R67973f20198c4d64" /><Relationship Type="http://schemas.openxmlformats.org/officeDocument/2006/relationships/notesSlide" Target="/ppt/notesSlides/notesSlide10.xml" Id="R488a7bb48662431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2f7aa4423054873" /><Relationship Type="http://schemas.openxmlformats.org/officeDocument/2006/relationships/notesSlide" Target="/ppt/notesSlides/notesSlide11.xml" Id="R7604bf9ef66748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243990262746fc" /><Relationship Type="http://schemas.openxmlformats.org/officeDocument/2006/relationships/notesSlide" Target="/ppt/notesSlides/notesSlide12.xml" Id="R95b4a70661094dd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acff3043314fd0" /><Relationship Type="http://schemas.openxmlformats.org/officeDocument/2006/relationships/notesSlide" Target="/ppt/notesSlides/notesSlide13.xml" Id="R8476a8100bf749e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d6cbc3926d848f2" /><Relationship Type="http://schemas.openxmlformats.org/officeDocument/2006/relationships/notesSlide" Target="/ppt/notesSlides/notesSlide14.xml" Id="R72307c51f9d14a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50f92d526ef4711" /><Relationship Type="http://schemas.openxmlformats.org/officeDocument/2006/relationships/notesSlide" Target="/ppt/notesSlides/notesSlide15.xml" Id="R2eee1ac3ffc0445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bfd2a8176394a65" /><Relationship Type="http://schemas.openxmlformats.org/officeDocument/2006/relationships/notesSlide" Target="/ppt/notesSlides/notesSlide16.xml" Id="Rf4250b2ba7d3407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5c391313ef94fab" /><Relationship Type="http://schemas.openxmlformats.org/officeDocument/2006/relationships/notesSlide" Target="/ppt/notesSlides/notesSlide17.xml" Id="Re98c145ab3994d9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af5484d16ca47d7" /><Relationship Type="http://schemas.openxmlformats.org/officeDocument/2006/relationships/notesSlide" Target="/ppt/notesSlides/notesSlide18.xml" Id="R42d1ab6354ca413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Mortes registradas</c:v>
          </c:tx>
          <c:spPr>
            <a:solidFill xmlns:a="http://schemas.openxmlformats.org/drawingml/2006/main">
              <a:srgbClr val="A33B32"/>
            </a:solidFill>
          </c:spPr>
          <c:invertIfNegative val="0"/>
          <c:cat>
            <c:numRef>
              <c:f>'Chart Data'!$A$2:$A$5</c:f>
              <c:numCache>
                <c:formatCode>General</c:formatCode>
                <c:ptCount val="4"/>
                <c:pt idx="0">
                  <c:v>2022</c:v>
                </c:pt>
                <c:pt idx="1">
                  <c:v>2023</c:v>
                </c:pt>
                <c:pt idx="2">
                  <c:v>2024</c:v>
                </c:pt>
                <c:pt idx="3">
                  <c:v>2025</c:v>
                </c:pt>
              </c:numCache>
            </c:numRef>
          </c:cat>
          <c:val>
            <c:numRef>
              <c:f>'Chart Data'!$B$2:$B$5</c:f>
              <c:numCache>
                <c:formatCode>General</c:formatCode>
                <c:ptCount val="4"/>
                <c:pt idx="0">
                  <c:v>5441</c:v>
                </c:pt>
                <c:pt idx="1">
                  <c:v>5627</c:v>
                </c:pt>
                <c:pt idx="2">
                  <c:v>6163</c:v>
                </c:pt>
                <c:pt idx="3">
                  <c:v>6043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00">
                  <a:solidFill>
                    <a:srgbClr val="302B29"/>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majorGridlines>
          <c:spPr>
            <a:ln xmlns:a="http://schemas.openxmlformats.org/drawingml/2006/main" w="0">
              <a:no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75665C"/>
                </a:solidFill>
                <a:latin typeface="Arial"/>
                <a:ea typeface="Arial"/>
                <a:cs typeface="Arial"/>
              </a:defRPr>
            </a:pPr>
          </a:p>
        </c:txPr>
        <c:crossAx val="48672768"/>
      </c:catAx>
      <c:valAx>
        <c:axId val="48672768"/>
        <c:scaling>
          <c:orientation val="minMax"/>
          <c:max val="7000"/>
          <c:min val="0"/>
        </c:scaling>
        <c:delete val="1"/>
        <c:axPos val="l"/>
        <c:majorGridlines>
          <c:spPr>
            <a:ln xmlns:a="http://schemas.openxmlformats.org/drawingml/2006/main" w="0">
              <a:no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29252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3135DBE-4C6B-4733-89BA-9C81BCF38F14}"/>
              </a:ext>
            </a:extLst>
          </p:cNvPr>
          <p:cNvPicPr>
            <a:picLocks xmlns:a="http://schemas.openxmlformats.org/drawingml/2006/main" noChangeAspect="1"/>
          </p:cNvPicPr>
          <p:nvPr/>
        </p:nvPicPr>
        <p:blipFill>
          <a:blip xmlns:r="http://schemas.openxmlformats.org/officeDocument/2006/relationships" xmlns:a="http://schemas.openxmlformats.org/drawingml/2006/main" r:embed="R9d821213685143c8"/>
          <a:srcRect xmlns:a="http://schemas.openxmlformats.org/drawingml/2006/main" l="50000" t="0" r="0" b="0"/>
          <a:stretch xmlns:a="http://schemas.openxmlformats.org/drawingml/2006/main"/>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F4EBAC-1EEF-4AE4-A838-C2FE39B62238}"/>
              </a:ext>
            </a:extLst>
          </p:cNvPr>
          <p:cNvSpPr>
            <a:spLocks xmlns:a="http://schemas.openxmlformats.org/drawingml/2006/main" noGrp="1"/>
          </p:cNvSpPr>
          <p:nvPr/>
        </p:nvSpPr>
        <p:spPr>
          <a:xfrm xmlns:a="http://schemas.openxmlformats.org/drawingml/2006/main">
            <a:off x="647700" y="438150"/>
            <a:ext cx="1695450" cy="9334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BAECD17D-A7FF-4024-803F-6EEC0B6DA7AA}"/>
              </a:ext>
            </a:extLst>
          </p:cNvPr>
          <p:cNvPicPr>
            <a:picLocks xmlns:a="http://schemas.openxmlformats.org/drawingml/2006/main" noChangeAspect="1"/>
          </p:cNvPicPr>
          <p:nvPr/>
        </p:nvPicPr>
        <p:blipFill>
          <a:blip xmlns:r="http://schemas.openxmlformats.org/officeDocument/2006/relationships" xmlns:a="http://schemas.openxmlformats.org/drawingml/2006/main" r:embed="R9ebc04f3a0df4cb9"/>
          <a:stretch xmlns:a="http://schemas.openxmlformats.org/drawingml/2006/main"/>
        </p:blipFill>
        <p:spPr>
          <a:xfrm xmlns:a="http://schemas.openxmlformats.org/drawingml/2006/main">
            <a:off x="704850" y="477537"/>
            <a:ext cx="1581150" cy="85467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80ABAF2-ACB5-43E7-9D0B-96B6B8F75759}"/>
              </a:ext>
            </a:extLst>
          </p:cNvPr>
          <p:cNvSpPr>
            <a:spLocks xmlns:a="http://schemas.openxmlformats.org/drawingml/2006/main" noGrp="1"/>
          </p:cNvSpPr>
          <p:nvPr/>
        </p:nvSpPr>
        <p:spPr>
          <a:xfrm xmlns:a="http://schemas.openxmlformats.org/drawingml/2006/main">
            <a:off x="647700" y="1628775"/>
            <a:ext cx="6238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DFC6B1"/>
                </a:solidFill>
                <a:latin typeface="Arial"/>
                <a:ea typeface="Arial"/>
                <a:cs typeface="Arial"/>
              </a:defRPr>
            </a:defPPr>
            <a:lvl1pPr>
              <a:defRPr sz="1125" b="1">
                <a:solidFill>
                  <a:srgbClr val="DFC6B1"/>
                </a:solidFill>
                <a:latin typeface="Arial"/>
                <a:ea typeface="Arial"/>
                <a:cs typeface="Arial"/>
              </a:defRPr>
            </a:lvl1pPr>
            <a:lvl2pPr>
              <a:defRPr sz="1125" b="1">
                <a:solidFill>
                  <a:srgbClr val="DFC6B1"/>
                </a:solidFill>
                <a:latin typeface="Arial"/>
                <a:ea typeface="Arial"/>
                <a:cs typeface="Arial"/>
              </a:defRPr>
            </a:lvl2pPr>
            <a:lvl3pPr>
              <a:defRPr sz="1125" b="1">
                <a:solidFill>
                  <a:srgbClr val="DFC6B1"/>
                </a:solidFill>
                <a:latin typeface="Arial"/>
                <a:ea typeface="Arial"/>
                <a:cs typeface="Arial"/>
              </a:defRPr>
            </a:lvl3pPr>
            <a:lvl4pPr>
              <a:defRPr sz="1125" b="1">
                <a:solidFill>
                  <a:srgbClr val="DFC6B1"/>
                </a:solidFill>
                <a:latin typeface="Arial"/>
                <a:ea typeface="Arial"/>
                <a:cs typeface="Arial"/>
              </a:defRPr>
            </a:lvl4pPr>
            <a:lvl5pPr>
              <a:defRPr sz="1125" b="1">
                <a:solidFill>
                  <a:srgbClr val="DFC6B1"/>
                </a:solidFill>
                <a:latin typeface="Arial"/>
                <a:ea typeface="Arial"/>
                <a:cs typeface="Arial"/>
              </a:defRPr>
            </a:lvl5pPr>
            <a:lvl6pPr>
              <a:defRPr sz="1125" b="1">
                <a:solidFill>
                  <a:srgbClr val="DFC6B1"/>
                </a:solidFill>
                <a:latin typeface="Arial"/>
                <a:ea typeface="Arial"/>
                <a:cs typeface="Arial"/>
              </a:defRPr>
            </a:lvl6pPr>
            <a:lvl7pPr>
              <a:defRPr sz="1125" b="1">
                <a:solidFill>
                  <a:srgbClr val="DFC6B1"/>
                </a:solidFill>
                <a:latin typeface="Arial"/>
                <a:ea typeface="Arial"/>
                <a:cs typeface="Arial"/>
              </a:defRPr>
            </a:lvl7pPr>
            <a:lvl8pPr>
              <a:defRPr sz="1125" b="1">
                <a:solidFill>
                  <a:srgbClr val="DFC6B1"/>
                </a:solidFill>
                <a:latin typeface="Arial"/>
                <a:ea typeface="Arial"/>
                <a:cs typeface="Arial"/>
              </a:defRPr>
            </a:lvl8pPr>
            <a:lvl9pPr>
              <a:defRPr sz="1125" b="1">
                <a:solidFill>
                  <a:srgbClr val="DFC6B1"/>
                </a:solidFill>
                <a:latin typeface="Arial"/>
                <a:ea typeface="Arial"/>
                <a:cs typeface="Arial"/>
              </a:defRPr>
            </a:lvl9pPr>
          </a:lstStyle>
          <a:p xmlns:a="http://schemas.openxmlformats.org/drawingml/2006/main">
            <a:pPr>
              <a:defRPr sz="1125" b="1">
                <a:solidFill>
                  <a:srgbClr val="DFC6B1"/>
                </a:solidFill>
                <a:latin typeface="Arial"/>
                <a:ea typeface="Arial"/>
                <a:cs typeface="Arial"/>
              </a:defRPr>
            </a:pPr>
            <a:r>
              <a:rPr sz="1125" b="1">
                <a:solidFill>
                  <a:srgbClr val="DFC6B1"/>
                </a:solidFill>
                <a:latin typeface="Arial"/>
                <a:ea typeface="Arial"/>
                <a:cs typeface="Arial"/>
              </a:rPr>
              <a:t>DOUTORADO EM ADMINISTRAÇÃO</a:t>
            </a:r>
          </a:p>
        </p:txBody>
      </p:sp>
      <p:sp>
        <p:nvSpPr>
          <p:cNvPr id="5" name="">
            <a:extLst xmlns:a="http://schemas.openxmlformats.org/drawingml/2006/main">
              <a:ext uri="{FF2B5EF4-FFF2-40B4-BE49-F238E27FC236}">
                <a16:creationId xmlns:a16="http://schemas.microsoft.com/office/drawing/2014/main" id="{48C728F7-5B58-4146-A9AB-544B539C7A15}"/>
              </a:ext>
            </a:extLst>
          </p:cNvPr>
          <p:cNvSpPr>
            <a:spLocks xmlns:a="http://schemas.openxmlformats.org/drawingml/2006/main" noGrp="1"/>
          </p:cNvSpPr>
          <p:nvPr/>
        </p:nvSpPr>
        <p:spPr>
          <a:xfrm xmlns:a="http://schemas.openxmlformats.org/drawingml/2006/main">
            <a:off x="647700" y="2133600"/>
            <a:ext cx="6334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950" b="1">
                <a:solidFill>
                  <a:srgbClr val="FFFFFF"/>
                </a:solidFill>
                <a:latin typeface="Arial"/>
                <a:ea typeface="Arial"/>
                <a:cs typeface="Arial"/>
              </a:defRPr>
            </a:defPPr>
            <a:lvl1pPr>
              <a:defRPr sz="4950" b="1">
                <a:solidFill>
                  <a:srgbClr val="FFFFFF"/>
                </a:solidFill>
                <a:latin typeface="Arial"/>
                <a:ea typeface="Arial"/>
                <a:cs typeface="Arial"/>
              </a:defRPr>
            </a:lvl1pPr>
            <a:lvl2pPr>
              <a:defRPr sz="4950" b="1">
                <a:solidFill>
                  <a:srgbClr val="FFFFFF"/>
                </a:solidFill>
                <a:latin typeface="Arial"/>
                <a:ea typeface="Arial"/>
                <a:cs typeface="Arial"/>
              </a:defRPr>
            </a:lvl2pPr>
            <a:lvl3pPr>
              <a:defRPr sz="4950" b="1">
                <a:solidFill>
                  <a:srgbClr val="FFFFFF"/>
                </a:solidFill>
                <a:latin typeface="Arial"/>
                <a:ea typeface="Arial"/>
                <a:cs typeface="Arial"/>
              </a:defRPr>
            </a:lvl3pPr>
            <a:lvl4pPr>
              <a:defRPr sz="4950" b="1">
                <a:solidFill>
                  <a:srgbClr val="FFFFFF"/>
                </a:solidFill>
                <a:latin typeface="Arial"/>
                <a:ea typeface="Arial"/>
                <a:cs typeface="Arial"/>
              </a:defRPr>
            </a:lvl4pPr>
            <a:lvl5pPr>
              <a:defRPr sz="4950" b="1">
                <a:solidFill>
                  <a:srgbClr val="FFFFFF"/>
                </a:solidFill>
                <a:latin typeface="Arial"/>
                <a:ea typeface="Arial"/>
                <a:cs typeface="Arial"/>
              </a:defRPr>
            </a:lvl5pPr>
            <a:lvl6pPr>
              <a:defRPr sz="4950" b="1">
                <a:solidFill>
                  <a:srgbClr val="FFFFFF"/>
                </a:solidFill>
                <a:latin typeface="Arial"/>
                <a:ea typeface="Arial"/>
                <a:cs typeface="Arial"/>
              </a:defRPr>
            </a:lvl6pPr>
            <a:lvl7pPr>
              <a:defRPr sz="4950" b="1">
                <a:solidFill>
                  <a:srgbClr val="FFFFFF"/>
                </a:solidFill>
                <a:latin typeface="Arial"/>
                <a:ea typeface="Arial"/>
                <a:cs typeface="Arial"/>
              </a:defRPr>
            </a:lvl7pPr>
            <a:lvl8pPr>
              <a:defRPr sz="4950" b="1">
                <a:solidFill>
                  <a:srgbClr val="FFFFFF"/>
                </a:solidFill>
                <a:latin typeface="Arial"/>
                <a:ea typeface="Arial"/>
                <a:cs typeface="Arial"/>
              </a:defRPr>
            </a:lvl8pPr>
            <a:lvl9pPr>
              <a:defRPr sz="4950" b="1">
                <a:solidFill>
                  <a:srgbClr val="FFFFFF"/>
                </a:solidFill>
                <a:latin typeface="Arial"/>
                <a:ea typeface="Arial"/>
                <a:cs typeface="Arial"/>
              </a:defRPr>
            </a:lvl9pPr>
          </a:lstStyle>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O que o Estado vê</a:t>
            </a:r>
          </a:p>
        </p:txBody>
      </p:sp>
      <p:sp>
        <p:nvSpPr>
          <p:cNvPr id="6" name="">
            <a:extLst xmlns:a="http://schemas.openxmlformats.org/drawingml/2006/main">
              <a:ext uri="{FF2B5EF4-FFF2-40B4-BE49-F238E27FC236}">
                <a16:creationId xmlns:a16="http://schemas.microsoft.com/office/drawing/2014/main" id="{C74A4BCC-A26A-4337-8C91-1416A8EBC2CE}"/>
              </a:ext>
            </a:extLst>
          </p:cNvPr>
          <p:cNvSpPr>
            <a:spLocks xmlns:a="http://schemas.openxmlformats.org/drawingml/2006/main" noGrp="1"/>
          </p:cNvSpPr>
          <p:nvPr/>
        </p:nvSpPr>
        <p:spPr>
          <a:xfrm xmlns:a="http://schemas.openxmlformats.org/drawingml/2006/main">
            <a:off x="647700" y="3476625"/>
            <a:ext cx="6191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DFC6B1"/>
                </a:solidFill>
                <a:latin typeface="Arial"/>
                <a:ea typeface="Arial"/>
                <a:cs typeface="Arial"/>
              </a:defRPr>
            </a:defPPr>
            <a:lvl1pPr>
              <a:defRPr sz="2325" b="0">
                <a:solidFill>
                  <a:srgbClr val="DFC6B1"/>
                </a:solidFill>
                <a:latin typeface="Arial"/>
                <a:ea typeface="Arial"/>
                <a:cs typeface="Arial"/>
              </a:defRPr>
            </a:lvl1pPr>
            <a:lvl2pPr>
              <a:defRPr sz="2325" b="0">
                <a:solidFill>
                  <a:srgbClr val="DFC6B1"/>
                </a:solidFill>
                <a:latin typeface="Arial"/>
                <a:ea typeface="Arial"/>
                <a:cs typeface="Arial"/>
              </a:defRPr>
            </a:lvl2pPr>
            <a:lvl3pPr>
              <a:defRPr sz="2325" b="0">
                <a:solidFill>
                  <a:srgbClr val="DFC6B1"/>
                </a:solidFill>
                <a:latin typeface="Arial"/>
                <a:ea typeface="Arial"/>
                <a:cs typeface="Arial"/>
              </a:defRPr>
            </a:lvl3pPr>
            <a:lvl4pPr>
              <a:defRPr sz="2325" b="0">
                <a:solidFill>
                  <a:srgbClr val="DFC6B1"/>
                </a:solidFill>
                <a:latin typeface="Arial"/>
                <a:ea typeface="Arial"/>
                <a:cs typeface="Arial"/>
              </a:defRPr>
            </a:lvl4pPr>
            <a:lvl5pPr>
              <a:defRPr sz="2325" b="0">
                <a:solidFill>
                  <a:srgbClr val="DFC6B1"/>
                </a:solidFill>
                <a:latin typeface="Arial"/>
                <a:ea typeface="Arial"/>
                <a:cs typeface="Arial"/>
              </a:defRPr>
            </a:lvl5pPr>
            <a:lvl6pPr>
              <a:defRPr sz="2325" b="0">
                <a:solidFill>
                  <a:srgbClr val="DFC6B1"/>
                </a:solidFill>
                <a:latin typeface="Arial"/>
                <a:ea typeface="Arial"/>
                <a:cs typeface="Arial"/>
              </a:defRPr>
            </a:lvl6pPr>
            <a:lvl7pPr>
              <a:defRPr sz="2325" b="0">
                <a:solidFill>
                  <a:srgbClr val="DFC6B1"/>
                </a:solidFill>
                <a:latin typeface="Arial"/>
                <a:ea typeface="Arial"/>
                <a:cs typeface="Arial"/>
              </a:defRPr>
            </a:lvl7pPr>
            <a:lvl8pPr>
              <a:defRPr sz="2325" b="0">
                <a:solidFill>
                  <a:srgbClr val="DFC6B1"/>
                </a:solidFill>
                <a:latin typeface="Arial"/>
                <a:ea typeface="Arial"/>
                <a:cs typeface="Arial"/>
              </a:defRPr>
            </a:lvl8pPr>
            <a:lvl9pPr>
              <a:defRPr sz="2325" b="0">
                <a:solidFill>
                  <a:srgbClr val="DFC6B1"/>
                </a:solidFill>
                <a:latin typeface="Arial"/>
                <a:ea typeface="Arial"/>
                <a:cs typeface="Arial"/>
              </a:defRPr>
            </a:lvl9pPr>
          </a:lstStyle>
          <a:p xmlns:a="http://schemas.openxmlformats.org/drawingml/2006/main">
            <a:pPr>
              <a:defRPr sz="2325" b="0">
                <a:solidFill>
                  <a:srgbClr val="DFC6B1"/>
                </a:solidFill>
                <a:latin typeface="Arial"/>
                <a:ea typeface="Arial"/>
                <a:cs typeface="Arial"/>
              </a:defRPr>
            </a:pPr>
            <a:r>
              <a:rPr sz="2325" b="0">
                <a:solidFill>
                  <a:srgbClr val="DFC6B1"/>
                </a:solidFill>
                <a:latin typeface="Arial"/>
                <a:ea typeface="Arial"/>
                <a:cs typeface="Arial"/>
              </a:rPr>
              <a:t>Escolhas de governança e visibilidade nas rodovias federais</a:t>
            </a:r>
          </a:p>
        </p:txBody>
      </p:sp>
      <p:sp>
        <p:nvSpPr>
          <p:cNvPr id="7" name="">
            <a:extLst xmlns:a="http://schemas.openxmlformats.org/drawingml/2006/main">
              <a:ext uri="{FF2B5EF4-FFF2-40B4-BE49-F238E27FC236}">
                <a16:creationId xmlns:a16="http://schemas.microsoft.com/office/drawing/2014/main" id="{E2FD6036-981E-438A-BD7E-96D69382E33F}"/>
              </a:ext>
            </a:extLst>
          </p:cNvPr>
          <p:cNvSpPr>
            <a:spLocks xmlns:a="http://schemas.openxmlformats.org/drawingml/2006/main" noGrp="1"/>
          </p:cNvSpPr>
          <p:nvPr/>
        </p:nvSpPr>
        <p:spPr>
          <a:xfrm xmlns:a="http://schemas.openxmlformats.org/drawingml/2006/main">
            <a:off x="647700" y="4762500"/>
            <a:ext cx="6334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Débora Cristina Coutinho Vilas Bôas</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Orientadora: Profa. Dra. Suzana Rodrigues</a:t>
            </a:r>
          </a:p>
        </p:txBody>
      </p:sp>
      <p:sp>
        <p:nvSpPr>
          <p:cNvPr id="8" name="">
            <a:extLst xmlns:a="http://schemas.openxmlformats.org/drawingml/2006/main">
              <a:ext uri="{FF2B5EF4-FFF2-40B4-BE49-F238E27FC236}">
                <a16:creationId xmlns:a16="http://schemas.microsoft.com/office/drawing/2014/main" id="{B7DB6656-D494-4DC1-8D55-605937D27573}"/>
              </a:ext>
            </a:extLst>
          </p:cNvPr>
          <p:cNvSpPr>
            <a:spLocks xmlns:a="http://schemas.openxmlformats.org/drawingml/2006/main" noGrp="1"/>
          </p:cNvSpPr>
          <p:nvPr/>
        </p:nvSpPr>
        <p:spPr>
          <a:xfrm xmlns:a="http://schemas.openxmlformats.org/drawingml/2006/main">
            <a:off x="647700" y="5915025"/>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DFC6B1"/>
                </a:solidFill>
                <a:latin typeface="Arial"/>
                <a:ea typeface="Arial"/>
                <a:cs typeface="Arial"/>
              </a:defRPr>
            </a:defPPr>
            <a:lvl1pPr>
              <a:defRPr sz="1275" b="0">
                <a:solidFill>
                  <a:srgbClr val="DFC6B1"/>
                </a:solidFill>
                <a:latin typeface="Arial"/>
                <a:ea typeface="Arial"/>
                <a:cs typeface="Arial"/>
              </a:defRPr>
            </a:lvl1pPr>
            <a:lvl2pPr>
              <a:defRPr sz="1275" b="0">
                <a:solidFill>
                  <a:srgbClr val="DFC6B1"/>
                </a:solidFill>
                <a:latin typeface="Arial"/>
                <a:ea typeface="Arial"/>
                <a:cs typeface="Arial"/>
              </a:defRPr>
            </a:lvl2pPr>
            <a:lvl3pPr>
              <a:defRPr sz="1275" b="0">
                <a:solidFill>
                  <a:srgbClr val="DFC6B1"/>
                </a:solidFill>
                <a:latin typeface="Arial"/>
                <a:ea typeface="Arial"/>
                <a:cs typeface="Arial"/>
              </a:defRPr>
            </a:lvl3pPr>
            <a:lvl4pPr>
              <a:defRPr sz="1275" b="0">
                <a:solidFill>
                  <a:srgbClr val="DFC6B1"/>
                </a:solidFill>
                <a:latin typeface="Arial"/>
                <a:ea typeface="Arial"/>
                <a:cs typeface="Arial"/>
              </a:defRPr>
            </a:lvl4pPr>
            <a:lvl5pPr>
              <a:defRPr sz="1275" b="0">
                <a:solidFill>
                  <a:srgbClr val="DFC6B1"/>
                </a:solidFill>
                <a:latin typeface="Arial"/>
                <a:ea typeface="Arial"/>
                <a:cs typeface="Arial"/>
              </a:defRPr>
            </a:lvl5pPr>
            <a:lvl6pPr>
              <a:defRPr sz="1275" b="0">
                <a:solidFill>
                  <a:srgbClr val="DFC6B1"/>
                </a:solidFill>
                <a:latin typeface="Arial"/>
                <a:ea typeface="Arial"/>
                <a:cs typeface="Arial"/>
              </a:defRPr>
            </a:lvl6pPr>
            <a:lvl7pPr>
              <a:defRPr sz="1275" b="0">
                <a:solidFill>
                  <a:srgbClr val="DFC6B1"/>
                </a:solidFill>
                <a:latin typeface="Arial"/>
                <a:ea typeface="Arial"/>
                <a:cs typeface="Arial"/>
              </a:defRPr>
            </a:lvl7pPr>
            <a:lvl8pPr>
              <a:defRPr sz="1275" b="0">
                <a:solidFill>
                  <a:srgbClr val="DFC6B1"/>
                </a:solidFill>
                <a:latin typeface="Arial"/>
                <a:ea typeface="Arial"/>
                <a:cs typeface="Arial"/>
              </a:defRPr>
            </a:lvl8pPr>
            <a:lvl9pPr>
              <a:defRPr sz="1275" b="0">
                <a:solidFill>
                  <a:srgbClr val="DFC6B1"/>
                </a:solidFill>
                <a:latin typeface="Arial"/>
                <a:ea typeface="Arial"/>
                <a:cs typeface="Arial"/>
              </a:defRPr>
            </a:lvl9pPr>
          </a:lstStyle>
          <a:p xmlns:a="http://schemas.openxmlformats.org/drawingml/2006/main">
            <a:pPr>
              <a:defRPr sz="1275" b="0">
                <a:solidFill>
                  <a:srgbClr val="DFC6B1"/>
                </a:solidFill>
                <a:latin typeface="Arial"/>
                <a:ea typeface="Arial"/>
                <a:cs typeface="Arial"/>
              </a:defRPr>
            </a:pPr>
            <a:r>
              <a:rPr sz="1275" b="0">
                <a:solidFill>
                  <a:srgbClr val="DFC6B1"/>
                </a:solidFill>
                <a:latin typeface="Arial"/>
                <a:ea typeface="Arial"/>
                <a:cs typeface="Arial"/>
              </a:rPr>
              <a:t>27 de outubro de 2026 · 15h</a:t>
            </a:r>
          </a:p>
          <a:p xmlns:a="http://schemas.openxmlformats.org/drawingml/2006/main">
            <a:pPr>
              <a:defRPr sz="1275" b="0">
                <a:solidFill>
                  <a:srgbClr val="DFC6B1"/>
                </a:solidFill>
                <a:latin typeface="Arial"/>
                <a:ea typeface="Arial"/>
                <a:cs typeface="Arial"/>
              </a:defRPr>
            </a:pPr>
            <a:r>
              <a:rPr sz="1275" b="0">
                <a:solidFill>
                  <a:srgbClr val="DFC6B1"/>
                </a:solidFill>
                <a:latin typeface="Arial"/>
                <a:ea typeface="Arial"/>
                <a:cs typeface="Arial"/>
              </a:rPr>
              <a:t>Qualificação do projeto · roteiro de 20 minutos</a:t>
            </a:r>
          </a:p>
        </p:txBody>
      </p:sp>
      <p:sp>
        <p:nvSpPr>
          <p:cNvPr id="9" name="">
            <a:extLst xmlns:a="http://schemas.openxmlformats.org/drawingml/2006/main">
              <a:ext uri="{FF2B5EF4-FFF2-40B4-BE49-F238E27FC236}">
                <a16:creationId xmlns:a16="http://schemas.microsoft.com/office/drawing/2014/main" id="{DD101DC1-F2F0-4C4E-A18A-82F62C2952F3}"/>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FFFFFF"/>
                </a:solidFill>
                <a:latin typeface="Arial"/>
                <a:ea typeface="Arial"/>
                <a:cs typeface="Arial"/>
              </a:defRPr>
            </a:defPPr>
            <a:lvl1pPr>
              <a:defRPr sz="1125" b="0">
                <a:solidFill>
                  <a:srgbClr val="FFFFFF"/>
                </a:solidFill>
                <a:latin typeface="Arial"/>
                <a:ea typeface="Arial"/>
                <a:cs typeface="Arial"/>
              </a:defRPr>
            </a:lvl1pPr>
            <a:lvl2pPr>
              <a:defRPr sz="1125" b="0">
                <a:solidFill>
                  <a:srgbClr val="FFFFFF"/>
                </a:solidFill>
                <a:latin typeface="Arial"/>
                <a:ea typeface="Arial"/>
                <a:cs typeface="Arial"/>
              </a:defRPr>
            </a:lvl2pPr>
            <a:lvl3pPr>
              <a:defRPr sz="1125" b="0">
                <a:solidFill>
                  <a:srgbClr val="FFFFFF"/>
                </a:solidFill>
                <a:latin typeface="Arial"/>
                <a:ea typeface="Arial"/>
                <a:cs typeface="Arial"/>
              </a:defRPr>
            </a:lvl3pPr>
            <a:lvl4pPr>
              <a:defRPr sz="1125" b="0">
                <a:solidFill>
                  <a:srgbClr val="FFFFFF"/>
                </a:solidFill>
                <a:latin typeface="Arial"/>
                <a:ea typeface="Arial"/>
                <a:cs typeface="Arial"/>
              </a:defRPr>
            </a:lvl4pPr>
            <a:lvl5pPr>
              <a:defRPr sz="1125" b="0">
                <a:solidFill>
                  <a:srgbClr val="FFFFFF"/>
                </a:solidFill>
                <a:latin typeface="Arial"/>
                <a:ea typeface="Arial"/>
                <a:cs typeface="Arial"/>
              </a:defRPr>
            </a:lvl5pPr>
            <a:lvl6pPr>
              <a:defRPr sz="1125" b="0">
                <a:solidFill>
                  <a:srgbClr val="FFFFFF"/>
                </a:solidFill>
                <a:latin typeface="Arial"/>
                <a:ea typeface="Arial"/>
                <a:cs typeface="Arial"/>
              </a:defRPr>
            </a:lvl6pPr>
            <a:lvl7pPr>
              <a:defRPr sz="1125" b="0">
                <a:solidFill>
                  <a:srgbClr val="FFFFFF"/>
                </a:solidFill>
                <a:latin typeface="Arial"/>
                <a:ea typeface="Arial"/>
                <a:cs typeface="Arial"/>
              </a:defRPr>
            </a:lvl7pPr>
            <a:lvl8pPr>
              <a:defRPr sz="1125" b="0">
                <a:solidFill>
                  <a:srgbClr val="FFFFFF"/>
                </a:solidFill>
                <a:latin typeface="Arial"/>
                <a:ea typeface="Arial"/>
                <a:cs typeface="Arial"/>
              </a:defRPr>
            </a:lvl8pPr>
            <a:lvl9pPr>
              <a:defRPr sz="1125" b="0">
                <a:solidFill>
                  <a:srgbClr val="FFFFFF"/>
                </a:solidFill>
                <a:latin typeface="Arial"/>
                <a:ea typeface="Arial"/>
                <a:cs typeface="Arial"/>
              </a:defRPr>
            </a:lvl9pPr>
          </a:lstStyle>
          <a:p xmlns:a="http://schemas.openxmlformats.org/drawingml/2006/main">
            <a:pPr>
              <a:defRPr sz="1125" b="0">
                <a:solidFill>
                  <a:srgbClr val="FFFFFF"/>
                </a:solidFill>
                <a:latin typeface="Arial"/>
                <a:ea typeface="Arial"/>
                <a:cs typeface="Arial"/>
              </a:defRPr>
            </a:pPr>
            <a:r>
              <a:rPr sz="1125" b="0">
                <a:solidFill>
                  <a:srgbClr val="FFFFFF"/>
                </a:solidFill>
                <a:latin typeface="Arial"/>
                <a:ea typeface="Arial"/>
                <a:cs typeface="Arial"/>
              </a:rPr>
              <a:t>01</a:t>
            </a:r>
          </a:p>
        </p:txBody>
      </p:sp>
    </p:spTree>
    <p:extLst>
      <p:ext uri="{BB962C8B-B14F-4D97-AF65-F5344CB8AC3E}">
        <p14:creationId xmlns:p14="http://schemas.microsoft.com/office/powerpoint/2010/main" val="1839467561"/>
      </p:ext>
    </p:extLst>
  </p:cSld>
</p:sld>
</file>

<file path=ppt/slides/slide2.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5FC4DEA-97AF-4EC5-B1A5-855C819A1A27}"/>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PROBLEMA DA PESQUISA</a:t>
            </a:r>
          </a:p>
        </p:txBody>
      </p:sp>
      <p:sp>
        <p:nvSpPr>
          <p:cNvPr id="2" name="">
            <a:extLst xmlns:a="http://schemas.openxmlformats.org/drawingml/2006/main">
              <a:ext uri="{FF2B5EF4-FFF2-40B4-BE49-F238E27FC236}">
                <a16:creationId xmlns:a16="http://schemas.microsoft.com/office/drawing/2014/main" id="{942946B8-EBDF-40EE-98D4-91C72B3918AA}"/>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Mais registros podem significar duas coisas diferentes</a:t>
            </a:r>
          </a:p>
        </p:txBody>
      </p:sp>
      <p:sp>
        <p:nvSpPr>
          <p:cNvPr id="3" name="">
            <a:extLst xmlns:a="http://schemas.openxmlformats.org/drawingml/2006/main">
              <a:ext uri="{FF2B5EF4-FFF2-40B4-BE49-F238E27FC236}">
                <a16:creationId xmlns:a16="http://schemas.microsoft.com/office/drawing/2014/main" id="{BF722A4E-C069-434F-AD0B-88CD11ABD8CD}"/>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O problema de avaliar um serviço com a informação produzida pelo próprio arranjo que o presta</a:t>
            </a:r>
          </a:p>
        </p:txBody>
      </p:sp>
      <p:sp>
        <p:nvSpPr>
          <p:cNvPr id="4" name="">
            <a:extLst xmlns:a="http://schemas.openxmlformats.org/drawingml/2006/main">
              <a:ext uri="{FF2B5EF4-FFF2-40B4-BE49-F238E27FC236}">
                <a16:creationId xmlns:a16="http://schemas.microsoft.com/office/drawing/2014/main" id="{05839F51-D0D5-45C8-B3F7-3A2F9C733EDE}"/>
              </a:ext>
            </a:extLst>
          </p:cNvPr>
          <p:cNvSpPr>
            <a:spLocks xmlns:a="http://schemas.openxmlformats.org/drawingml/2006/main" noGrp="1"/>
          </p:cNvSpPr>
          <p:nvPr/>
        </p:nvSpPr>
        <p:spPr>
          <a:xfrm xmlns:a="http://schemas.openxmlformats.org/drawingml/2006/main">
            <a:off x="647700" y="2952750"/>
            <a:ext cx="5276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Mais ocorrência</a:t>
            </a:r>
          </a:p>
        </p:txBody>
      </p:sp>
      <p:sp>
        <p:nvSpPr>
          <p:cNvPr id="5" name="">
            <a:extLst xmlns:a="http://schemas.openxmlformats.org/drawingml/2006/main">
              <a:ext uri="{FF2B5EF4-FFF2-40B4-BE49-F238E27FC236}">
                <a16:creationId xmlns:a16="http://schemas.microsoft.com/office/drawing/2014/main" id="{85396077-02D6-425B-8850-1A65C44ED214}"/>
              </a:ext>
            </a:extLst>
          </p:cNvPr>
          <p:cNvSpPr>
            <a:spLocks xmlns:a="http://schemas.openxmlformats.org/drawingml/2006/main" noGrp="1"/>
          </p:cNvSpPr>
          <p:nvPr/>
        </p:nvSpPr>
        <p:spPr>
          <a:xfrm xmlns:a="http://schemas.openxmlformats.org/drawingml/2006/main">
            <a:off x="647700" y="3857625"/>
            <a:ext cx="52768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Mais circulação ou condições de risco podem produzir mais sinistros.</a:t>
            </a:r>
          </a:p>
        </p:txBody>
      </p:sp>
      <p:sp>
        <p:nvSpPr>
          <p:cNvPr id="6" name="">
            <a:extLst xmlns:a="http://schemas.openxmlformats.org/drawingml/2006/main">
              <a:ext uri="{FF2B5EF4-FFF2-40B4-BE49-F238E27FC236}">
                <a16:creationId xmlns:a16="http://schemas.microsoft.com/office/drawing/2014/main" id="{35252B2F-F10B-4C3D-89D7-692375653E0E}"/>
              </a:ext>
            </a:extLst>
          </p:cNvPr>
          <p:cNvSpPr>
            <a:spLocks xmlns:a="http://schemas.openxmlformats.org/drawingml/2006/main" noGrp="1"/>
          </p:cNvSpPr>
          <p:nvPr/>
        </p:nvSpPr>
        <p:spPr>
          <a:xfrm xmlns:a="http://schemas.openxmlformats.org/drawingml/2006/main">
            <a:off x="607695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71780A-1DCE-47DB-8284-C08FC3C3F682}"/>
              </a:ext>
            </a:extLst>
          </p:cNvPr>
          <p:cNvSpPr>
            <a:spLocks xmlns:a="http://schemas.openxmlformats.org/drawingml/2006/main" noGrp="1"/>
          </p:cNvSpPr>
          <p:nvPr/>
        </p:nvSpPr>
        <p:spPr>
          <a:xfrm xmlns:a="http://schemas.openxmlformats.org/drawingml/2006/main">
            <a:off x="6267450" y="2952750"/>
            <a:ext cx="5276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Mais observação</a:t>
            </a:r>
          </a:p>
        </p:txBody>
      </p:sp>
      <p:sp>
        <p:nvSpPr>
          <p:cNvPr id="8" name="">
            <a:extLst xmlns:a="http://schemas.openxmlformats.org/drawingml/2006/main">
              <a:ext uri="{FF2B5EF4-FFF2-40B4-BE49-F238E27FC236}">
                <a16:creationId xmlns:a16="http://schemas.microsoft.com/office/drawing/2014/main" id="{14D201D1-F6F1-4EEC-9018-47C0670B4287}"/>
              </a:ext>
            </a:extLst>
          </p:cNvPr>
          <p:cNvSpPr>
            <a:spLocks xmlns:a="http://schemas.openxmlformats.org/drawingml/2006/main" noGrp="1"/>
          </p:cNvSpPr>
          <p:nvPr/>
        </p:nvSpPr>
        <p:spPr>
          <a:xfrm xmlns:a="http://schemas.openxmlformats.org/drawingml/2006/main">
            <a:off x="6267450" y="3857625"/>
            <a:ext cx="52768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Monitoramento, atendimento e obrigações de informar podem ampliar o registro.</a:t>
            </a:r>
          </a:p>
        </p:txBody>
      </p:sp>
      <p:sp>
        <p:nvSpPr>
          <p:cNvPr id="9" name="">
            <a:extLst xmlns:a="http://schemas.openxmlformats.org/drawingml/2006/main">
              <a:ext uri="{FF2B5EF4-FFF2-40B4-BE49-F238E27FC236}">
                <a16:creationId xmlns:a16="http://schemas.microsoft.com/office/drawing/2014/main" id="{D00785FC-6337-4777-B78C-23F1ED5F4139}"/>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E2DE390-07AE-425B-9506-073BCF57BA15}"/>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O mesmo indicador observado pode resultar de mecanismos diferentes.</a:t>
            </a:r>
          </a:p>
        </p:txBody>
      </p:sp>
      <p:sp>
        <p:nvSpPr>
          <p:cNvPr id="11" name="">
            <a:extLst xmlns:a="http://schemas.openxmlformats.org/drawingml/2006/main">
              <a:ext uri="{FF2B5EF4-FFF2-40B4-BE49-F238E27FC236}">
                <a16:creationId xmlns:a16="http://schemas.microsoft.com/office/drawing/2014/main" id="{F6D15CE2-6681-478B-B591-EE694EAA4A09}"/>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02</a:t>
            </a:r>
          </a:p>
        </p:txBody>
      </p:sp>
    </p:spTree>
    <p:extLst>
      <p:ext uri="{BB962C8B-B14F-4D97-AF65-F5344CB8AC3E}">
        <p14:creationId xmlns:p14="http://schemas.microsoft.com/office/powerpoint/2010/main" val="1751260506"/>
      </p:ext>
    </p:extLst>
  </p:cSld>
</p:sld>
</file>

<file path=ppt/slides/slide3.xml><?xml version="1.0" encoding="utf-8"?>
<p:sld xmlns:p="http://schemas.openxmlformats.org/presentationml/2006/main">
  <p:cSld>
    <p:bg>
      <p:bgPr>
        <a:solidFill xmlns:a="http://schemas.openxmlformats.org/drawingml/2006/main">
          <a:srgbClr val="29252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1AFADDE-EDC1-4B19-BEC3-CB2B0681002C}"/>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DFB56C"/>
                </a:solidFill>
                <a:latin typeface="Arial"/>
                <a:ea typeface="Arial"/>
                <a:cs typeface="Arial"/>
              </a:defRPr>
            </a:defPPr>
            <a:lvl1pPr>
              <a:defRPr sz="1050" b="1">
                <a:solidFill>
                  <a:srgbClr val="DFB56C"/>
                </a:solidFill>
                <a:latin typeface="Arial"/>
                <a:ea typeface="Arial"/>
                <a:cs typeface="Arial"/>
              </a:defRPr>
            </a:lvl1pPr>
            <a:lvl2pPr>
              <a:defRPr sz="1050" b="1">
                <a:solidFill>
                  <a:srgbClr val="DFB56C"/>
                </a:solidFill>
                <a:latin typeface="Arial"/>
                <a:ea typeface="Arial"/>
                <a:cs typeface="Arial"/>
              </a:defRPr>
            </a:lvl2pPr>
            <a:lvl3pPr>
              <a:defRPr sz="1050" b="1">
                <a:solidFill>
                  <a:srgbClr val="DFB56C"/>
                </a:solidFill>
                <a:latin typeface="Arial"/>
                <a:ea typeface="Arial"/>
                <a:cs typeface="Arial"/>
              </a:defRPr>
            </a:lvl3pPr>
            <a:lvl4pPr>
              <a:defRPr sz="1050" b="1">
                <a:solidFill>
                  <a:srgbClr val="DFB56C"/>
                </a:solidFill>
                <a:latin typeface="Arial"/>
                <a:ea typeface="Arial"/>
                <a:cs typeface="Arial"/>
              </a:defRPr>
            </a:lvl4pPr>
            <a:lvl5pPr>
              <a:defRPr sz="1050" b="1">
                <a:solidFill>
                  <a:srgbClr val="DFB56C"/>
                </a:solidFill>
                <a:latin typeface="Arial"/>
                <a:ea typeface="Arial"/>
                <a:cs typeface="Arial"/>
              </a:defRPr>
            </a:lvl5pPr>
            <a:lvl6pPr>
              <a:defRPr sz="1050" b="1">
                <a:solidFill>
                  <a:srgbClr val="DFB56C"/>
                </a:solidFill>
                <a:latin typeface="Arial"/>
                <a:ea typeface="Arial"/>
                <a:cs typeface="Arial"/>
              </a:defRPr>
            </a:lvl6pPr>
            <a:lvl7pPr>
              <a:defRPr sz="1050" b="1">
                <a:solidFill>
                  <a:srgbClr val="DFB56C"/>
                </a:solidFill>
                <a:latin typeface="Arial"/>
                <a:ea typeface="Arial"/>
                <a:cs typeface="Arial"/>
              </a:defRPr>
            </a:lvl7pPr>
            <a:lvl8pPr>
              <a:defRPr sz="1050" b="1">
                <a:solidFill>
                  <a:srgbClr val="DFB56C"/>
                </a:solidFill>
                <a:latin typeface="Arial"/>
                <a:ea typeface="Arial"/>
                <a:cs typeface="Arial"/>
              </a:defRPr>
            </a:lvl8pPr>
            <a:lvl9pPr>
              <a:defRPr sz="1050" b="1">
                <a:solidFill>
                  <a:srgbClr val="DFB56C"/>
                </a:solidFill>
                <a:latin typeface="Arial"/>
                <a:ea typeface="Arial"/>
                <a:cs typeface="Arial"/>
              </a:defRPr>
            </a:lvl9pPr>
          </a:lstStyle>
          <a:p xmlns:a="http://schemas.openxmlformats.org/drawingml/2006/main">
            <a:pPr>
              <a:defRPr sz="1050" b="1">
                <a:solidFill>
                  <a:srgbClr val="DFB56C"/>
                </a:solidFill>
                <a:latin typeface="Arial"/>
                <a:ea typeface="Arial"/>
                <a:cs typeface="Arial"/>
              </a:defRPr>
            </a:pPr>
            <a:r>
              <a:rPr sz="1050" b="1">
                <a:solidFill>
                  <a:srgbClr val="DFB56C"/>
                </a:solidFill>
                <a:latin typeface="Arial"/>
                <a:ea typeface="Arial"/>
                <a:cs typeface="Arial"/>
              </a:rPr>
              <a:t>TESE DO PROJETO · SEÇÃO 1.5</a:t>
            </a:r>
          </a:p>
        </p:txBody>
      </p:sp>
      <p:sp>
        <p:nvSpPr>
          <p:cNvPr id="2" name="">
            <a:extLst xmlns:a="http://schemas.openxmlformats.org/drawingml/2006/main">
              <a:ext uri="{FF2B5EF4-FFF2-40B4-BE49-F238E27FC236}">
                <a16:creationId xmlns:a16="http://schemas.microsoft.com/office/drawing/2014/main" id="{9982D2CA-3E70-4CCE-97C2-AC567CFFC51D}"/>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F6F2EC"/>
                </a:solidFill>
                <a:latin typeface="Arial"/>
                <a:ea typeface="Arial"/>
                <a:cs typeface="Arial"/>
              </a:defRPr>
            </a:defPPr>
            <a:lvl1pPr>
              <a:defRPr sz="3375" b="1">
                <a:solidFill>
                  <a:srgbClr val="F6F2EC"/>
                </a:solidFill>
                <a:latin typeface="Arial"/>
                <a:ea typeface="Arial"/>
                <a:cs typeface="Arial"/>
              </a:defRPr>
            </a:lvl1pPr>
            <a:lvl2pPr>
              <a:defRPr sz="3375" b="1">
                <a:solidFill>
                  <a:srgbClr val="F6F2EC"/>
                </a:solidFill>
                <a:latin typeface="Arial"/>
                <a:ea typeface="Arial"/>
                <a:cs typeface="Arial"/>
              </a:defRPr>
            </a:lvl2pPr>
            <a:lvl3pPr>
              <a:defRPr sz="3375" b="1">
                <a:solidFill>
                  <a:srgbClr val="F6F2EC"/>
                </a:solidFill>
                <a:latin typeface="Arial"/>
                <a:ea typeface="Arial"/>
                <a:cs typeface="Arial"/>
              </a:defRPr>
            </a:lvl3pPr>
            <a:lvl4pPr>
              <a:defRPr sz="3375" b="1">
                <a:solidFill>
                  <a:srgbClr val="F6F2EC"/>
                </a:solidFill>
                <a:latin typeface="Arial"/>
                <a:ea typeface="Arial"/>
                <a:cs typeface="Arial"/>
              </a:defRPr>
            </a:lvl4pPr>
            <a:lvl5pPr>
              <a:defRPr sz="3375" b="1">
                <a:solidFill>
                  <a:srgbClr val="F6F2EC"/>
                </a:solidFill>
                <a:latin typeface="Arial"/>
                <a:ea typeface="Arial"/>
                <a:cs typeface="Arial"/>
              </a:defRPr>
            </a:lvl5pPr>
            <a:lvl6pPr>
              <a:defRPr sz="3375" b="1">
                <a:solidFill>
                  <a:srgbClr val="F6F2EC"/>
                </a:solidFill>
                <a:latin typeface="Arial"/>
                <a:ea typeface="Arial"/>
                <a:cs typeface="Arial"/>
              </a:defRPr>
            </a:lvl6pPr>
            <a:lvl7pPr>
              <a:defRPr sz="3375" b="1">
                <a:solidFill>
                  <a:srgbClr val="F6F2EC"/>
                </a:solidFill>
                <a:latin typeface="Arial"/>
                <a:ea typeface="Arial"/>
                <a:cs typeface="Arial"/>
              </a:defRPr>
            </a:lvl7pPr>
            <a:lvl8pPr>
              <a:defRPr sz="3375" b="1">
                <a:solidFill>
                  <a:srgbClr val="F6F2EC"/>
                </a:solidFill>
                <a:latin typeface="Arial"/>
                <a:ea typeface="Arial"/>
                <a:cs typeface="Arial"/>
              </a:defRPr>
            </a:lvl8pPr>
            <a:lvl9pPr>
              <a:defRPr sz="3375" b="1">
                <a:solidFill>
                  <a:srgbClr val="F6F2EC"/>
                </a:solidFill>
                <a:latin typeface="Arial"/>
                <a:ea typeface="Arial"/>
                <a:cs typeface="Arial"/>
              </a:defRPr>
            </a:lvl9pPr>
          </a:lstStyle>
          <a:p xmlns:a="http://schemas.openxmlformats.org/drawingml/2006/main">
            <a:pPr>
              <a:defRPr sz="3375" b="1">
                <a:solidFill>
                  <a:srgbClr val="F6F2EC"/>
                </a:solidFill>
                <a:latin typeface="Arial"/>
                <a:ea typeface="Arial"/>
                <a:cs typeface="Arial"/>
              </a:defRPr>
            </a:pPr>
            <a:r>
              <a:rPr sz="3375" b="1">
                <a:solidFill>
                  <a:srgbClr val="F6F2EC"/>
                </a:solidFill>
                <a:latin typeface="Arial"/>
                <a:ea typeface="Arial"/>
                <a:cs typeface="Arial"/>
              </a:rPr>
              <a:t>A tese defendida</a:t>
            </a:r>
          </a:p>
        </p:txBody>
      </p:sp>
      <p:sp>
        <p:nvSpPr>
          <p:cNvPr id="3" name="">
            <a:extLst xmlns:a="http://schemas.openxmlformats.org/drawingml/2006/main">
              <a:ext uri="{FF2B5EF4-FFF2-40B4-BE49-F238E27FC236}">
                <a16:creationId xmlns:a16="http://schemas.microsoft.com/office/drawing/2014/main" id="{CBF7CC45-4363-4D2B-9EFE-52731829FF21}"/>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DFC6B1"/>
                </a:solidFill>
                <a:latin typeface="Arial"/>
                <a:ea typeface="Arial"/>
                <a:cs typeface="Arial"/>
              </a:defRPr>
            </a:defPPr>
            <a:lvl1pPr>
              <a:defRPr sz="1650" b="0">
                <a:solidFill>
                  <a:srgbClr val="DFC6B1"/>
                </a:solidFill>
                <a:latin typeface="Arial"/>
                <a:ea typeface="Arial"/>
                <a:cs typeface="Arial"/>
              </a:defRPr>
            </a:lvl1pPr>
            <a:lvl2pPr>
              <a:defRPr sz="1650" b="0">
                <a:solidFill>
                  <a:srgbClr val="DFC6B1"/>
                </a:solidFill>
                <a:latin typeface="Arial"/>
                <a:ea typeface="Arial"/>
                <a:cs typeface="Arial"/>
              </a:defRPr>
            </a:lvl2pPr>
            <a:lvl3pPr>
              <a:defRPr sz="1650" b="0">
                <a:solidFill>
                  <a:srgbClr val="DFC6B1"/>
                </a:solidFill>
                <a:latin typeface="Arial"/>
                <a:ea typeface="Arial"/>
                <a:cs typeface="Arial"/>
              </a:defRPr>
            </a:lvl3pPr>
            <a:lvl4pPr>
              <a:defRPr sz="1650" b="0">
                <a:solidFill>
                  <a:srgbClr val="DFC6B1"/>
                </a:solidFill>
                <a:latin typeface="Arial"/>
                <a:ea typeface="Arial"/>
                <a:cs typeface="Arial"/>
              </a:defRPr>
            </a:lvl4pPr>
            <a:lvl5pPr>
              <a:defRPr sz="1650" b="0">
                <a:solidFill>
                  <a:srgbClr val="DFC6B1"/>
                </a:solidFill>
                <a:latin typeface="Arial"/>
                <a:ea typeface="Arial"/>
                <a:cs typeface="Arial"/>
              </a:defRPr>
            </a:lvl5pPr>
            <a:lvl6pPr>
              <a:defRPr sz="1650" b="0">
                <a:solidFill>
                  <a:srgbClr val="DFC6B1"/>
                </a:solidFill>
                <a:latin typeface="Arial"/>
                <a:ea typeface="Arial"/>
                <a:cs typeface="Arial"/>
              </a:defRPr>
            </a:lvl6pPr>
            <a:lvl7pPr>
              <a:defRPr sz="1650" b="0">
                <a:solidFill>
                  <a:srgbClr val="DFC6B1"/>
                </a:solidFill>
                <a:latin typeface="Arial"/>
                <a:ea typeface="Arial"/>
                <a:cs typeface="Arial"/>
              </a:defRPr>
            </a:lvl7pPr>
            <a:lvl8pPr>
              <a:defRPr sz="1650" b="0">
                <a:solidFill>
                  <a:srgbClr val="DFC6B1"/>
                </a:solidFill>
                <a:latin typeface="Arial"/>
                <a:ea typeface="Arial"/>
                <a:cs typeface="Arial"/>
              </a:defRPr>
            </a:lvl8pPr>
            <a:lvl9pPr>
              <a:defRPr sz="1650" b="0">
                <a:solidFill>
                  <a:srgbClr val="DFC6B1"/>
                </a:solidFill>
                <a:latin typeface="Arial"/>
                <a:ea typeface="Arial"/>
                <a:cs typeface="Arial"/>
              </a:defRPr>
            </a:lvl9pPr>
          </a:lstStyle>
          <a:p xmlns:a="http://schemas.openxmlformats.org/drawingml/2006/main">
            <a:pPr>
              <a:defRPr sz="1650" b="0">
                <a:solidFill>
                  <a:srgbClr val="DFC6B1"/>
                </a:solidFill>
                <a:latin typeface="Arial"/>
                <a:ea typeface="Arial"/>
                <a:cs typeface="Arial"/>
              </a:defRPr>
            </a:pPr>
            <a:r>
              <a:rPr sz="1650" b="0">
                <a:solidFill>
                  <a:srgbClr val="DFC6B1"/>
                </a:solidFill>
                <a:latin typeface="Arial"/>
                <a:ea typeface="Arial"/>
                <a:cs typeface="Arial"/>
              </a:rPr>
              <a:t>Os registros de desempenho também são resultados da governança</a:t>
            </a:r>
          </a:p>
        </p:txBody>
      </p:sp>
      <p:sp>
        <p:nvSpPr>
          <p:cNvPr id="4" name="">
            <a:extLst xmlns:a="http://schemas.openxmlformats.org/drawingml/2006/main">
              <a:ext uri="{FF2B5EF4-FFF2-40B4-BE49-F238E27FC236}">
                <a16:creationId xmlns:a16="http://schemas.microsoft.com/office/drawing/2014/main" id="{5DBBE163-7214-4ACA-A45D-8555B1F8CF93}"/>
              </a:ext>
            </a:extLst>
          </p:cNvPr>
          <p:cNvSpPr>
            <a:spLocks xmlns:a="http://schemas.openxmlformats.org/drawingml/2006/main" noGrp="1"/>
          </p:cNvSpPr>
          <p:nvPr/>
        </p:nvSpPr>
        <p:spPr>
          <a:xfrm xmlns:a="http://schemas.openxmlformats.org/drawingml/2006/main">
            <a:off x="647700" y="2714625"/>
            <a:ext cx="108966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E4B972"/>
                </a:solidFill>
                <a:latin typeface="Arial"/>
                <a:ea typeface="Arial"/>
                <a:cs typeface="Arial"/>
              </a:defRPr>
            </a:defPPr>
            <a:lvl1pPr>
              <a:defRPr sz="2850" b="1">
                <a:solidFill>
                  <a:srgbClr val="E4B972"/>
                </a:solidFill>
                <a:latin typeface="Arial"/>
                <a:ea typeface="Arial"/>
                <a:cs typeface="Arial"/>
              </a:defRPr>
            </a:lvl1pPr>
            <a:lvl2pPr>
              <a:defRPr sz="2850" b="1">
                <a:solidFill>
                  <a:srgbClr val="E4B972"/>
                </a:solidFill>
                <a:latin typeface="Arial"/>
                <a:ea typeface="Arial"/>
                <a:cs typeface="Arial"/>
              </a:defRPr>
            </a:lvl2pPr>
            <a:lvl3pPr>
              <a:defRPr sz="2850" b="1">
                <a:solidFill>
                  <a:srgbClr val="E4B972"/>
                </a:solidFill>
                <a:latin typeface="Arial"/>
                <a:ea typeface="Arial"/>
                <a:cs typeface="Arial"/>
              </a:defRPr>
            </a:lvl3pPr>
            <a:lvl4pPr>
              <a:defRPr sz="2850" b="1">
                <a:solidFill>
                  <a:srgbClr val="E4B972"/>
                </a:solidFill>
                <a:latin typeface="Arial"/>
                <a:ea typeface="Arial"/>
                <a:cs typeface="Arial"/>
              </a:defRPr>
            </a:lvl4pPr>
            <a:lvl5pPr>
              <a:defRPr sz="2850" b="1">
                <a:solidFill>
                  <a:srgbClr val="E4B972"/>
                </a:solidFill>
                <a:latin typeface="Arial"/>
                <a:ea typeface="Arial"/>
                <a:cs typeface="Arial"/>
              </a:defRPr>
            </a:lvl5pPr>
            <a:lvl6pPr>
              <a:defRPr sz="2850" b="1">
                <a:solidFill>
                  <a:srgbClr val="E4B972"/>
                </a:solidFill>
                <a:latin typeface="Arial"/>
                <a:ea typeface="Arial"/>
                <a:cs typeface="Arial"/>
              </a:defRPr>
            </a:lvl6pPr>
            <a:lvl7pPr>
              <a:defRPr sz="2850" b="1">
                <a:solidFill>
                  <a:srgbClr val="E4B972"/>
                </a:solidFill>
                <a:latin typeface="Arial"/>
                <a:ea typeface="Arial"/>
                <a:cs typeface="Arial"/>
              </a:defRPr>
            </a:lvl7pPr>
            <a:lvl8pPr>
              <a:defRPr sz="2850" b="1">
                <a:solidFill>
                  <a:srgbClr val="E4B972"/>
                </a:solidFill>
                <a:latin typeface="Arial"/>
                <a:ea typeface="Arial"/>
                <a:cs typeface="Arial"/>
              </a:defRPr>
            </a:lvl8pPr>
            <a:lvl9pPr>
              <a:defRPr sz="2850" b="1">
                <a:solidFill>
                  <a:srgbClr val="E4B972"/>
                </a:solidFill>
                <a:latin typeface="Arial"/>
                <a:ea typeface="Arial"/>
                <a:cs typeface="Arial"/>
              </a:defRPr>
            </a:lvl9pPr>
          </a:lstStyle>
          <a:p xmlns:a="http://schemas.openxmlformats.org/drawingml/2006/main">
            <a:pPr>
              <a:defRPr sz="2850" b="1">
                <a:solidFill>
                  <a:srgbClr val="E4B972"/>
                </a:solidFill>
                <a:latin typeface="Arial"/>
                <a:ea typeface="Arial"/>
                <a:cs typeface="Arial"/>
              </a:defRPr>
            </a:pPr>
            <a:r>
              <a:rPr sz="2850" b="1">
                <a:solidFill>
                  <a:srgbClr val="E4B972"/>
                </a:solidFill>
                <a:latin typeface="Arial"/>
                <a:ea typeface="Arial"/>
                <a:cs typeface="Arial"/>
              </a:rPr>
              <a:t>A capacidade de registrar condiciona a avaliação dos arranjos; reconhecer o risco não garante que ele se transforme em ação.</a:t>
            </a:r>
          </a:p>
        </p:txBody>
      </p:sp>
      <p:sp>
        <p:nvSpPr>
          <p:cNvPr id="5" name="">
            <a:extLst xmlns:a="http://schemas.openxmlformats.org/drawingml/2006/main">
              <a:ext uri="{FF2B5EF4-FFF2-40B4-BE49-F238E27FC236}">
                <a16:creationId xmlns:a16="http://schemas.microsoft.com/office/drawing/2014/main" id="{FACAE629-C2EA-4038-9EF8-4E8F3DCCF838}"/>
              </a:ext>
            </a:extLst>
          </p:cNvPr>
          <p:cNvSpPr>
            <a:spLocks xmlns:a="http://schemas.openxmlformats.org/drawingml/2006/main" noGrp="1"/>
          </p:cNvSpPr>
          <p:nvPr/>
        </p:nvSpPr>
        <p:spPr>
          <a:xfrm xmlns:a="http://schemas.openxmlformats.org/drawingml/2006/main">
            <a:off x="647700" y="4000500"/>
            <a:ext cx="5276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Conhecer</a:t>
            </a:r>
          </a:p>
        </p:txBody>
      </p:sp>
      <p:sp>
        <p:nvSpPr>
          <p:cNvPr id="6" name="">
            <a:extLst xmlns:a="http://schemas.openxmlformats.org/drawingml/2006/main">
              <a:ext uri="{FF2B5EF4-FFF2-40B4-BE49-F238E27FC236}">
                <a16:creationId xmlns:a16="http://schemas.microsoft.com/office/drawing/2014/main" id="{40D4061B-F562-4D64-9CAF-F30948BAC960}"/>
              </a:ext>
            </a:extLst>
          </p:cNvPr>
          <p:cNvSpPr>
            <a:spLocks xmlns:a="http://schemas.openxmlformats.org/drawingml/2006/main" noGrp="1"/>
          </p:cNvSpPr>
          <p:nvPr/>
        </p:nvSpPr>
        <p:spPr>
          <a:xfrm xmlns:a="http://schemas.openxmlformats.org/drawingml/2006/main">
            <a:off x="647700" y="4495800"/>
            <a:ext cx="52768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6F2EC"/>
                </a:solidFill>
                <a:latin typeface="Arial"/>
                <a:ea typeface="Arial"/>
                <a:cs typeface="Arial"/>
              </a:defRPr>
            </a:defPPr>
            <a:lvl1pPr>
              <a:defRPr sz="1725" b="0">
                <a:solidFill>
                  <a:srgbClr val="F6F2EC"/>
                </a:solidFill>
                <a:latin typeface="Arial"/>
                <a:ea typeface="Arial"/>
                <a:cs typeface="Arial"/>
              </a:defRPr>
            </a:lvl1pPr>
            <a:lvl2pPr>
              <a:defRPr sz="1725" b="0">
                <a:solidFill>
                  <a:srgbClr val="F6F2EC"/>
                </a:solidFill>
                <a:latin typeface="Arial"/>
                <a:ea typeface="Arial"/>
                <a:cs typeface="Arial"/>
              </a:defRPr>
            </a:lvl2pPr>
            <a:lvl3pPr>
              <a:defRPr sz="1725" b="0">
                <a:solidFill>
                  <a:srgbClr val="F6F2EC"/>
                </a:solidFill>
                <a:latin typeface="Arial"/>
                <a:ea typeface="Arial"/>
                <a:cs typeface="Arial"/>
              </a:defRPr>
            </a:lvl3pPr>
            <a:lvl4pPr>
              <a:defRPr sz="1725" b="0">
                <a:solidFill>
                  <a:srgbClr val="F6F2EC"/>
                </a:solidFill>
                <a:latin typeface="Arial"/>
                <a:ea typeface="Arial"/>
                <a:cs typeface="Arial"/>
              </a:defRPr>
            </a:lvl4pPr>
            <a:lvl5pPr>
              <a:defRPr sz="1725" b="0">
                <a:solidFill>
                  <a:srgbClr val="F6F2EC"/>
                </a:solidFill>
                <a:latin typeface="Arial"/>
                <a:ea typeface="Arial"/>
                <a:cs typeface="Arial"/>
              </a:defRPr>
            </a:lvl5pPr>
            <a:lvl6pPr>
              <a:defRPr sz="1725" b="0">
                <a:solidFill>
                  <a:srgbClr val="F6F2EC"/>
                </a:solidFill>
                <a:latin typeface="Arial"/>
                <a:ea typeface="Arial"/>
                <a:cs typeface="Arial"/>
              </a:defRPr>
            </a:lvl6pPr>
            <a:lvl7pPr>
              <a:defRPr sz="1725" b="0">
                <a:solidFill>
                  <a:srgbClr val="F6F2EC"/>
                </a:solidFill>
                <a:latin typeface="Arial"/>
                <a:ea typeface="Arial"/>
                <a:cs typeface="Arial"/>
              </a:defRPr>
            </a:lvl7pPr>
            <a:lvl8pPr>
              <a:defRPr sz="1725" b="0">
                <a:solidFill>
                  <a:srgbClr val="F6F2EC"/>
                </a:solidFill>
                <a:latin typeface="Arial"/>
                <a:ea typeface="Arial"/>
                <a:cs typeface="Arial"/>
              </a:defRPr>
            </a:lvl8pPr>
            <a:lvl9pPr>
              <a:defRPr sz="1725" b="0">
                <a:solidFill>
                  <a:srgbClr val="F6F2EC"/>
                </a:solidFill>
                <a:latin typeface="Arial"/>
                <a:ea typeface="Arial"/>
                <a:cs typeface="Arial"/>
              </a:defRPr>
            </a:lvl9pPr>
          </a:lstStyle>
          <a:p xmlns:a="http://schemas.openxmlformats.org/drawingml/2006/main">
            <a:pPr>
              <a:defRPr sz="1725" b="0">
                <a:solidFill>
                  <a:srgbClr val="F6F2EC"/>
                </a:solidFill>
                <a:latin typeface="Arial"/>
                <a:ea typeface="Arial"/>
                <a:cs typeface="Arial"/>
              </a:defRPr>
            </a:pPr>
            <a:r>
              <a:rPr sz="1725" b="0">
                <a:solidFill>
                  <a:srgbClr val="F6F2EC"/>
                </a:solidFill>
                <a:latin typeface="Arial"/>
                <a:ea typeface="Arial"/>
                <a:cs typeface="Arial"/>
              </a:rPr>
              <a:t>Instrumentos e obrigações tornam problemas observáveis.</a:t>
            </a:r>
          </a:p>
        </p:txBody>
      </p:sp>
      <p:sp>
        <p:nvSpPr>
          <p:cNvPr id="7" name="">
            <a:extLst xmlns:a="http://schemas.openxmlformats.org/drawingml/2006/main">
              <a:ext uri="{FF2B5EF4-FFF2-40B4-BE49-F238E27FC236}">
                <a16:creationId xmlns:a16="http://schemas.microsoft.com/office/drawing/2014/main" id="{9B584AAC-5049-48C2-A6D9-B8F112F7A2B7}"/>
              </a:ext>
            </a:extLst>
          </p:cNvPr>
          <p:cNvSpPr>
            <a:spLocks xmlns:a="http://schemas.openxmlformats.org/drawingml/2006/main" noGrp="1"/>
          </p:cNvSpPr>
          <p:nvPr/>
        </p:nvSpPr>
        <p:spPr>
          <a:xfrm xmlns:a="http://schemas.openxmlformats.org/drawingml/2006/main">
            <a:off x="6267450" y="4000500"/>
            <a:ext cx="5276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Agir</a:t>
            </a:r>
          </a:p>
        </p:txBody>
      </p:sp>
      <p:sp>
        <p:nvSpPr>
          <p:cNvPr id="8" name="">
            <a:extLst xmlns:a="http://schemas.openxmlformats.org/drawingml/2006/main">
              <a:ext uri="{FF2B5EF4-FFF2-40B4-BE49-F238E27FC236}">
                <a16:creationId xmlns:a16="http://schemas.microsoft.com/office/drawing/2014/main" id="{5B329DA6-2FFE-4C6E-9ECC-326403D3BA6B}"/>
              </a:ext>
            </a:extLst>
          </p:cNvPr>
          <p:cNvSpPr>
            <a:spLocks xmlns:a="http://schemas.openxmlformats.org/drawingml/2006/main" noGrp="1"/>
          </p:cNvSpPr>
          <p:nvPr/>
        </p:nvSpPr>
        <p:spPr>
          <a:xfrm xmlns:a="http://schemas.openxmlformats.org/drawingml/2006/main">
            <a:off x="6267450" y="4495800"/>
            <a:ext cx="52768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6F2EC"/>
                </a:solidFill>
                <a:latin typeface="Arial"/>
                <a:ea typeface="Arial"/>
                <a:cs typeface="Arial"/>
              </a:defRPr>
            </a:defPPr>
            <a:lvl1pPr>
              <a:defRPr sz="1725" b="0">
                <a:solidFill>
                  <a:srgbClr val="F6F2EC"/>
                </a:solidFill>
                <a:latin typeface="Arial"/>
                <a:ea typeface="Arial"/>
                <a:cs typeface="Arial"/>
              </a:defRPr>
            </a:lvl1pPr>
            <a:lvl2pPr>
              <a:defRPr sz="1725" b="0">
                <a:solidFill>
                  <a:srgbClr val="F6F2EC"/>
                </a:solidFill>
                <a:latin typeface="Arial"/>
                <a:ea typeface="Arial"/>
                <a:cs typeface="Arial"/>
              </a:defRPr>
            </a:lvl2pPr>
            <a:lvl3pPr>
              <a:defRPr sz="1725" b="0">
                <a:solidFill>
                  <a:srgbClr val="F6F2EC"/>
                </a:solidFill>
                <a:latin typeface="Arial"/>
                <a:ea typeface="Arial"/>
                <a:cs typeface="Arial"/>
              </a:defRPr>
            </a:lvl3pPr>
            <a:lvl4pPr>
              <a:defRPr sz="1725" b="0">
                <a:solidFill>
                  <a:srgbClr val="F6F2EC"/>
                </a:solidFill>
                <a:latin typeface="Arial"/>
                <a:ea typeface="Arial"/>
                <a:cs typeface="Arial"/>
              </a:defRPr>
            </a:lvl4pPr>
            <a:lvl5pPr>
              <a:defRPr sz="1725" b="0">
                <a:solidFill>
                  <a:srgbClr val="F6F2EC"/>
                </a:solidFill>
                <a:latin typeface="Arial"/>
                <a:ea typeface="Arial"/>
                <a:cs typeface="Arial"/>
              </a:defRPr>
            </a:lvl5pPr>
            <a:lvl6pPr>
              <a:defRPr sz="1725" b="0">
                <a:solidFill>
                  <a:srgbClr val="F6F2EC"/>
                </a:solidFill>
                <a:latin typeface="Arial"/>
                <a:ea typeface="Arial"/>
                <a:cs typeface="Arial"/>
              </a:defRPr>
            </a:lvl6pPr>
            <a:lvl7pPr>
              <a:defRPr sz="1725" b="0">
                <a:solidFill>
                  <a:srgbClr val="F6F2EC"/>
                </a:solidFill>
                <a:latin typeface="Arial"/>
                <a:ea typeface="Arial"/>
                <a:cs typeface="Arial"/>
              </a:defRPr>
            </a:lvl7pPr>
            <a:lvl8pPr>
              <a:defRPr sz="1725" b="0">
                <a:solidFill>
                  <a:srgbClr val="F6F2EC"/>
                </a:solidFill>
                <a:latin typeface="Arial"/>
                <a:ea typeface="Arial"/>
                <a:cs typeface="Arial"/>
              </a:defRPr>
            </a:lvl8pPr>
            <a:lvl9pPr>
              <a:defRPr sz="1725" b="0">
                <a:solidFill>
                  <a:srgbClr val="F6F2EC"/>
                </a:solidFill>
                <a:latin typeface="Arial"/>
                <a:ea typeface="Arial"/>
                <a:cs typeface="Arial"/>
              </a:defRPr>
            </a:lvl9pPr>
          </a:lstStyle>
          <a:p xmlns:a="http://schemas.openxmlformats.org/drawingml/2006/main">
            <a:pPr>
              <a:defRPr sz="1725" b="0">
                <a:solidFill>
                  <a:srgbClr val="F6F2EC"/>
                </a:solidFill>
                <a:latin typeface="Arial"/>
                <a:ea typeface="Arial"/>
                <a:cs typeface="Arial"/>
              </a:defRPr>
            </a:pPr>
            <a:r>
              <a:rPr sz="1725" b="0">
                <a:solidFill>
                  <a:srgbClr val="F6F2EC"/>
                </a:solidFill>
                <a:latin typeface="Arial"/>
                <a:ea typeface="Arial"/>
                <a:cs typeface="Arial"/>
              </a:rPr>
              <a:t>Responsáveis, recursos e coordenação conectam diagnóstico e intervenção.</a:t>
            </a:r>
          </a:p>
        </p:txBody>
      </p:sp>
      <p:sp>
        <p:nvSpPr>
          <p:cNvPr id="9" name="">
            <a:extLst xmlns:a="http://schemas.openxmlformats.org/drawingml/2006/main">
              <a:ext uri="{FF2B5EF4-FFF2-40B4-BE49-F238E27FC236}">
                <a16:creationId xmlns:a16="http://schemas.microsoft.com/office/drawing/2014/main" id="{4DC01DFD-BBD2-4A97-8ABA-41B552CAC33C}"/>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6A514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31A247B-1DD9-456E-A0D3-DFE3CDC9A5C7}"/>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DFC6B1"/>
                </a:solidFill>
                <a:latin typeface="Arial"/>
                <a:ea typeface="Arial"/>
                <a:cs typeface="Arial"/>
              </a:defRPr>
            </a:defPPr>
            <a:lvl1pPr>
              <a:defRPr sz="1200" b="0">
                <a:solidFill>
                  <a:srgbClr val="DFC6B1"/>
                </a:solidFill>
                <a:latin typeface="Arial"/>
                <a:ea typeface="Arial"/>
                <a:cs typeface="Arial"/>
              </a:defRPr>
            </a:lvl1pPr>
            <a:lvl2pPr>
              <a:defRPr sz="1200" b="0">
                <a:solidFill>
                  <a:srgbClr val="DFC6B1"/>
                </a:solidFill>
                <a:latin typeface="Arial"/>
                <a:ea typeface="Arial"/>
                <a:cs typeface="Arial"/>
              </a:defRPr>
            </a:lvl2pPr>
            <a:lvl3pPr>
              <a:defRPr sz="1200" b="0">
                <a:solidFill>
                  <a:srgbClr val="DFC6B1"/>
                </a:solidFill>
                <a:latin typeface="Arial"/>
                <a:ea typeface="Arial"/>
                <a:cs typeface="Arial"/>
              </a:defRPr>
            </a:lvl3pPr>
            <a:lvl4pPr>
              <a:defRPr sz="1200" b="0">
                <a:solidFill>
                  <a:srgbClr val="DFC6B1"/>
                </a:solidFill>
                <a:latin typeface="Arial"/>
                <a:ea typeface="Arial"/>
                <a:cs typeface="Arial"/>
              </a:defRPr>
            </a:lvl4pPr>
            <a:lvl5pPr>
              <a:defRPr sz="1200" b="0">
                <a:solidFill>
                  <a:srgbClr val="DFC6B1"/>
                </a:solidFill>
                <a:latin typeface="Arial"/>
                <a:ea typeface="Arial"/>
                <a:cs typeface="Arial"/>
              </a:defRPr>
            </a:lvl5pPr>
            <a:lvl6pPr>
              <a:defRPr sz="1200" b="0">
                <a:solidFill>
                  <a:srgbClr val="DFC6B1"/>
                </a:solidFill>
                <a:latin typeface="Arial"/>
                <a:ea typeface="Arial"/>
                <a:cs typeface="Arial"/>
              </a:defRPr>
            </a:lvl6pPr>
            <a:lvl7pPr>
              <a:defRPr sz="1200" b="0">
                <a:solidFill>
                  <a:srgbClr val="DFC6B1"/>
                </a:solidFill>
                <a:latin typeface="Arial"/>
                <a:ea typeface="Arial"/>
                <a:cs typeface="Arial"/>
              </a:defRPr>
            </a:lvl7pPr>
            <a:lvl8pPr>
              <a:defRPr sz="1200" b="0">
                <a:solidFill>
                  <a:srgbClr val="DFC6B1"/>
                </a:solidFill>
                <a:latin typeface="Arial"/>
                <a:ea typeface="Arial"/>
                <a:cs typeface="Arial"/>
              </a:defRPr>
            </a:lvl8pPr>
            <a:lvl9pPr>
              <a:defRPr sz="1200" b="0">
                <a:solidFill>
                  <a:srgbClr val="DFC6B1"/>
                </a:solidFill>
                <a:latin typeface="Arial"/>
                <a:ea typeface="Arial"/>
                <a:cs typeface="Arial"/>
              </a:defRPr>
            </a:lvl9pPr>
          </a:lstStyle>
          <a:p xmlns:a="http://schemas.openxmlformats.org/drawingml/2006/main">
            <a:pPr>
              <a:defRPr sz="1200" b="0">
                <a:solidFill>
                  <a:srgbClr val="DFC6B1"/>
                </a:solidFill>
                <a:latin typeface="Arial"/>
                <a:ea typeface="Arial"/>
                <a:cs typeface="Arial"/>
              </a:defRPr>
            </a:pPr>
            <a:r>
              <a:rPr sz="1200" b="0">
                <a:solidFill>
                  <a:srgbClr val="DFC6B1"/>
                </a:solidFill>
                <a:latin typeface="Arial"/>
                <a:ea typeface="Arial"/>
                <a:cs typeface="Arial"/>
              </a:rPr>
              <a:t>Síntese da proposição do projeto, ainda a demonstrar empiricamente.</a:t>
            </a:r>
          </a:p>
        </p:txBody>
      </p:sp>
      <p:sp>
        <p:nvSpPr>
          <p:cNvPr id="11" name="">
            <a:extLst xmlns:a="http://schemas.openxmlformats.org/drawingml/2006/main">
              <a:ext uri="{FF2B5EF4-FFF2-40B4-BE49-F238E27FC236}">
                <a16:creationId xmlns:a16="http://schemas.microsoft.com/office/drawing/2014/main" id="{152ECF20-5C68-432D-8E68-FF7E84F0A6FA}"/>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03</a:t>
            </a:r>
          </a:p>
        </p:txBody>
      </p:sp>
    </p:spTree>
    <p:extLst>
      <p:ext uri="{BB962C8B-B14F-4D97-AF65-F5344CB8AC3E}">
        <p14:creationId xmlns:p14="http://schemas.microsoft.com/office/powerpoint/2010/main" val="1557160369"/>
      </p:ext>
    </p:extLst>
  </p:cSld>
</p:sld>
</file>

<file path=ppt/slides/slide4.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E7C355A-AC68-4911-BA66-FB639F92475F}"/>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REFERENCIAL DO PROJETO</a:t>
            </a:r>
          </a:p>
        </p:txBody>
      </p:sp>
      <p:sp>
        <p:nvSpPr>
          <p:cNvPr id="2" name="">
            <a:extLst xmlns:a="http://schemas.openxmlformats.org/drawingml/2006/main">
              <a:ext uri="{FF2B5EF4-FFF2-40B4-BE49-F238E27FC236}">
                <a16:creationId xmlns:a16="http://schemas.microsoft.com/office/drawing/2014/main" id="{DF71A403-36C2-4225-B136-9717AD5FC98E}"/>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Da legibilidade à capacidade de resposta</a:t>
            </a:r>
          </a:p>
        </p:txBody>
      </p:sp>
      <p:sp>
        <p:nvSpPr>
          <p:cNvPr id="3" name="">
            <a:extLst xmlns:a="http://schemas.openxmlformats.org/drawingml/2006/main">
              <a:ext uri="{FF2B5EF4-FFF2-40B4-BE49-F238E27FC236}">
                <a16:creationId xmlns:a16="http://schemas.microsoft.com/office/drawing/2014/main" id="{D9C0EF1A-283D-4813-8BE2-07123B5B640E}"/>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A teoria explica por que medir e agir são processos institucionais</a:t>
            </a:r>
          </a:p>
        </p:txBody>
      </p:sp>
      <p:sp>
        <p:nvSpPr>
          <p:cNvPr id="4" name="">
            <a:extLst xmlns:a="http://schemas.openxmlformats.org/drawingml/2006/main">
              <a:ext uri="{FF2B5EF4-FFF2-40B4-BE49-F238E27FC236}">
                <a16:creationId xmlns:a16="http://schemas.microsoft.com/office/drawing/2014/main" id="{E5C05593-01A6-45D9-BBE1-5A423ECCAD03}"/>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Scott · legibilidade</a:t>
            </a:r>
          </a:p>
        </p:txBody>
      </p:sp>
      <p:sp>
        <p:nvSpPr>
          <p:cNvPr id="5" name="">
            <a:extLst xmlns:a="http://schemas.openxmlformats.org/drawingml/2006/main">
              <a:ext uri="{FF2B5EF4-FFF2-40B4-BE49-F238E27FC236}">
                <a16:creationId xmlns:a16="http://schemas.microsoft.com/office/drawing/2014/main" id="{887ECD95-EB45-4351-B02D-54DDDFCE0C20}"/>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Cadastros, mapas e categorias tornam a realidade governável, com simplificações e perdas.</a:t>
            </a:r>
          </a:p>
        </p:txBody>
      </p:sp>
      <p:sp>
        <p:nvSpPr>
          <p:cNvPr id="6" name="">
            <a:extLst xmlns:a="http://schemas.openxmlformats.org/drawingml/2006/main">
              <a:ext uri="{FF2B5EF4-FFF2-40B4-BE49-F238E27FC236}">
                <a16:creationId xmlns:a16="http://schemas.microsoft.com/office/drawing/2014/main" id="{C538B0FF-DEE0-46EF-BB4A-D04A8A47753C}"/>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8AACC2-45DA-421F-9803-6F7786DB5D18}"/>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Mensuração e auditoria</a:t>
            </a:r>
          </a:p>
        </p:txBody>
      </p:sp>
      <p:sp>
        <p:nvSpPr>
          <p:cNvPr id="8" name="">
            <a:extLst xmlns:a="http://schemas.openxmlformats.org/drawingml/2006/main">
              <a:ext uri="{FF2B5EF4-FFF2-40B4-BE49-F238E27FC236}">
                <a16:creationId xmlns:a16="http://schemas.microsoft.com/office/drawing/2014/main" id="{0A7BD94B-5145-4CF1-AF53-73C1147F0813}"/>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Comensuração e auditabilidade permitem comparar; não garantem equivalência ou melhora substantiva.</a:t>
            </a:r>
          </a:p>
        </p:txBody>
      </p:sp>
      <p:sp>
        <p:nvSpPr>
          <p:cNvPr id="9" name="">
            <a:extLst xmlns:a="http://schemas.openxmlformats.org/drawingml/2006/main">
              <a:ext uri="{FF2B5EF4-FFF2-40B4-BE49-F238E27FC236}">
                <a16:creationId xmlns:a16="http://schemas.microsoft.com/office/drawing/2014/main" id="{6A3247C1-43B3-465D-AF57-070E0C7F011D}"/>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4A4E66B-8666-4ECD-AA84-7A90B3590104}"/>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PDCA · resposta</a:t>
            </a:r>
          </a:p>
        </p:txBody>
      </p:sp>
      <p:sp>
        <p:nvSpPr>
          <p:cNvPr id="11" name="">
            <a:extLst xmlns:a="http://schemas.openxmlformats.org/drawingml/2006/main">
              <a:ext uri="{FF2B5EF4-FFF2-40B4-BE49-F238E27FC236}">
                <a16:creationId xmlns:a16="http://schemas.microsoft.com/office/drawing/2014/main" id="{BD9A44D6-7468-402D-B787-E958DEC60332}"/>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Planejar, executar, verificar e agir organiza a investigação do percurso entre diagnóstico e correção.</a:t>
            </a:r>
          </a:p>
        </p:txBody>
      </p:sp>
      <p:sp>
        <p:nvSpPr>
          <p:cNvPr id="12" name="">
            <a:extLst xmlns:a="http://schemas.openxmlformats.org/drawingml/2006/main">
              <a:ext uri="{FF2B5EF4-FFF2-40B4-BE49-F238E27FC236}">
                <a16:creationId xmlns:a16="http://schemas.microsoft.com/office/drawing/2014/main" id="{17EFAACD-3780-41B3-AA1D-26D544693F9E}"/>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D11B76-CCF0-4776-BD77-F8BE19370E58}"/>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PDCA organiza o protocolo; incentivos, recursos e coordenação explicam possíveis interrupções.</a:t>
            </a:r>
          </a:p>
        </p:txBody>
      </p:sp>
      <p:sp>
        <p:nvSpPr>
          <p:cNvPr id="14" name="">
            <a:extLst xmlns:a="http://schemas.openxmlformats.org/drawingml/2006/main">
              <a:ext uri="{FF2B5EF4-FFF2-40B4-BE49-F238E27FC236}">
                <a16:creationId xmlns:a16="http://schemas.microsoft.com/office/drawing/2014/main" id="{A4B5B2BA-A324-403B-973A-6B928B17CD09}"/>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04</a:t>
            </a:r>
          </a:p>
        </p:txBody>
      </p:sp>
    </p:spTree>
    <p:extLst>
      <p:ext uri="{BB962C8B-B14F-4D97-AF65-F5344CB8AC3E}">
        <p14:creationId xmlns:p14="http://schemas.microsoft.com/office/powerpoint/2010/main" val="606312992"/>
      </p:ext>
    </p:extLst>
  </p:cSld>
</p:sld>
</file>

<file path=ppt/slides/slide5.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368AEAC-B318-43CE-8E17-750412790D3B}"/>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CONTRIBUIÇÕES PRETENDIDAS</a:t>
            </a:r>
          </a:p>
        </p:txBody>
      </p:sp>
      <p:sp>
        <p:nvSpPr>
          <p:cNvPr id="2" name="">
            <a:extLst xmlns:a="http://schemas.openxmlformats.org/drawingml/2006/main">
              <a:ext uri="{FF2B5EF4-FFF2-40B4-BE49-F238E27FC236}">
                <a16:creationId xmlns:a16="http://schemas.microsoft.com/office/drawing/2014/main" id="{5C8620D5-80A0-4D73-91F2-26CE39A4F352}"/>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A contribuição está em tornar a comparação institucionalmente informada</a:t>
            </a:r>
          </a:p>
        </p:txBody>
      </p:sp>
      <p:sp>
        <p:nvSpPr>
          <p:cNvPr id="3" name="">
            <a:extLst xmlns:a="http://schemas.openxmlformats.org/drawingml/2006/main">
              <a:ext uri="{FF2B5EF4-FFF2-40B4-BE49-F238E27FC236}">
                <a16:creationId xmlns:a16="http://schemas.microsoft.com/office/drawing/2014/main" id="{096E30EB-2384-4318-8528-14159531E8F1}"/>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Do indicador tomado como dado à capacidade de produzir o indicador</a:t>
            </a:r>
          </a:p>
        </p:txBody>
      </p:sp>
      <p:sp>
        <p:nvSpPr>
          <p:cNvPr id="4" name="">
            <a:extLst xmlns:a="http://schemas.openxmlformats.org/drawingml/2006/main">
              <a:ext uri="{FF2B5EF4-FFF2-40B4-BE49-F238E27FC236}">
                <a16:creationId xmlns:a16="http://schemas.microsoft.com/office/drawing/2014/main" id="{DE1B9A05-F83F-4B3B-9BE8-B904B0868924}"/>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Teórica</a:t>
            </a:r>
          </a:p>
        </p:txBody>
      </p:sp>
      <p:sp>
        <p:nvSpPr>
          <p:cNvPr id="5" name="">
            <a:extLst xmlns:a="http://schemas.openxmlformats.org/drawingml/2006/main">
              <a:ext uri="{FF2B5EF4-FFF2-40B4-BE49-F238E27FC236}">
                <a16:creationId xmlns:a16="http://schemas.microsoft.com/office/drawing/2014/main" id="{0E67D09D-805A-4A21-B83D-EB3828F49C46}"/>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Examinar a mensurabilidade do desempenho como consequência do arranjo de governança.</a:t>
            </a:r>
          </a:p>
        </p:txBody>
      </p:sp>
      <p:sp>
        <p:nvSpPr>
          <p:cNvPr id="6" name="">
            <a:extLst xmlns:a="http://schemas.openxmlformats.org/drawingml/2006/main">
              <a:ext uri="{FF2B5EF4-FFF2-40B4-BE49-F238E27FC236}">
                <a16:creationId xmlns:a16="http://schemas.microsoft.com/office/drawing/2014/main" id="{5BAB612F-8FA7-4646-8DBE-219090831134}"/>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DE9C403-3013-41C0-8242-8293D49E5308}"/>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Metodológica</a:t>
            </a:r>
          </a:p>
        </p:txBody>
      </p:sp>
      <p:sp>
        <p:nvSpPr>
          <p:cNvPr id="8" name="">
            <a:extLst xmlns:a="http://schemas.openxmlformats.org/drawingml/2006/main">
              <a:ext uri="{FF2B5EF4-FFF2-40B4-BE49-F238E27FC236}">
                <a16:creationId xmlns:a16="http://schemas.microsoft.com/office/drawing/2014/main" id="{2C5FA16C-AE12-43B2-9B31-EB7125729C23}"/>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Integrar auditoria, exposição e fontes independentes para separar ocorrência e observação.</a:t>
            </a:r>
          </a:p>
        </p:txBody>
      </p:sp>
      <p:sp>
        <p:nvSpPr>
          <p:cNvPr id="9" name="">
            <a:extLst xmlns:a="http://schemas.openxmlformats.org/drawingml/2006/main">
              <a:ext uri="{FF2B5EF4-FFF2-40B4-BE49-F238E27FC236}">
                <a16:creationId xmlns:a16="http://schemas.microsoft.com/office/drawing/2014/main" id="{DD55081D-40E0-4EE0-989B-8536828356D5}"/>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FB3FF73-56A4-4424-BD2B-4594374FED52}"/>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Prática</a:t>
            </a:r>
          </a:p>
        </p:txBody>
      </p:sp>
      <p:sp>
        <p:nvSpPr>
          <p:cNvPr id="11" name="">
            <a:extLst xmlns:a="http://schemas.openxmlformats.org/drawingml/2006/main">
              <a:ext uri="{FF2B5EF4-FFF2-40B4-BE49-F238E27FC236}">
                <a16:creationId xmlns:a16="http://schemas.microsoft.com/office/drawing/2014/main" id="{5F538785-E834-4FB3-B054-122F6645BD5B}"/>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Distinguir onde falta informação e onde é necessário reconstruir e avaliar a resposta.</a:t>
            </a:r>
          </a:p>
        </p:txBody>
      </p:sp>
      <p:sp>
        <p:nvSpPr>
          <p:cNvPr id="12" name="">
            <a:extLst xmlns:a="http://schemas.openxmlformats.org/drawingml/2006/main">
              <a:ext uri="{FF2B5EF4-FFF2-40B4-BE49-F238E27FC236}">
                <a16:creationId xmlns:a16="http://schemas.microsoft.com/office/drawing/2014/main" id="{C29A9E04-5E72-4993-B634-A861D15EC479}"/>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D11C29E-F14B-4572-AC03-F311491AAE75}"/>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Originalidade exige demonstrar mecanismo distinto e confrontar explicações alternativas.</a:t>
            </a:r>
          </a:p>
        </p:txBody>
      </p:sp>
      <p:sp>
        <p:nvSpPr>
          <p:cNvPr id="14" name="">
            <a:extLst xmlns:a="http://schemas.openxmlformats.org/drawingml/2006/main">
              <a:ext uri="{FF2B5EF4-FFF2-40B4-BE49-F238E27FC236}">
                <a16:creationId xmlns:a16="http://schemas.microsoft.com/office/drawing/2014/main" id="{BDD547DC-D6E1-410D-A82D-83DE654DF228}"/>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05</a:t>
            </a:r>
          </a:p>
        </p:txBody>
      </p:sp>
    </p:spTree>
    <p:extLst>
      <p:ext uri="{BB962C8B-B14F-4D97-AF65-F5344CB8AC3E}">
        <p14:creationId xmlns:p14="http://schemas.microsoft.com/office/powerpoint/2010/main" val="165094114"/>
      </p:ext>
    </p:extLst>
  </p:cSld>
</p:sld>
</file>

<file path=ppt/slides/slide6.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FE946FE-187C-4835-9C18-DD61C17DAA31}"/>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MÉTODO PREVISTO NO PROJETO</a:t>
            </a:r>
          </a:p>
        </p:txBody>
      </p:sp>
      <p:sp>
        <p:nvSpPr>
          <p:cNvPr id="2" name="">
            <a:extLst xmlns:a="http://schemas.openxmlformats.org/drawingml/2006/main">
              <a:ext uri="{FF2B5EF4-FFF2-40B4-BE49-F238E27FC236}">
                <a16:creationId xmlns:a16="http://schemas.microsoft.com/office/drawing/2014/main" id="{5D66F1E1-464A-47F1-A8A1-33BF848AA5AA}"/>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Um desenho de métodos mistos com fontes públicas</a:t>
            </a:r>
          </a:p>
        </p:txBody>
      </p:sp>
      <p:sp>
        <p:nvSpPr>
          <p:cNvPr id="3" name="">
            <a:extLst xmlns:a="http://schemas.openxmlformats.org/drawingml/2006/main">
              <a:ext uri="{FF2B5EF4-FFF2-40B4-BE49-F238E27FC236}">
                <a16:creationId xmlns:a16="http://schemas.microsoft.com/office/drawing/2014/main" id="{3B56F545-7417-4A15-8162-B1E9839298D1}"/>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Analisar o registro e reconstruir a trajetória da resposta</a:t>
            </a:r>
          </a:p>
        </p:txBody>
      </p:sp>
      <p:sp>
        <p:nvSpPr>
          <p:cNvPr id="4" name="">
            <a:extLst xmlns:a="http://schemas.openxmlformats.org/drawingml/2006/main">
              <a:ext uri="{FF2B5EF4-FFF2-40B4-BE49-F238E27FC236}">
                <a16:creationId xmlns:a16="http://schemas.microsoft.com/office/drawing/2014/main" id="{C849D935-EDA4-4FE5-8958-30E1CF489D13}"/>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1 · Integrar e auditar</a:t>
            </a:r>
          </a:p>
        </p:txBody>
      </p:sp>
      <p:sp>
        <p:nvSpPr>
          <p:cNvPr id="5" name="">
            <a:extLst xmlns:a="http://schemas.openxmlformats.org/drawingml/2006/main">
              <a:ext uri="{FF2B5EF4-FFF2-40B4-BE49-F238E27FC236}">
                <a16:creationId xmlns:a16="http://schemas.microsoft.com/office/drawing/2014/main" id="{F7EA09AE-F894-487B-8670-8CE33E2C3BB5}"/>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Compatibilizar UF, BR, km, ano, cadastro e unidade; preservar versões e exclusões.</a:t>
            </a:r>
          </a:p>
        </p:txBody>
      </p:sp>
      <p:sp>
        <p:nvSpPr>
          <p:cNvPr id="6" name="">
            <a:extLst xmlns:a="http://schemas.openxmlformats.org/drawingml/2006/main">
              <a:ext uri="{FF2B5EF4-FFF2-40B4-BE49-F238E27FC236}">
                <a16:creationId xmlns:a16="http://schemas.microsoft.com/office/drawing/2014/main" id="{626D8756-0F7D-4C30-BBC9-A3BE30AEA82B}"/>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8B22C1-B6DD-4D75-ADF2-08B3752B84C6}"/>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2 · Modelar padrões</a:t>
            </a:r>
          </a:p>
        </p:txBody>
      </p:sp>
      <p:sp>
        <p:nvSpPr>
          <p:cNvPr id="8" name="">
            <a:extLst xmlns:a="http://schemas.openxmlformats.org/drawingml/2006/main">
              <a:ext uri="{FF2B5EF4-FFF2-40B4-BE49-F238E27FC236}">
                <a16:creationId xmlns:a16="http://schemas.microsoft.com/office/drawing/2014/main" id="{2B449A5F-05C8-49C0-9DDA-DF0A235AFF78}"/>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Usar exposição e gravidade; examinar sensibilidade, heterogeneidade e persistência.</a:t>
            </a:r>
          </a:p>
        </p:txBody>
      </p:sp>
      <p:sp>
        <p:nvSpPr>
          <p:cNvPr id="9" name="">
            <a:extLst xmlns:a="http://schemas.openxmlformats.org/drawingml/2006/main">
              <a:ext uri="{FF2B5EF4-FFF2-40B4-BE49-F238E27FC236}">
                <a16:creationId xmlns:a16="http://schemas.microsoft.com/office/drawing/2014/main" id="{877B2D6F-F309-4AD4-BB93-80CB3C6B31FF}"/>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9C76553-F7E0-41C0-8E1F-730DD2C8890A}"/>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3 · Reconstruir episódios</a:t>
            </a:r>
          </a:p>
        </p:txBody>
      </p:sp>
      <p:sp>
        <p:nvSpPr>
          <p:cNvPr id="11" name="">
            <a:extLst xmlns:a="http://schemas.openxmlformats.org/drawingml/2006/main">
              <a:ext uri="{FF2B5EF4-FFF2-40B4-BE49-F238E27FC236}">
                <a16:creationId xmlns:a16="http://schemas.microsoft.com/office/drawing/2014/main" id="{BE2C64D3-158D-49CA-A003-090EB089AFFC}"/>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Contratos, PER, fiscalização e documentos datados para seguir alerta, decisão e execução.</a:t>
            </a:r>
          </a:p>
        </p:txBody>
      </p:sp>
      <p:sp>
        <p:nvSpPr>
          <p:cNvPr id="12" name="">
            <a:extLst xmlns:a="http://schemas.openxmlformats.org/drawingml/2006/main">
              <a:ext uri="{FF2B5EF4-FFF2-40B4-BE49-F238E27FC236}">
                <a16:creationId xmlns:a16="http://schemas.microsoft.com/office/drawing/2014/main" id="{D95DA9B6-0457-4F05-B99A-CF3F0AEE262A}"/>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0ABF4A6-ACC0-4633-8A90-255983536BA6}"/>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Resíduo de modelo não identifica automaticamente sinistro oculto; documento ausente não prova inação.</a:t>
            </a:r>
          </a:p>
        </p:txBody>
      </p:sp>
      <p:sp>
        <p:nvSpPr>
          <p:cNvPr id="14" name="">
            <a:extLst xmlns:a="http://schemas.openxmlformats.org/drawingml/2006/main">
              <a:ext uri="{FF2B5EF4-FFF2-40B4-BE49-F238E27FC236}">
                <a16:creationId xmlns:a16="http://schemas.microsoft.com/office/drawing/2014/main" id="{D5603F14-0F21-45B6-847D-5FA265197BF8}"/>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06</a:t>
            </a:r>
          </a:p>
        </p:txBody>
      </p:sp>
    </p:spTree>
    <p:extLst>
      <p:ext uri="{BB962C8B-B14F-4D97-AF65-F5344CB8AC3E}">
        <p14:creationId xmlns:p14="http://schemas.microsoft.com/office/powerpoint/2010/main" val="884710706"/>
      </p:ext>
    </p:extLst>
  </p:cSld>
</p:sld>
</file>

<file path=ppt/slides/slide7.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E9B463-7245-4392-9568-F7C11661E699}"/>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EXTENSÃO INDEPENDENTE · DADOS EXECUTADOS</a:t>
            </a:r>
          </a:p>
        </p:txBody>
      </p:sp>
      <p:sp>
        <p:nvSpPr>
          <p:cNvPr id="2" name="">
            <a:extLst xmlns:a="http://schemas.openxmlformats.org/drawingml/2006/main">
              <a:ext uri="{FF2B5EF4-FFF2-40B4-BE49-F238E27FC236}">
                <a16:creationId xmlns:a16="http://schemas.microsoft.com/office/drawing/2014/main" id="{786F2060-A401-48C0-8608-160D1FC69835}"/>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Já existe uma base empírica integrada para avançar</a:t>
            </a:r>
          </a:p>
        </p:txBody>
      </p:sp>
      <p:sp>
        <p:nvSpPr>
          <p:cNvPr id="3" name="">
            <a:extLst xmlns:a="http://schemas.openxmlformats.org/drawingml/2006/main">
              <a:ext uri="{FF2B5EF4-FFF2-40B4-BE49-F238E27FC236}">
                <a16:creationId xmlns:a16="http://schemas.microsoft.com/office/drawing/2014/main" id="{9C4C3B87-8C06-4F3B-85F0-19305E13ED27}"/>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A extensão do laboratório preserva versões e permite reprodução</a:t>
            </a:r>
          </a:p>
        </p:txBody>
      </p:sp>
      <p:graphicFrame>
        <p:nvGraphicFramePr>
          <p:cNvPr id="4" name="">
            <a:extLst xmlns:a="http://schemas.openxmlformats.org/drawingml/2006/main">
              <a:ext uri="{FF2B5EF4-FFF2-40B4-BE49-F238E27FC236}">
                <a16:creationId xmlns:a16="http://schemas.microsoft.com/office/drawing/2014/main" id="{CECDE5BE-DB35-45AD-BDB7-8DFFD92409B4}"/>
              </a:ext>
            </a:extLst>
          </p:cNvPr>
          <p:cNvGraphicFramePr/>
          <p:nvPr/>
        </p:nvGraphicFramePr>
        <p:xfrm>
          <a:off xmlns:a="http://schemas.openxmlformats.org/drawingml/2006/main" x="647700" y="2362200"/>
          <a:ext xmlns:a="http://schemas.openxmlformats.org/drawingml/2006/main" cx="10896600" cy="2762250"/>
        </p:xfrm>
        <a:graphic xmlns:a="http://schemas.openxmlformats.org/drawingml/2006/main">
          <a:graphicData uri="http://schemas.openxmlformats.org/drawingml/2006/table">
            <a:tbl>
              <a:tblPr/>
              <a:tblGrid>
                <a:gridCol w="3048000"/>
                <a:gridCol w="3857625"/>
                <a:gridCol w="3990975"/>
              </a:tblGrid>
              <a:tr h="552450">
                <a:tc>
                  <a:txBody>
                    <a:bodyPr lIns="95250" tIns="95250" rIns="95250" bIns="95250"/>
                    <a:lstStyle/>
                    <a:p>
                      <a:r>
                        <a:rPr sz="1500" b="1">
                          <a:solidFill>
                            <a:srgbClr val="A33B32"/>
                          </a:solidFill>
                          <a:latin typeface="Arial"/>
                          <a:ea typeface="Arial"/>
                          <a:cs typeface="Arial"/>
                        </a:rPr>
                        <a:t>Fonte</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Conteúdo utilizado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Limite principal</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PRF · 2022–2025</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278.103 ocorrências e 23.274 mortes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Eventos registrados; cobertura não é completa por definição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PNCT · 2022–2025</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Exposição modelada por segmento-ano</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2025 usa julho/2024–junho/2025</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SNV · 202604A</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Cadastro e traçado para auditoria e mapas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Não reconstrói administração histórica</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ANTT · fontes preservadas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Equipamentos, investimentos e tráfego em praças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Cadastro não prova operação passada</a:t>
                      </a:r>
                    </a:p>
                  </a:txBody>
                  <a:tcPr marL="91440" marR="91440" marT="45720" marB="45720">
                    <a:lnR w="4763">
                      <a:solidFill>
                        <a:srgbClr val="D4C5B7"/>
                      </a:solidFill>
                      <a:prstDash val="solid"/>
                    </a:lnR>
                    <a:lnB w="4763">
                      <a:solidFill>
                        <a:srgbClr val="D4C5B7"/>
                      </a:solidFill>
                      <a:prstDash val="solid"/>
                    </a:lnB>
                    <a:solidFill>
                      <a:srgbClr val="F6F2EC"/>
                    </a:solidFill>
                  </a:tcPr>
                </a:tc>
              </a:tr>
            </a:tbl>
          </a:graphicData>
        </a:graphic>
      </p:graphicFrame>
      <p:sp>
        <p:nvSpPr>
          <p:cNvPr id="5" name="">
            <a:extLst xmlns:a="http://schemas.openxmlformats.org/drawingml/2006/main">
              <a:ext uri="{FF2B5EF4-FFF2-40B4-BE49-F238E27FC236}">
                <a16:creationId xmlns:a16="http://schemas.microsoft.com/office/drawing/2014/main" id="{3CCE2405-06B3-4CCE-B93C-FA00144EF3FB}"/>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9C452F5-0FF9-4A53-A3FE-6CBD9ED4C586}"/>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26 arquivos originais públicos preservados, com URL, tamanho, data e SHA-256.</a:t>
            </a:r>
          </a:p>
        </p:txBody>
      </p:sp>
      <p:sp>
        <p:nvSpPr>
          <p:cNvPr id="7" name="">
            <a:extLst xmlns:a="http://schemas.openxmlformats.org/drawingml/2006/main">
              <a:ext uri="{FF2B5EF4-FFF2-40B4-BE49-F238E27FC236}">
                <a16:creationId xmlns:a16="http://schemas.microsoft.com/office/drawing/2014/main" id="{EB3993BE-884E-4332-B41D-8D4CA059AECA}"/>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07</a:t>
            </a:r>
          </a:p>
        </p:txBody>
      </p:sp>
    </p:spTree>
    <p:extLst>
      <p:ext uri="{BB962C8B-B14F-4D97-AF65-F5344CB8AC3E}">
        <p14:creationId xmlns:p14="http://schemas.microsoft.com/office/powerpoint/2010/main" val="714333743"/>
      </p:ext>
    </p:extLst>
  </p:cSld>
</p:sld>
</file>

<file path=ppt/slides/slide8.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2D1D07-DBD4-47F1-A74B-626CC8CFECBF}"/>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OPERACIONALIZAÇÃO · EXTENSÃO PROPOSTA</a:t>
            </a:r>
          </a:p>
        </p:txBody>
      </p:sp>
      <p:sp>
        <p:nvSpPr>
          <p:cNvPr id="2" name="">
            <a:extLst xmlns:a="http://schemas.openxmlformats.org/drawingml/2006/main">
              <a:ext uri="{FF2B5EF4-FFF2-40B4-BE49-F238E27FC236}">
                <a16:creationId xmlns:a16="http://schemas.microsoft.com/office/drawing/2014/main" id="{5CA0F869-3E7D-4D38-A370-F49181A0546B}"/>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Governança precisa virar variável observável</a:t>
            </a:r>
          </a:p>
        </p:txBody>
      </p:sp>
      <p:sp>
        <p:nvSpPr>
          <p:cNvPr id="3" name="">
            <a:extLst xmlns:a="http://schemas.openxmlformats.org/drawingml/2006/main">
              <a:ext uri="{FF2B5EF4-FFF2-40B4-BE49-F238E27FC236}">
                <a16:creationId xmlns:a16="http://schemas.microsoft.com/office/drawing/2014/main" id="{8A755184-B696-4A75-804A-F3557EB5AB0F}"/>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Concessão é um arranjo cadastral; qualidade institucional precisa de medidas próprias</a:t>
            </a:r>
          </a:p>
        </p:txBody>
      </p:sp>
      <p:graphicFrame>
        <p:nvGraphicFramePr>
          <p:cNvPr id="4" name="">
            <a:extLst xmlns:a="http://schemas.openxmlformats.org/drawingml/2006/main">
              <a:ext uri="{FF2B5EF4-FFF2-40B4-BE49-F238E27FC236}">
                <a16:creationId xmlns:a16="http://schemas.microsoft.com/office/drawing/2014/main" id="{3A401D5A-ADF1-453C-A7AD-55525FAFE222}"/>
              </a:ext>
            </a:extLst>
          </p:cNvPr>
          <p:cNvGraphicFramePr/>
          <p:nvPr/>
        </p:nvGraphicFramePr>
        <p:xfrm>
          <a:off xmlns:a="http://schemas.openxmlformats.org/drawingml/2006/main" x="647700" y="2362200"/>
          <a:ext xmlns:a="http://schemas.openxmlformats.org/drawingml/2006/main" cx="10896600" cy="2762250"/>
        </p:xfrm>
        <a:graphic xmlns:a="http://schemas.openxmlformats.org/drawingml/2006/main">
          <a:graphicData uri="http://schemas.openxmlformats.org/drawingml/2006/table">
            <a:tbl>
              <a:tblPr/>
              <a:tblGrid>
                <a:gridCol w="3048000"/>
                <a:gridCol w="3857625"/>
                <a:gridCol w="3990975"/>
              </a:tblGrid>
              <a:tr h="552450">
                <a:tc>
                  <a:txBody>
                    <a:bodyPr lIns="95250" tIns="95250" rIns="95250" bIns="95250"/>
                    <a:lstStyle/>
                    <a:p>
                      <a:r>
                        <a:rPr sz="1500" b="1">
                          <a:solidFill>
                            <a:srgbClr val="A33B32"/>
                          </a:solidFill>
                          <a:latin typeface="Arial"/>
                          <a:ea typeface="Arial"/>
                          <a:cs typeface="Arial"/>
                        </a:rPr>
                        <a:t>Dimensão</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Indicador</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Situação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Informação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Cobertura, situação e disponibilidade de instrumentos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Cadastros publicados; histórico pendente</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Obrigações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Metas, deveres, prazos e responsáveis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Codificação contratual necessária</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Implementação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Planejado, executado e conclusão de intervenções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Campos preservados; unidade e vigência a validar</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Resposta</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Alerta → decisão → execução → avaliação</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Episódios documentais a reconstruir</a:t>
                      </a:r>
                    </a:p>
                  </a:txBody>
                  <a:tcPr marL="91440" marR="91440" marT="45720" marB="45720">
                    <a:lnR w="4763">
                      <a:solidFill>
                        <a:srgbClr val="D4C5B7"/>
                      </a:solidFill>
                      <a:prstDash val="solid"/>
                    </a:lnR>
                    <a:lnB w="4763">
                      <a:solidFill>
                        <a:srgbClr val="D4C5B7"/>
                      </a:solidFill>
                      <a:prstDash val="solid"/>
                    </a:lnB>
                    <a:solidFill>
                      <a:srgbClr val="F6F2EC"/>
                    </a:solidFill>
                  </a:tcPr>
                </a:tc>
              </a:tr>
            </a:tbl>
          </a:graphicData>
        </a:graphic>
      </p:graphicFrame>
      <p:sp>
        <p:nvSpPr>
          <p:cNvPr id="5" name="">
            <a:extLst xmlns:a="http://schemas.openxmlformats.org/drawingml/2006/main">
              <a:ext uri="{FF2B5EF4-FFF2-40B4-BE49-F238E27FC236}">
                <a16:creationId xmlns:a16="http://schemas.microsoft.com/office/drawing/2014/main" id="{8475A21A-6838-4748-9BB6-9FD9E94FE51D}"/>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9F9B65-B564-4059-8358-042F6C084277}"/>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Não foi criado um índice composto arbitrário de “boa governança”.</a:t>
            </a:r>
          </a:p>
        </p:txBody>
      </p:sp>
      <p:sp>
        <p:nvSpPr>
          <p:cNvPr id="7" name="">
            <a:extLst xmlns:a="http://schemas.openxmlformats.org/drawingml/2006/main">
              <a:ext uri="{FF2B5EF4-FFF2-40B4-BE49-F238E27FC236}">
                <a16:creationId xmlns:a16="http://schemas.microsoft.com/office/drawing/2014/main" id="{72841ABF-421D-4B2E-BC72-69CDA62FED1C}"/>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08</a:t>
            </a:r>
          </a:p>
        </p:txBody>
      </p:sp>
    </p:spTree>
    <p:extLst>
      <p:ext uri="{BB962C8B-B14F-4D97-AF65-F5344CB8AC3E}">
        <p14:creationId xmlns:p14="http://schemas.microsoft.com/office/powerpoint/2010/main" val="665557874"/>
      </p:ext>
    </p:extLst>
  </p:cSld>
</p:sld>
</file>

<file path=ppt/slides/slide9.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15DF92-B7A3-4D20-9CF6-C4068510C658}"/>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PLANO ANALÍTICO · EXECUTADO E PENDENTE</a:t>
            </a:r>
          </a:p>
        </p:txBody>
      </p:sp>
      <p:sp>
        <p:nvSpPr>
          <p:cNvPr id="2" name="">
            <a:extLst xmlns:a="http://schemas.openxmlformats.org/drawingml/2006/main">
              <a:ext uri="{FF2B5EF4-FFF2-40B4-BE49-F238E27FC236}">
                <a16:creationId xmlns:a16="http://schemas.microsoft.com/office/drawing/2014/main" id="{3BA361AE-9F5F-4909-971C-20A8469F02B2}"/>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Cada pergunta exige um modelo e uma unidade</a:t>
            </a:r>
          </a:p>
        </p:txBody>
      </p:sp>
      <p:sp>
        <p:nvSpPr>
          <p:cNvPr id="3" name="">
            <a:extLst xmlns:a="http://schemas.openxmlformats.org/drawingml/2006/main">
              <a:ext uri="{FF2B5EF4-FFF2-40B4-BE49-F238E27FC236}">
                <a16:creationId xmlns:a16="http://schemas.microsoft.com/office/drawing/2014/main" id="{61961145-F80F-4720-9D60-594380559408}"/>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Os modelos executados descrevem associação; mecanismos institucionais exigem outra evidência</a:t>
            </a:r>
          </a:p>
        </p:txBody>
      </p:sp>
      <p:graphicFrame>
        <p:nvGraphicFramePr>
          <p:cNvPr id="4" name="">
            <a:extLst xmlns:a="http://schemas.openxmlformats.org/drawingml/2006/main">
              <a:ext uri="{FF2B5EF4-FFF2-40B4-BE49-F238E27FC236}">
                <a16:creationId xmlns:a16="http://schemas.microsoft.com/office/drawing/2014/main" id="{3402853D-FC67-47FC-8470-E884088E22EB}"/>
              </a:ext>
            </a:extLst>
          </p:cNvPr>
          <p:cNvGraphicFramePr/>
          <p:nvPr/>
        </p:nvGraphicFramePr>
        <p:xfrm>
          <a:off xmlns:a="http://schemas.openxmlformats.org/drawingml/2006/main" x="647700" y="2362200"/>
          <a:ext xmlns:a="http://schemas.openxmlformats.org/drawingml/2006/main" cx="10896600" cy="3314700"/>
        </p:xfrm>
        <a:graphic xmlns:a="http://schemas.openxmlformats.org/drawingml/2006/main">
          <a:graphicData uri="http://schemas.openxmlformats.org/drawingml/2006/table">
            <a:tbl>
              <a:tblPr/>
              <a:tblGrid>
                <a:gridCol w="3048000"/>
                <a:gridCol w="3857625"/>
                <a:gridCol w="3990975"/>
              </a:tblGrid>
              <a:tr h="552450">
                <a:tc>
                  <a:txBody>
                    <a:bodyPr lIns="95250" tIns="95250" rIns="95250" bIns="95250"/>
                    <a:lstStyle/>
                    <a:p>
                      <a:r>
                        <a:rPr sz="1500" b="1">
                          <a:solidFill>
                            <a:srgbClr val="A33B32"/>
                          </a:solidFill>
                          <a:latin typeface="Arial"/>
                          <a:ea typeface="Arial"/>
                          <a:cs typeface="Arial"/>
                        </a:rPr>
                        <a:t>Pergunta</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Método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Unidade / estado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Gravidade fatal entre registros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Logística + covariância UF–BR</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Ocorrência · executado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Contagens em relação ao tráfego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NB2 + offset de veículos-km</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Segmento-ano · executado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Fatores por categoria de gravidade</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Multinomial + validação temporal</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Ocorrência · executado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Persistência territorial</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Spearman + bootstrap de corredores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Intervalo de 10 km · executado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Governança, moderação e mediação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Painel histórico e episódios institucionais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Integração adicional · não estimado</a:t>
                      </a:r>
                    </a:p>
                  </a:txBody>
                  <a:tcPr marL="91440" marR="91440" marT="45720" marB="45720">
                    <a:lnR w="4763">
                      <a:solidFill>
                        <a:srgbClr val="D4C5B7"/>
                      </a:solidFill>
                      <a:prstDash val="solid"/>
                    </a:lnR>
                    <a:lnB w="4763">
                      <a:solidFill>
                        <a:srgbClr val="D4C5B7"/>
                      </a:solidFill>
                      <a:prstDash val="solid"/>
                    </a:lnB>
                    <a:solidFill>
                      <a:srgbClr val="F6F2EC"/>
                    </a:solidFill>
                  </a:tcPr>
                </a:tc>
              </a:tr>
            </a:tbl>
          </a:graphicData>
        </a:graphic>
      </p:graphicFrame>
      <p:sp>
        <p:nvSpPr>
          <p:cNvPr id="5" name="">
            <a:extLst xmlns:a="http://schemas.openxmlformats.org/drawingml/2006/main">
              <a:ext uri="{FF2B5EF4-FFF2-40B4-BE49-F238E27FC236}">
                <a16:creationId xmlns:a16="http://schemas.microsoft.com/office/drawing/2014/main" id="{ECA0C1D7-B8BE-46EB-9EC9-BCC4178F33EA}"/>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177DF9-582B-4BB0-99F0-1AAFC505EE3B}"/>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Incerteza de exposição modelada, seleção de registros e confundimento permanecem limitações.</a:t>
            </a:r>
          </a:p>
        </p:txBody>
      </p:sp>
      <p:sp>
        <p:nvSpPr>
          <p:cNvPr id="7" name="">
            <a:extLst xmlns:a="http://schemas.openxmlformats.org/drawingml/2006/main">
              <a:ext uri="{FF2B5EF4-FFF2-40B4-BE49-F238E27FC236}">
                <a16:creationId xmlns:a16="http://schemas.microsoft.com/office/drawing/2014/main" id="{3C2E4C23-F109-474F-B9A6-A90058ED9A0B}"/>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09</a:t>
            </a:r>
          </a:p>
        </p:txBody>
      </p:sp>
    </p:spTree>
    <p:extLst>
      <p:ext uri="{BB962C8B-B14F-4D97-AF65-F5344CB8AC3E}">
        <p14:creationId xmlns:p14="http://schemas.microsoft.com/office/powerpoint/2010/main" val="1652697822"/>
      </p:ext>
    </p:extLst>
  </p:cSld>
</p:sld>
</file>

<file path=ppt/slides/slide10.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3F5D5A8-D2F8-4271-B322-DBDE77D41039}"/>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EXTENSÃO INDEPENDENTE · ACHADO DESCRITIVO</a:t>
            </a:r>
          </a:p>
        </p:txBody>
      </p:sp>
      <p:sp>
        <p:nvSpPr>
          <p:cNvPr id="2" name="">
            <a:extLst xmlns:a="http://schemas.openxmlformats.org/drawingml/2006/main">
              <a:ext uri="{FF2B5EF4-FFF2-40B4-BE49-F238E27FC236}">
                <a16:creationId xmlns:a16="http://schemas.microsoft.com/office/drawing/2014/main" id="{098A7E36-5563-4C3B-9A6D-CA4DAA7B3681}"/>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A contagem de mortes cresceu; isso não mede sozinha o risco</a:t>
            </a:r>
          </a:p>
        </p:txBody>
      </p:sp>
      <p:sp>
        <p:nvSpPr>
          <p:cNvPr id="3" name="">
            <a:extLst xmlns:a="http://schemas.openxmlformats.org/drawingml/2006/main">
              <a:ext uri="{FF2B5EF4-FFF2-40B4-BE49-F238E27FC236}">
                <a16:creationId xmlns:a16="http://schemas.microsoft.com/office/drawing/2014/main" id="{67572CF7-36BF-4345-84F1-28DB8340378A}"/>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2022–2025 · versão PRF preservada</a:t>
            </a:r>
          </a:p>
        </p:txBody>
      </p:sp>
      <p:graphicFrame>
        <p:nvGraphicFramePr>
          <p:cNvPr id="4" name="Chart">
            <a:extLst xmlns:a="http://schemas.openxmlformats.org/drawingml/2006/main">
              <a:ext uri="{FF2B5EF4-FFF2-40B4-BE49-F238E27FC236}">
                <a16:creationId xmlns:a16="http://schemas.microsoft.com/office/drawing/2014/main" id="{C46606D3-5EE3-4913-A093-27078F085C53}"/>
              </a:ext>
            </a:extLst>
          </p:cNvPr>
          <p:cNvGraphicFramePr/>
          <p:nvPr/>
        </p:nvGraphicFramePr>
        <p:xfrm>
          <a:off xmlns:a="http://schemas.openxmlformats.org/drawingml/2006/main" x="647700" y="2667000"/>
          <a:ext xmlns:a="http://schemas.openxmlformats.org/drawingml/2006/main" cx="7048500" cy="2990850"/>
        </p:xfrm>
        <a:graphic xmlns:a="http://schemas.openxmlformats.org/drawingml/2006/main">
          <a:graphicData uri="http://schemas.openxmlformats.org/drawingml/2006/chart">
            <c:chart xmlns:r="http://schemas.openxmlformats.org/officeDocument/2006/relationships" xmlns:c="http://schemas.openxmlformats.org/drawingml/2006/chart" r:id="R67973f20198c4d64"/>
          </a:graphicData>
        </a:graphic>
      </p:graphicFrame>
      <p:sp>
        <p:nvSpPr>
          <p:cNvPr id="5" name="">
            <a:extLst xmlns:a="http://schemas.openxmlformats.org/drawingml/2006/main">
              <a:ext uri="{FF2B5EF4-FFF2-40B4-BE49-F238E27FC236}">
                <a16:creationId xmlns:a16="http://schemas.microsoft.com/office/drawing/2014/main" id="{3573B346-2404-4C01-AB84-A0ADD489FC22}"/>
              </a:ext>
            </a:extLst>
          </p:cNvPr>
          <p:cNvSpPr>
            <a:spLocks xmlns:a="http://schemas.openxmlformats.org/drawingml/2006/main" noGrp="1"/>
          </p:cNvSpPr>
          <p:nvPr/>
        </p:nvSpPr>
        <p:spPr>
          <a:xfrm xmlns:a="http://schemas.openxmlformats.org/drawingml/2006/main">
            <a:off x="8191500" y="3095625"/>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A33B32"/>
                </a:solidFill>
                <a:latin typeface="Arial"/>
                <a:ea typeface="Arial"/>
                <a:cs typeface="Arial"/>
              </a:defRPr>
            </a:defPPr>
            <a:lvl1pPr>
              <a:defRPr sz="5700" b="1">
                <a:solidFill>
                  <a:srgbClr val="A33B32"/>
                </a:solidFill>
                <a:latin typeface="Arial"/>
                <a:ea typeface="Arial"/>
                <a:cs typeface="Arial"/>
              </a:defRPr>
            </a:lvl1pPr>
            <a:lvl2pPr>
              <a:defRPr sz="5700" b="1">
                <a:solidFill>
                  <a:srgbClr val="A33B32"/>
                </a:solidFill>
                <a:latin typeface="Arial"/>
                <a:ea typeface="Arial"/>
                <a:cs typeface="Arial"/>
              </a:defRPr>
            </a:lvl2pPr>
            <a:lvl3pPr>
              <a:defRPr sz="5700" b="1">
                <a:solidFill>
                  <a:srgbClr val="A33B32"/>
                </a:solidFill>
                <a:latin typeface="Arial"/>
                <a:ea typeface="Arial"/>
                <a:cs typeface="Arial"/>
              </a:defRPr>
            </a:lvl3pPr>
            <a:lvl4pPr>
              <a:defRPr sz="5700" b="1">
                <a:solidFill>
                  <a:srgbClr val="A33B32"/>
                </a:solidFill>
                <a:latin typeface="Arial"/>
                <a:ea typeface="Arial"/>
                <a:cs typeface="Arial"/>
              </a:defRPr>
            </a:lvl4pPr>
            <a:lvl5pPr>
              <a:defRPr sz="5700" b="1">
                <a:solidFill>
                  <a:srgbClr val="A33B32"/>
                </a:solidFill>
                <a:latin typeface="Arial"/>
                <a:ea typeface="Arial"/>
                <a:cs typeface="Arial"/>
              </a:defRPr>
            </a:lvl5pPr>
            <a:lvl6pPr>
              <a:defRPr sz="5700" b="1">
                <a:solidFill>
                  <a:srgbClr val="A33B32"/>
                </a:solidFill>
                <a:latin typeface="Arial"/>
                <a:ea typeface="Arial"/>
                <a:cs typeface="Arial"/>
              </a:defRPr>
            </a:lvl6pPr>
            <a:lvl7pPr>
              <a:defRPr sz="5700" b="1">
                <a:solidFill>
                  <a:srgbClr val="A33B32"/>
                </a:solidFill>
                <a:latin typeface="Arial"/>
                <a:ea typeface="Arial"/>
                <a:cs typeface="Arial"/>
              </a:defRPr>
            </a:lvl7pPr>
            <a:lvl8pPr>
              <a:defRPr sz="5700" b="1">
                <a:solidFill>
                  <a:srgbClr val="A33B32"/>
                </a:solidFill>
                <a:latin typeface="Arial"/>
                <a:ea typeface="Arial"/>
                <a:cs typeface="Arial"/>
              </a:defRPr>
            </a:lvl8pPr>
            <a:lvl9pPr>
              <a:defRPr sz="5700" b="1">
                <a:solidFill>
                  <a:srgbClr val="A33B32"/>
                </a:solidFill>
                <a:latin typeface="Arial"/>
                <a:ea typeface="Arial"/>
                <a:cs typeface="Arial"/>
              </a:defRPr>
            </a:lvl9pPr>
          </a:lstStyle>
          <a:p xmlns:a="http://schemas.openxmlformats.org/drawingml/2006/main">
            <a:pPr>
              <a:defRPr sz="5700" b="1">
                <a:solidFill>
                  <a:srgbClr val="A33B32"/>
                </a:solidFill>
                <a:latin typeface="Arial"/>
                <a:ea typeface="Arial"/>
                <a:cs typeface="Arial"/>
              </a:defRPr>
            </a:pPr>
            <a:r>
              <a:rPr sz="5700" b="1">
                <a:solidFill>
                  <a:srgbClr val="A33B32"/>
                </a:solidFill>
                <a:latin typeface="Arial"/>
                <a:ea typeface="Arial"/>
                <a:cs typeface="Arial"/>
              </a:rPr>
              <a:t>+11,1%</a:t>
            </a:r>
          </a:p>
        </p:txBody>
      </p:sp>
      <p:sp>
        <p:nvSpPr>
          <p:cNvPr id="6" name="">
            <a:extLst xmlns:a="http://schemas.openxmlformats.org/drawingml/2006/main">
              <a:ext uri="{FF2B5EF4-FFF2-40B4-BE49-F238E27FC236}">
                <a16:creationId xmlns:a16="http://schemas.microsoft.com/office/drawing/2014/main" id="{331915BC-4DCA-42E6-9B60-744FB88CC58A}"/>
              </a:ext>
            </a:extLst>
          </p:cNvPr>
          <p:cNvSpPr>
            <a:spLocks xmlns:a="http://schemas.openxmlformats.org/drawingml/2006/main" noGrp="1"/>
          </p:cNvSpPr>
          <p:nvPr/>
        </p:nvSpPr>
        <p:spPr>
          <a:xfrm xmlns:a="http://schemas.openxmlformats.org/drawingml/2006/main">
            <a:off x="8191500" y="42576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302B29"/>
                </a:solidFill>
                <a:latin typeface="Arial"/>
                <a:ea typeface="Arial"/>
                <a:cs typeface="Arial"/>
              </a:defRPr>
            </a:defPPr>
            <a:lvl1pPr>
              <a:defRPr sz="1950" b="0">
                <a:solidFill>
                  <a:srgbClr val="302B29"/>
                </a:solidFill>
                <a:latin typeface="Arial"/>
                <a:ea typeface="Arial"/>
                <a:cs typeface="Arial"/>
              </a:defRPr>
            </a:lvl1pPr>
            <a:lvl2pPr>
              <a:defRPr sz="1950" b="0">
                <a:solidFill>
                  <a:srgbClr val="302B29"/>
                </a:solidFill>
                <a:latin typeface="Arial"/>
                <a:ea typeface="Arial"/>
                <a:cs typeface="Arial"/>
              </a:defRPr>
            </a:lvl2pPr>
            <a:lvl3pPr>
              <a:defRPr sz="1950" b="0">
                <a:solidFill>
                  <a:srgbClr val="302B29"/>
                </a:solidFill>
                <a:latin typeface="Arial"/>
                <a:ea typeface="Arial"/>
                <a:cs typeface="Arial"/>
              </a:defRPr>
            </a:lvl3pPr>
            <a:lvl4pPr>
              <a:defRPr sz="1950" b="0">
                <a:solidFill>
                  <a:srgbClr val="302B29"/>
                </a:solidFill>
                <a:latin typeface="Arial"/>
                <a:ea typeface="Arial"/>
                <a:cs typeface="Arial"/>
              </a:defRPr>
            </a:lvl4pPr>
            <a:lvl5pPr>
              <a:defRPr sz="1950" b="0">
                <a:solidFill>
                  <a:srgbClr val="302B29"/>
                </a:solidFill>
                <a:latin typeface="Arial"/>
                <a:ea typeface="Arial"/>
                <a:cs typeface="Arial"/>
              </a:defRPr>
            </a:lvl5pPr>
            <a:lvl6pPr>
              <a:defRPr sz="1950" b="0">
                <a:solidFill>
                  <a:srgbClr val="302B29"/>
                </a:solidFill>
                <a:latin typeface="Arial"/>
                <a:ea typeface="Arial"/>
                <a:cs typeface="Arial"/>
              </a:defRPr>
            </a:lvl6pPr>
            <a:lvl7pPr>
              <a:defRPr sz="1950" b="0">
                <a:solidFill>
                  <a:srgbClr val="302B29"/>
                </a:solidFill>
                <a:latin typeface="Arial"/>
                <a:ea typeface="Arial"/>
                <a:cs typeface="Arial"/>
              </a:defRPr>
            </a:lvl7pPr>
            <a:lvl8pPr>
              <a:defRPr sz="1950" b="0">
                <a:solidFill>
                  <a:srgbClr val="302B29"/>
                </a:solidFill>
                <a:latin typeface="Arial"/>
                <a:ea typeface="Arial"/>
                <a:cs typeface="Arial"/>
              </a:defRPr>
            </a:lvl8pPr>
            <a:lvl9pPr>
              <a:defRPr sz="1950" b="0">
                <a:solidFill>
                  <a:srgbClr val="302B29"/>
                </a:solidFill>
                <a:latin typeface="Arial"/>
                <a:ea typeface="Arial"/>
                <a:cs typeface="Arial"/>
              </a:defRPr>
            </a:lvl9pPr>
          </a:lstStyle>
          <a:p xmlns:a="http://schemas.openxmlformats.org/drawingml/2006/main">
            <a:pPr>
              <a:defRPr sz="1950" b="0">
                <a:solidFill>
                  <a:srgbClr val="302B29"/>
                </a:solidFill>
                <a:latin typeface="Arial"/>
                <a:ea typeface="Arial"/>
                <a:cs typeface="Arial"/>
              </a:defRPr>
            </a:pPr>
            <a:r>
              <a:rPr sz="1950" b="0">
                <a:solidFill>
                  <a:srgbClr val="302B29"/>
                </a:solidFill>
                <a:latin typeface="Arial"/>
                <a:ea typeface="Arial"/>
                <a:cs typeface="Arial"/>
              </a:rPr>
              <a:t>Aumento entre 2022 e 2025</a:t>
            </a:r>
          </a:p>
        </p:txBody>
      </p:sp>
      <p:sp>
        <p:nvSpPr>
          <p:cNvPr id="7" name="">
            <a:extLst xmlns:a="http://schemas.openxmlformats.org/drawingml/2006/main">
              <a:ext uri="{FF2B5EF4-FFF2-40B4-BE49-F238E27FC236}">
                <a16:creationId xmlns:a16="http://schemas.microsoft.com/office/drawing/2014/main" id="{65F51412-AC2F-4CE5-8894-DC67B801B48C}"/>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0E4105-F2C3-44DE-9DC7-070729071F2C}"/>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Em 2025 houve queda em relação a 2024. Separar tendência da contagem, exposição e mudança de registro.</a:t>
            </a:r>
          </a:p>
        </p:txBody>
      </p:sp>
      <p:sp>
        <p:nvSpPr>
          <p:cNvPr id="9" name="">
            <a:extLst xmlns:a="http://schemas.openxmlformats.org/drawingml/2006/main">
              <a:ext uri="{FF2B5EF4-FFF2-40B4-BE49-F238E27FC236}">
                <a16:creationId xmlns:a16="http://schemas.microsoft.com/office/drawing/2014/main" id="{11811E75-4EC6-4C55-9E41-39DB8C5CB03F}"/>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10</a:t>
            </a:r>
          </a:p>
        </p:txBody>
      </p:sp>
    </p:spTree>
    <p:extLst>
      <p:ext uri="{BB962C8B-B14F-4D97-AF65-F5344CB8AC3E}">
        <p14:creationId xmlns:p14="http://schemas.microsoft.com/office/powerpoint/2010/main" val="1221492763"/>
      </p:ext>
    </p:extLst>
  </p:cSld>
</p:sld>
</file>

<file path=ppt/slides/slide11.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E755B1-C326-4E52-9B76-5B1EA8AD9352}"/>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EXTENSÃO INDEPENDENTE · EXPOSIÇÃO PNCT</a:t>
            </a:r>
          </a:p>
        </p:txBody>
      </p:sp>
      <p:sp>
        <p:nvSpPr>
          <p:cNvPr id="2" name="">
            <a:extLst xmlns:a="http://schemas.openxmlformats.org/drawingml/2006/main">
              <a:ext uri="{FF2B5EF4-FFF2-40B4-BE49-F238E27FC236}">
                <a16:creationId xmlns:a16="http://schemas.microsoft.com/office/drawing/2014/main" id="{A66849E6-5B5D-4DFC-A10B-64AB41E1CC79}"/>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O ajuste muda a comparação; a sensibilidade muda a certeza</a:t>
            </a:r>
          </a:p>
        </p:txBody>
      </p:sp>
      <p:sp>
        <p:nvSpPr>
          <p:cNvPr id="3" name="">
            <a:extLst xmlns:a="http://schemas.openxmlformats.org/drawingml/2006/main">
              <a:ext uri="{FF2B5EF4-FFF2-40B4-BE49-F238E27FC236}">
                <a16:creationId xmlns:a16="http://schemas.microsoft.com/office/drawing/2014/main" id="{44A6BD54-CB39-4FE5-8DF8-67BBE29BD03C}"/>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Não há uma conclusão causal sobre superioridade de um arranjo</a:t>
            </a:r>
          </a:p>
        </p:txBody>
      </p:sp>
      <p:sp>
        <p:nvSpPr>
          <p:cNvPr id="4" name="">
            <a:extLst xmlns:a="http://schemas.openxmlformats.org/drawingml/2006/main">
              <a:ext uri="{FF2B5EF4-FFF2-40B4-BE49-F238E27FC236}">
                <a16:creationId xmlns:a16="http://schemas.microsoft.com/office/drawing/2014/main" id="{AA08EDB5-9F11-432B-928A-F72119DDA41D}"/>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Comparação bruta</a:t>
            </a:r>
          </a:p>
        </p:txBody>
      </p:sp>
      <p:sp>
        <p:nvSpPr>
          <p:cNvPr id="5" name="">
            <a:extLst xmlns:a="http://schemas.openxmlformats.org/drawingml/2006/main">
              <a:ext uri="{FF2B5EF4-FFF2-40B4-BE49-F238E27FC236}">
                <a16:creationId xmlns:a16="http://schemas.microsoft.com/office/drawing/2014/main" id="{A2834064-D3E6-4077-8C25-31074D300B7C}"/>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Taxas consideram mortes registradas por 100 milhões de veículos-km estimados.</a:t>
            </a:r>
          </a:p>
        </p:txBody>
      </p:sp>
      <p:sp>
        <p:nvSpPr>
          <p:cNvPr id="6" name="">
            <a:extLst xmlns:a="http://schemas.openxmlformats.org/drawingml/2006/main">
              <a:ext uri="{FF2B5EF4-FFF2-40B4-BE49-F238E27FC236}">
                <a16:creationId xmlns:a16="http://schemas.microsoft.com/office/drawing/2014/main" id="{00802E3D-49C8-453C-B17A-F1A6657D8A54}"/>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2B37103-D75E-49DA-951A-6D88BED9207E}"/>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NB2 ajustado</a:t>
            </a:r>
          </a:p>
        </p:txBody>
      </p:sp>
      <p:sp>
        <p:nvSpPr>
          <p:cNvPr id="8" name="">
            <a:extLst xmlns:a="http://schemas.openxmlformats.org/drawingml/2006/main">
              <a:ext uri="{FF2B5EF4-FFF2-40B4-BE49-F238E27FC236}">
                <a16:creationId xmlns:a16="http://schemas.microsoft.com/office/drawing/2014/main" id="{40727FBE-8C77-412B-B12B-8A0345747A47}"/>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Concessão: IRR 1,20 [1,01; 1,41] para mortes, condicionado aos controles.</a:t>
            </a:r>
          </a:p>
        </p:txBody>
      </p:sp>
      <p:sp>
        <p:nvSpPr>
          <p:cNvPr id="9" name="">
            <a:extLst xmlns:a="http://schemas.openxmlformats.org/drawingml/2006/main">
              <a:ext uri="{FF2B5EF4-FFF2-40B4-BE49-F238E27FC236}">
                <a16:creationId xmlns:a16="http://schemas.microsoft.com/office/drawing/2014/main" id="{46ED01B3-4F7A-4DEA-A132-99D880A43EDD}"/>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6B1403C-ECA3-4E3B-9DA5-FC299686A1AC}"/>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Sensibilidade</a:t>
            </a:r>
          </a:p>
        </p:txBody>
      </p:sp>
      <p:sp>
        <p:nvSpPr>
          <p:cNvPr id="11" name="">
            <a:extLst xmlns:a="http://schemas.openxmlformats.org/drawingml/2006/main">
              <a:ext uri="{FF2B5EF4-FFF2-40B4-BE49-F238E27FC236}">
                <a16:creationId xmlns:a16="http://schemas.microsoft.com/office/drawing/2014/main" id="{049A299E-2948-46D2-B851-358CCF52C34A}"/>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Sem não simuláveis: IRR 1,17 [0,99; 1,39]. O intervalo inclui 1.</a:t>
            </a:r>
          </a:p>
        </p:txBody>
      </p:sp>
      <p:sp>
        <p:nvSpPr>
          <p:cNvPr id="12" name="">
            <a:extLst xmlns:a="http://schemas.openxmlformats.org/drawingml/2006/main">
              <a:ext uri="{FF2B5EF4-FFF2-40B4-BE49-F238E27FC236}">
                <a16:creationId xmlns:a16="http://schemas.microsoft.com/office/drawing/2014/main" id="{2C4B9D41-427C-463F-9685-F7AE9A198C68}"/>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9714F73-CA47-452E-8D35-12F101DCA32B}"/>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O indicador observado depende de universo, denominador, controles e escolhas de modelagem.</a:t>
            </a:r>
          </a:p>
        </p:txBody>
      </p:sp>
      <p:sp>
        <p:nvSpPr>
          <p:cNvPr id="14" name="">
            <a:extLst xmlns:a="http://schemas.openxmlformats.org/drawingml/2006/main">
              <a:ext uri="{FF2B5EF4-FFF2-40B4-BE49-F238E27FC236}">
                <a16:creationId xmlns:a16="http://schemas.microsoft.com/office/drawing/2014/main" id="{B6D956B6-C9D5-4F52-8A8A-3AED511837C1}"/>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11</a:t>
            </a:r>
          </a:p>
        </p:txBody>
      </p:sp>
    </p:spTree>
    <p:extLst>
      <p:ext uri="{BB962C8B-B14F-4D97-AF65-F5344CB8AC3E}">
        <p14:creationId xmlns:p14="http://schemas.microsoft.com/office/powerpoint/2010/main" val="1602742762"/>
      </p:ext>
    </p:extLst>
  </p:cSld>
</p:sld>
</file>

<file path=ppt/slides/slide12.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B57787C-B8C9-4A6D-9D36-1A8CE79AB3A2}"/>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EXTENSÃO INDEPENDENTE · MODELO ADICIONAL</a:t>
            </a:r>
          </a:p>
        </p:txBody>
      </p:sp>
      <p:sp>
        <p:nvSpPr>
          <p:cNvPr id="2" name="">
            <a:extLst xmlns:a="http://schemas.openxmlformats.org/drawingml/2006/main">
              <a:ext uri="{FF2B5EF4-FFF2-40B4-BE49-F238E27FC236}">
                <a16:creationId xmlns:a16="http://schemas.microsoft.com/office/drawing/2014/main" id="{FA922FFE-0B33-42B2-A224-BB470C1B937E}"/>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A gravidade exige associações específicas por desfecho</a:t>
            </a:r>
          </a:p>
        </p:txBody>
      </p:sp>
      <p:sp>
        <p:nvSpPr>
          <p:cNvPr id="3" name="">
            <a:extLst xmlns:a="http://schemas.openxmlformats.org/drawingml/2006/main">
              <a:ext uri="{FF2B5EF4-FFF2-40B4-BE49-F238E27FC236}">
                <a16:creationId xmlns:a16="http://schemas.microsoft.com/office/drawing/2014/main" id="{BD0CA2F9-3915-40C2-BED9-8196684B977F}"/>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Multinomial: sem vítimas, leves, graves e mortes</a:t>
            </a:r>
          </a:p>
        </p:txBody>
      </p:sp>
      <p:sp>
        <p:nvSpPr>
          <p:cNvPr id="4" name="">
            <a:extLst xmlns:a="http://schemas.openxmlformats.org/drawingml/2006/main">
              <a:ext uri="{FF2B5EF4-FFF2-40B4-BE49-F238E27FC236}">
                <a16:creationId xmlns:a16="http://schemas.microsoft.com/office/drawing/2014/main" id="{7B907CF7-B84C-4CF3-BB2F-02CC457F62A5}"/>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Associação</a:t>
            </a:r>
          </a:p>
        </p:txBody>
      </p:sp>
      <p:sp>
        <p:nvSpPr>
          <p:cNvPr id="5" name="">
            <a:extLst xmlns:a="http://schemas.openxmlformats.org/drawingml/2006/main">
              <a:ext uri="{FF2B5EF4-FFF2-40B4-BE49-F238E27FC236}">
                <a16:creationId xmlns:a16="http://schemas.microsoft.com/office/drawing/2014/main" id="{D15D119D-894D-44B0-A4B6-3D81269707E5}"/>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Noite: RRR 1,30 [1,21; 1,39] para mortes versus sem vítimas, com controles.</a:t>
            </a:r>
          </a:p>
        </p:txBody>
      </p:sp>
      <p:sp>
        <p:nvSpPr>
          <p:cNvPr id="6" name="">
            <a:extLst xmlns:a="http://schemas.openxmlformats.org/drawingml/2006/main">
              <a:ext uri="{FF2B5EF4-FFF2-40B4-BE49-F238E27FC236}">
                <a16:creationId xmlns:a16="http://schemas.microsoft.com/office/drawing/2014/main" id="{695FEF77-C99E-4C18-825A-BDD0AB515573}"/>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81D2FCD-3F99-41E5-851D-E915A16DE049}"/>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Validação temporal</a:t>
            </a:r>
          </a:p>
        </p:txBody>
      </p:sp>
      <p:sp>
        <p:nvSpPr>
          <p:cNvPr id="8" name="">
            <a:extLst xmlns:a="http://schemas.openxmlformats.org/drawingml/2006/main">
              <a:ext uri="{FF2B5EF4-FFF2-40B4-BE49-F238E27FC236}">
                <a16:creationId xmlns:a16="http://schemas.microsoft.com/office/drawing/2014/main" id="{6AAA234E-D5D6-4D23-947D-B57D72A36465}"/>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Log loss: 1,074 contra 1,132 da referência. Probabilidades melhoram modestamente.</a:t>
            </a:r>
          </a:p>
        </p:txBody>
      </p:sp>
      <p:sp>
        <p:nvSpPr>
          <p:cNvPr id="9" name="">
            <a:extLst xmlns:a="http://schemas.openxmlformats.org/drawingml/2006/main">
              <a:ext uri="{FF2B5EF4-FFF2-40B4-BE49-F238E27FC236}">
                <a16:creationId xmlns:a16="http://schemas.microsoft.com/office/drawing/2014/main" id="{666A1FF5-4105-4DA6-BF3C-CC7F123B64A1}"/>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E7C266A-425B-47E6-910E-1699963E9FF1}"/>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Limite de uso</a:t>
            </a:r>
          </a:p>
        </p:txBody>
      </p:sp>
      <p:sp>
        <p:nvSpPr>
          <p:cNvPr id="11" name="">
            <a:extLst xmlns:a="http://schemas.openxmlformats.org/drawingml/2006/main">
              <a:ext uri="{FF2B5EF4-FFF2-40B4-BE49-F238E27FC236}">
                <a16:creationId xmlns:a16="http://schemas.microsoft.com/office/drawing/2014/main" id="{BFF94948-3771-4C91-AF19-EBD7EC2209C6}"/>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Acurácia: 56,3% contra 56,1%. Sensibilidade fatal: 4,3% pela classe de maior probabilidade.</a:t>
            </a:r>
          </a:p>
        </p:txBody>
      </p:sp>
      <p:sp>
        <p:nvSpPr>
          <p:cNvPr id="12" name="">
            <a:extLst xmlns:a="http://schemas.openxmlformats.org/drawingml/2006/main">
              <a:ext uri="{FF2B5EF4-FFF2-40B4-BE49-F238E27FC236}">
                <a16:creationId xmlns:a16="http://schemas.microsoft.com/office/drawing/2014/main" id="{DA4F3855-C562-49C8-82AA-1A20BB0BC06E}"/>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27CE994-EC28-41DA-A3B8-E7455A73B38F}"/>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Associação útil para investigação não equivale a classificador operacional validado.</a:t>
            </a:r>
          </a:p>
        </p:txBody>
      </p:sp>
      <p:sp>
        <p:nvSpPr>
          <p:cNvPr id="14" name="">
            <a:extLst xmlns:a="http://schemas.openxmlformats.org/drawingml/2006/main">
              <a:ext uri="{FF2B5EF4-FFF2-40B4-BE49-F238E27FC236}">
                <a16:creationId xmlns:a16="http://schemas.microsoft.com/office/drawing/2014/main" id="{FDA026D0-3546-4C40-BE00-B6D9601EAFF2}"/>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12</a:t>
            </a:r>
          </a:p>
        </p:txBody>
      </p:sp>
    </p:spTree>
    <p:extLst>
      <p:ext uri="{BB962C8B-B14F-4D97-AF65-F5344CB8AC3E}">
        <p14:creationId xmlns:p14="http://schemas.microsoft.com/office/powerpoint/2010/main" val="1496591004"/>
      </p:ext>
    </p:extLst>
  </p:cSld>
</p:sld>
</file>

<file path=ppt/slides/slide13.xml><?xml version="1.0" encoding="utf-8"?>
<p:sld xmlns:p="http://schemas.openxmlformats.org/presentationml/2006/main">
  <p:cSld>
    <p:bg>
      <p:bgPr>
        <a:solidFill xmlns:a="http://schemas.openxmlformats.org/drawingml/2006/main">
          <a:srgbClr val="29252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2E00E4-9116-4DC6-9CB9-29824EFBCA0C}"/>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DFB56C"/>
                </a:solidFill>
                <a:latin typeface="Arial"/>
                <a:ea typeface="Arial"/>
                <a:cs typeface="Arial"/>
              </a:defRPr>
            </a:defPPr>
            <a:lvl1pPr>
              <a:defRPr sz="1050" b="1">
                <a:solidFill>
                  <a:srgbClr val="DFB56C"/>
                </a:solidFill>
                <a:latin typeface="Arial"/>
                <a:ea typeface="Arial"/>
                <a:cs typeface="Arial"/>
              </a:defRPr>
            </a:lvl1pPr>
            <a:lvl2pPr>
              <a:defRPr sz="1050" b="1">
                <a:solidFill>
                  <a:srgbClr val="DFB56C"/>
                </a:solidFill>
                <a:latin typeface="Arial"/>
                <a:ea typeface="Arial"/>
                <a:cs typeface="Arial"/>
              </a:defRPr>
            </a:lvl2pPr>
            <a:lvl3pPr>
              <a:defRPr sz="1050" b="1">
                <a:solidFill>
                  <a:srgbClr val="DFB56C"/>
                </a:solidFill>
                <a:latin typeface="Arial"/>
                <a:ea typeface="Arial"/>
                <a:cs typeface="Arial"/>
              </a:defRPr>
            </a:lvl3pPr>
            <a:lvl4pPr>
              <a:defRPr sz="1050" b="1">
                <a:solidFill>
                  <a:srgbClr val="DFB56C"/>
                </a:solidFill>
                <a:latin typeface="Arial"/>
                <a:ea typeface="Arial"/>
                <a:cs typeface="Arial"/>
              </a:defRPr>
            </a:lvl4pPr>
            <a:lvl5pPr>
              <a:defRPr sz="1050" b="1">
                <a:solidFill>
                  <a:srgbClr val="DFB56C"/>
                </a:solidFill>
                <a:latin typeface="Arial"/>
                <a:ea typeface="Arial"/>
                <a:cs typeface="Arial"/>
              </a:defRPr>
            </a:lvl5pPr>
            <a:lvl6pPr>
              <a:defRPr sz="1050" b="1">
                <a:solidFill>
                  <a:srgbClr val="DFB56C"/>
                </a:solidFill>
                <a:latin typeface="Arial"/>
                <a:ea typeface="Arial"/>
                <a:cs typeface="Arial"/>
              </a:defRPr>
            </a:lvl6pPr>
            <a:lvl7pPr>
              <a:defRPr sz="1050" b="1">
                <a:solidFill>
                  <a:srgbClr val="DFB56C"/>
                </a:solidFill>
                <a:latin typeface="Arial"/>
                <a:ea typeface="Arial"/>
                <a:cs typeface="Arial"/>
              </a:defRPr>
            </a:lvl7pPr>
            <a:lvl8pPr>
              <a:defRPr sz="1050" b="1">
                <a:solidFill>
                  <a:srgbClr val="DFB56C"/>
                </a:solidFill>
                <a:latin typeface="Arial"/>
                <a:ea typeface="Arial"/>
                <a:cs typeface="Arial"/>
              </a:defRPr>
            </a:lvl8pPr>
            <a:lvl9pPr>
              <a:defRPr sz="1050" b="1">
                <a:solidFill>
                  <a:srgbClr val="DFB56C"/>
                </a:solidFill>
                <a:latin typeface="Arial"/>
                <a:ea typeface="Arial"/>
                <a:cs typeface="Arial"/>
              </a:defRPr>
            </a:lvl9pPr>
          </a:lstStyle>
          <a:p xmlns:a="http://schemas.openxmlformats.org/drawingml/2006/main">
            <a:pPr>
              <a:defRPr sz="1050" b="1">
                <a:solidFill>
                  <a:srgbClr val="DFB56C"/>
                </a:solidFill>
                <a:latin typeface="Arial"/>
                <a:ea typeface="Arial"/>
                <a:cs typeface="Arial"/>
              </a:defRPr>
            </a:pPr>
            <a:r>
              <a:rPr sz="1050" b="1">
                <a:solidFill>
                  <a:srgbClr val="DFB56C"/>
                </a:solidFill>
                <a:latin typeface="Arial"/>
                <a:ea typeface="Arial"/>
                <a:cs typeface="Arial"/>
              </a:rPr>
              <a:t>EXTENSÃO INDEPENDENTE · PERSISTÊNCIA</a:t>
            </a:r>
          </a:p>
        </p:txBody>
      </p:sp>
      <p:sp>
        <p:nvSpPr>
          <p:cNvPr id="2" name="">
            <a:extLst xmlns:a="http://schemas.openxmlformats.org/drawingml/2006/main">
              <a:ext uri="{FF2B5EF4-FFF2-40B4-BE49-F238E27FC236}">
                <a16:creationId xmlns:a16="http://schemas.microsoft.com/office/drawing/2014/main" id="{F1FE418B-FE3C-4EBD-BC45-505F66FC45D4}"/>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F6F2EC"/>
                </a:solidFill>
                <a:latin typeface="Arial"/>
                <a:ea typeface="Arial"/>
                <a:cs typeface="Arial"/>
              </a:defRPr>
            </a:defPPr>
            <a:lvl1pPr>
              <a:defRPr sz="3375" b="1">
                <a:solidFill>
                  <a:srgbClr val="F6F2EC"/>
                </a:solidFill>
                <a:latin typeface="Arial"/>
                <a:ea typeface="Arial"/>
                <a:cs typeface="Arial"/>
              </a:defRPr>
            </a:lvl1pPr>
            <a:lvl2pPr>
              <a:defRPr sz="3375" b="1">
                <a:solidFill>
                  <a:srgbClr val="F6F2EC"/>
                </a:solidFill>
                <a:latin typeface="Arial"/>
                <a:ea typeface="Arial"/>
                <a:cs typeface="Arial"/>
              </a:defRPr>
            </a:lvl2pPr>
            <a:lvl3pPr>
              <a:defRPr sz="3375" b="1">
                <a:solidFill>
                  <a:srgbClr val="F6F2EC"/>
                </a:solidFill>
                <a:latin typeface="Arial"/>
                <a:ea typeface="Arial"/>
                <a:cs typeface="Arial"/>
              </a:defRPr>
            </a:lvl3pPr>
            <a:lvl4pPr>
              <a:defRPr sz="3375" b="1">
                <a:solidFill>
                  <a:srgbClr val="F6F2EC"/>
                </a:solidFill>
                <a:latin typeface="Arial"/>
                <a:ea typeface="Arial"/>
                <a:cs typeface="Arial"/>
              </a:defRPr>
            </a:lvl4pPr>
            <a:lvl5pPr>
              <a:defRPr sz="3375" b="1">
                <a:solidFill>
                  <a:srgbClr val="F6F2EC"/>
                </a:solidFill>
                <a:latin typeface="Arial"/>
                <a:ea typeface="Arial"/>
                <a:cs typeface="Arial"/>
              </a:defRPr>
            </a:lvl5pPr>
            <a:lvl6pPr>
              <a:defRPr sz="3375" b="1">
                <a:solidFill>
                  <a:srgbClr val="F6F2EC"/>
                </a:solidFill>
                <a:latin typeface="Arial"/>
                <a:ea typeface="Arial"/>
                <a:cs typeface="Arial"/>
              </a:defRPr>
            </a:lvl6pPr>
            <a:lvl7pPr>
              <a:defRPr sz="3375" b="1">
                <a:solidFill>
                  <a:srgbClr val="F6F2EC"/>
                </a:solidFill>
                <a:latin typeface="Arial"/>
                <a:ea typeface="Arial"/>
                <a:cs typeface="Arial"/>
              </a:defRPr>
            </a:lvl7pPr>
            <a:lvl8pPr>
              <a:defRPr sz="3375" b="1">
                <a:solidFill>
                  <a:srgbClr val="F6F2EC"/>
                </a:solidFill>
                <a:latin typeface="Arial"/>
                <a:ea typeface="Arial"/>
                <a:cs typeface="Arial"/>
              </a:defRPr>
            </a:lvl8pPr>
            <a:lvl9pPr>
              <a:defRPr sz="3375" b="1">
                <a:solidFill>
                  <a:srgbClr val="F6F2EC"/>
                </a:solidFill>
                <a:latin typeface="Arial"/>
                <a:ea typeface="Arial"/>
                <a:cs typeface="Arial"/>
              </a:defRPr>
            </a:lvl9pPr>
          </a:lstStyle>
          <a:p xmlns:a="http://schemas.openxmlformats.org/drawingml/2006/main">
            <a:pPr>
              <a:defRPr sz="3375" b="1">
                <a:solidFill>
                  <a:srgbClr val="F6F2EC"/>
                </a:solidFill>
                <a:latin typeface="Arial"/>
                <a:ea typeface="Arial"/>
                <a:cs typeface="Arial"/>
              </a:defRPr>
            </a:pPr>
            <a:r>
              <a:rPr sz="3375" b="1">
                <a:solidFill>
                  <a:srgbClr val="F6F2EC"/>
                </a:solidFill>
                <a:latin typeface="Arial"/>
                <a:ea typeface="Arial"/>
                <a:cs typeface="Arial"/>
              </a:rPr>
              <a:t>Persistência orienta onde investigar a resposta</a:t>
            </a:r>
          </a:p>
        </p:txBody>
      </p:sp>
      <p:sp>
        <p:nvSpPr>
          <p:cNvPr id="3" name="">
            <a:extLst xmlns:a="http://schemas.openxmlformats.org/drawingml/2006/main">
              <a:ext uri="{FF2B5EF4-FFF2-40B4-BE49-F238E27FC236}">
                <a16:creationId xmlns:a16="http://schemas.microsoft.com/office/drawing/2014/main" id="{A72CDF04-6079-4CCA-BB0E-906F220377E2}"/>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DFC6B1"/>
                </a:solidFill>
                <a:latin typeface="Arial"/>
                <a:ea typeface="Arial"/>
                <a:cs typeface="Arial"/>
              </a:defRPr>
            </a:defPPr>
            <a:lvl1pPr>
              <a:defRPr sz="1650" b="0">
                <a:solidFill>
                  <a:srgbClr val="DFC6B1"/>
                </a:solidFill>
                <a:latin typeface="Arial"/>
                <a:ea typeface="Arial"/>
                <a:cs typeface="Arial"/>
              </a:defRPr>
            </a:lvl1pPr>
            <a:lvl2pPr>
              <a:defRPr sz="1650" b="0">
                <a:solidFill>
                  <a:srgbClr val="DFC6B1"/>
                </a:solidFill>
                <a:latin typeface="Arial"/>
                <a:ea typeface="Arial"/>
                <a:cs typeface="Arial"/>
              </a:defRPr>
            </a:lvl2pPr>
            <a:lvl3pPr>
              <a:defRPr sz="1650" b="0">
                <a:solidFill>
                  <a:srgbClr val="DFC6B1"/>
                </a:solidFill>
                <a:latin typeface="Arial"/>
                <a:ea typeface="Arial"/>
                <a:cs typeface="Arial"/>
              </a:defRPr>
            </a:lvl3pPr>
            <a:lvl4pPr>
              <a:defRPr sz="1650" b="0">
                <a:solidFill>
                  <a:srgbClr val="DFC6B1"/>
                </a:solidFill>
                <a:latin typeface="Arial"/>
                <a:ea typeface="Arial"/>
                <a:cs typeface="Arial"/>
              </a:defRPr>
            </a:lvl4pPr>
            <a:lvl5pPr>
              <a:defRPr sz="1650" b="0">
                <a:solidFill>
                  <a:srgbClr val="DFC6B1"/>
                </a:solidFill>
                <a:latin typeface="Arial"/>
                <a:ea typeface="Arial"/>
                <a:cs typeface="Arial"/>
              </a:defRPr>
            </a:lvl5pPr>
            <a:lvl6pPr>
              <a:defRPr sz="1650" b="0">
                <a:solidFill>
                  <a:srgbClr val="DFC6B1"/>
                </a:solidFill>
                <a:latin typeface="Arial"/>
                <a:ea typeface="Arial"/>
                <a:cs typeface="Arial"/>
              </a:defRPr>
            </a:lvl6pPr>
            <a:lvl7pPr>
              <a:defRPr sz="1650" b="0">
                <a:solidFill>
                  <a:srgbClr val="DFC6B1"/>
                </a:solidFill>
                <a:latin typeface="Arial"/>
                <a:ea typeface="Arial"/>
                <a:cs typeface="Arial"/>
              </a:defRPr>
            </a:lvl7pPr>
            <a:lvl8pPr>
              <a:defRPr sz="1650" b="0">
                <a:solidFill>
                  <a:srgbClr val="DFC6B1"/>
                </a:solidFill>
                <a:latin typeface="Arial"/>
                <a:ea typeface="Arial"/>
                <a:cs typeface="Arial"/>
              </a:defRPr>
            </a:lvl8pPr>
            <a:lvl9pPr>
              <a:defRPr sz="1650" b="0">
                <a:solidFill>
                  <a:srgbClr val="DFC6B1"/>
                </a:solidFill>
                <a:latin typeface="Arial"/>
                <a:ea typeface="Arial"/>
                <a:cs typeface="Arial"/>
              </a:defRPr>
            </a:lvl9pPr>
          </a:lstStyle>
          <a:p xmlns:a="http://schemas.openxmlformats.org/drawingml/2006/main">
            <a:pPr>
              <a:defRPr sz="1650" b="0">
                <a:solidFill>
                  <a:srgbClr val="DFC6B1"/>
                </a:solidFill>
                <a:latin typeface="Arial"/>
                <a:ea typeface="Arial"/>
                <a:cs typeface="Arial"/>
              </a:defRPr>
            </a:pPr>
            <a:r>
              <a:rPr sz="1650" b="0">
                <a:solidFill>
                  <a:srgbClr val="DFC6B1"/>
                </a:solidFill>
                <a:latin typeface="Arial"/>
                <a:ea typeface="Arial"/>
                <a:cs typeface="Arial"/>
              </a:rPr>
              <a:t>Não demonstra, isoladamente, que o Estado deixou de agir</a:t>
            </a:r>
          </a:p>
        </p:txBody>
      </p:sp>
      <p:sp>
        <p:nvSpPr>
          <p:cNvPr id="4" name="">
            <a:extLst xmlns:a="http://schemas.openxmlformats.org/drawingml/2006/main">
              <a:ext uri="{FF2B5EF4-FFF2-40B4-BE49-F238E27FC236}">
                <a16:creationId xmlns:a16="http://schemas.microsoft.com/office/drawing/2014/main" id="{62EDD591-6C11-4EA3-BCCA-C253E1DFD148}"/>
              </a:ext>
            </a:extLst>
          </p:cNvPr>
          <p:cNvSpPr>
            <a:spLocks xmlns:a="http://schemas.openxmlformats.org/drawingml/2006/main" noGrp="1"/>
          </p:cNvSpPr>
          <p:nvPr/>
        </p:nvSpPr>
        <p:spPr>
          <a:xfrm xmlns:a="http://schemas.openxmlformats.org/drawingml/2006/main">
            <a:off x="647700" y="2714625"/>
            <a:ext cx="108966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E4B972"/>
                </a:solidFill>
                <a:latin typeface="Arial"/>
                <a:ea typeface="Arial"/>
                <a:cs typeface="Arial"/>
              </a:defRPr>
            </a:defPPr>
            <a:lvl1pPr>
              <a:defRPr sz="5700" b="1">
                <a:solidFill>
                  <a:srgbClr val="E4B972"/>
                </a:solidFill>
                <a:latin typeface="Arial"/>
                <a:ea typeface="Arial"/>
                <a:cs typeface="Arial"/>
              </a:defRPr>
            </a:lvl1pPr>
            <a:lvl2pPr>
              <a:defRPr sz="5700" b="1">
                <a:solidFill>
                  <a:srgbClr val="E4B972"/>
                </a:solidFill>
                <a:latin typeface="Arial"/>
                <a:ea typeface="Arial"/>
                <a:cs typeface="Arial"/>
              </a:defRPr>
            </a:lvl2pPr>
            <a:lvl3pPr>
              <a:defRPr sz="5700" b="1">
                <a:solidFill>
                  <a:srgbClr val="E4B972"/>
                </a:solidFill>
                <a:latin typeface="Arial"/>
                <a:ea typeface="Arial"/>
                <a:cs typeface="Arial"/>
              </a:defRPr>
            </a:lvl3pPr>
            <a:lvl4pPr>
              <a:defRPr sz="5700" b="1">
                <a:solidFill>
                  <a:srgbClr val="E4B972"/>
                </a:solidFill>
                <a:latin typeface="Arial"/>
                <a:ea typeface="Arial"/>
                <a:cs typeface="Arial"/>
              </a:defRPr>
            </a:lvl4pPr>
            <a:lvl5pPr>
              <a:defRPr sz="5700" b="1">
                <a:solidFill>
                  <a:srgbClr val="E4B972"/>
                </a:solidFill>
                <a:latin typeface="Arial"/>
                <a:ea typeface="Arial"/>
                <a:cs typeface="Arial"/>
              </a:defRPr>
            </a:lvl5pPr>
            <a:lvl6pPr>
              <a:defRPr sz="5700" b="1">
                <a:solidFill>
                  <a:srgbClr val="E4B972"/>
                </a:solidFill>
                <a:latin typeface="Arial"/>
                <a:ea typeface="Arial"/>
                <a:cs typeface="Arial"/>
              </a:defRPr>
            </a:lvl6pPr>
            <a:lvl7pPr>
              <a:defRPr sz="5700" b="1">
                <a:solidFill>
                  <a:srgbClr val="E4B972"/>
                </a:solidFill>
                <a:latin typeface="Arial"/>
                <a:ea typeface="Arial"/>
                <a:cs typeface="Arial"/>
              </a:defRPr>
            </a:lvl7pPr>
            <a:lvl8pPr>
              <a:defRPr sz="5700" b="1">
                <a:solidFill>
                  <a:srgbClr val="E4B972"/>
                </a:solidFill>
                <a:latin typeface="Arial"/>
                <a:ea typeface="Arial"/>
                <a:cs typeface="Arial"/>
              </a:defRPr>
            </a:lvl8pPr>
            <a:lvl9pPr>
              <a:defRPr sz="5700" b="1">
                <a:solidFill>
                  <a:srgbClr val="E4B972"/>
                </a:solidFill>
                <a:latin typeface="Arial"/>
                <a:ea typeface="Arial"/>
                <a:cs typeface="Arial"/>
              </a:defRPr>
            </a:lvl9pPr>
          </a:lstStyle>
          <a:p xmlns:a="http://schemas.openxmlformats.org/drawingml/2006/main">
            <a:pPr>
              <a:defRPr sz="5700" b="1">
                <a:solidFill>
                  <a:srgbClr val="E4B972"/>
                </a:solidFill>
                <a:latin typeface="Arial"/>
                <a:ea typeface="Arial"/>
                <a:cs typeface="Arial"/>
              </a:defRPr>
            </a:pPr>
            <a:r>
              <a:rPr sz="5700" b="1">
                <a:solidFill>
                  <a:srgbClr val="E4B972"/>
                </a:solidFill>
                <a:latin typeface="Arial"/>
                <a:ea typeface="Arial"/>
                <a:cs typeface="Arial"/>
              </a:rPr>
              <a:t>ρ = 0,46</a:t>
            </a:r>
          </a:p>
        </p:txBody>
      </p:sp>
      <p:sp>
        <p:nvSpPr>
          <p:cNvPr id="5" name="">
            <a:extLst xmlns:a="http://schemas.openxmlformats.org/drawingml/2006/main">
              <a:ext uri="{FF2B5EF4-FFF2-40B4-BE49-F238E27FC236}">
                <a16:creationId xmlns:a16="http://schemas.microsoft.com/office/drawing/2014/main" id="{3F2D5523-FB0B-4ABB-BC3D-525BEE815934}"/>
              </a:ext>
            </a:extLst>
          </p:cNvPr>
          <p:cNvSpPr>
            <a:spLocks xmlns:a="http://schemas.openxmlformats.org/drawingml/2006/main" noGrp="1"/>
          </p:cNvSpPr>
          <p:nvPr/>
        </p:nvSpPr>
        <p:spPr>
          <a:xfrm xmlns:a="http://schemas.openxmlformats.org/drawingml/2006/main">
            <a:off x="647700" y="4000500"/>
            <a:ext cx="5276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O que foi observado</a:t>
            </a:r>
          </a:p>
        </p:txBody>
      </p:sp>
      <p:sp>
        <p:nvSpPr>
          <p:cNvPr id="6" name="">
            <a:extLst xmlns:a="http://schemas.openxmlformats.org/drawingml/2006/main">
              <a:ext uri="{FF2B5EF4-FFF2-40B4-BE49-F238E27FC236}">
                <a16:creationId xmlns:a16="http://schemas.microsoft.com/office/drawing/2014/main" id="{30C73735-F4CC-459D-BB0C-59BF7334F1C9}"/>
              </a:ext>
            </a:extLst>
          </p:cNvPr>
          <p:cNvSpPr>
            <a:spLocks xmlns:a="http://schemas.openxmlformats.org/drawingml/2006/main" noGrp="1"/>
          </p:cNvSpPr>
          <p:nvPr/>
        </p:nvSpPr>
        <p:spPr>
          <a:xfrm xmlns:a="http://schemas.openxmlformats.org/drawingml/2006/main">
            <a:off x="647700" y="4495800"/>
            <a:ext cx="52768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6F2EC"/>
                </a:solidFill>
                <a:latin typeface="Arial"/>
                <a:ea typeface="Arial"/>
                <a:cs typeface="Arial"/>
              </a:defRPr>
            </a:defPPr>
            <a:lvl1pPr>
              <a:defRPr sz="1725" b="0">
                <a:solidFill>
                  <a:srgbClr val="F6F2EC"/>
                </a:solidFill>
                <a:latin typeface="Arial"/>
                <a:ea typeface="Arial"/>
                <a:cs typeface="Arial"/>
              </a:defRPr>
            </a:lvl1pPr>
            <a:lvl2pPr>
              <a:defRPr sz="1725" b="0">
                <a:solidFill>
                  <a:srgbClr val="F6F2EC"/>
                </a:solidFill>
                <a:latin typeface="Arial"/>
                <a:ea typeface="Arial"/>
                <a:cs typeface="Arial"/>
              </a:defRPr>
            </a:lvl2pPr>
            <a:lvl3pPr>
              <a:defRPr sz="1725" b="0">
                <a:solidFill>
                  <a:srgbClr val="F6F2EC"/>
                </a:solidFill>
                <a:latin typeface="Arial"/>
                <a:ea typeface="Arial"/>
                <a:cs typeface="Arial"/>
              </a:defRPr>
            </a:lvl3pPr>
            <a:lvl4pPr>
              <a:defRPr sz="1725" b="0">
                <a:solidFill>
                  <a:srgbClr val="F6F2EC"/>
                </a:solidFill>
                <a:latin typeface="Arial"/>
                <a:ea typeface="Arial"/>
                <a:cs typeface="Arial"/>
              </a:defRPr>
            </a:lvl4pPr>
            <a:lvl5pPr>
              <a:defRPr sz="1725" b="0">
                <a:solidFill>
                  <a:srgbClr val="F6F2EC"/>
                </a:solidFill>
                <a:latin typeface="Arial"/>
                <a:ea typeface="Arial"/>
                <a:cs typeface="Arial"/>
              </a:defRPr>
            </a:lvl5pPr>
            <a:lvl6pPr>
              <a:defRPr sz="1725" b="0">
                <a:solidFill>
                  <a:srgbClr val="F6F2EC"/>
                </a:solidFill>
                <a:latin typeface="Arial"/>
                <a:ea typeface="Arial"/>
                <a:cs typeface="Arial"/>
              </a:defRPr>
            </a:lvl6pPr>
            <a:lvl7pPr>
              <a:defRPr sz="1725" b="0">
                <a:solidFill>
                  <a:srgbClr val="F6F2EC"/>
                </a:solidFill>
                <a:latin typeface="Arial"/>
                <a:ea typeface="Arial"/>
                <a:cs typeface="Arial"/>
              </a:defRPr>
            </a:lvl7pPr>
            <a:lvl8pPr>
              <a:defRPr sz="1725" b="0">
                <a:solidFill>
                  <a:srgbClr val="F6F2EC"/>
                </a:solidFill>
                <a:latin typeface="Arial"/>
                <a:ea typeface="Arial"/>
                <a:cs typeface="Arial"/>
              </a:defRPr>
            </a:lvl8pPr>
            <a:lvl9pPr>
              <a:defRPr sz="1725" b="0">
                <a:solidFill>
                  <a:srgbClr val="F6F2EC"/>
                </a:solidFill>
                <a:latin typeface="Arial"/>
                <a:ea typeface="Arial"/>
                <a:cs typeface="Arial"/>
              </a:defRPr>
            </a:lvl9pPr>
          </a:lstStyle>
          <a:p xmlns:a="http://schemas.openxmlformats.org/drawingml/2006/main">
            <a:pPr>
              <a:defRPr sz="1725" b="0">
                <a:solidFill>
                  <a:srgbClr val="F6F2EC"/>
                </a:solidFill>
                <a:latin typeface="Arial"/>
                <a:ea typeface="Arial"/>
                <a:cs typeface="Arial"/>
              </a:defRPr>
            </a:pPr>
            <a:r>
              <a:rPr sz="1725" b="0">
                <a:solidFill>
                  <a:srgbClr val="F6F2EC"/>
                </a:solidFill>
                <a:latin typeface="Arial"/>
                <a:ea typeface="Arial"/>
                <a:cs typeface="Arial"/>
              </a:rPr>
              <a:t>Associação de mortes entre 2022–2023 e 2024–2025 nos intervalos com registro.</a:t>
            </a:r>
          </a:p>
        </p:txBody>
      </p:sp>
      <p:sp>
        <p:nvSpPr>
          <p:cNvPr id="7" name="">
            <a:extLst xmlns:a="http://schemas.openxmlformats.org/drawingml/2006/main">
              <a:ext uri="{FF2B5EF4-FFF2-40B4-BE49-F238E27FC236}">
                <a16:creationId xmlns:a16="http://schemas.microsoft.com/office/drawing/2014/main" id="{BBD0CB89-8527-4A38-962B-ECDE4E1448C9}"/>
              </a:ext>
            </a:extLst>
          </p:cNvPr>
          <p:cNvSpPr>
            <a:spLocks xmlns:a="http://schemas.openxmlformats.org/drawingml/2006/main" noGrp="1"/>
          </p:cNvSpPr>
          <p:nvPr/>
        </p:nvSpPr>
        <p:spPr>
          <a:xfrm xmlns:a="http://schemas.openxmlformats.org/drawingml/2006/main">
            <a:off x="6267450" y="4000500"/>
            <a:ext cx="5276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O que investigar agora</a:t>
            </a:r>
          </a:p>
        </p:txBody>
      </p:sp>
      <p:sp>
        <p:nvSpPr>
          <p:cNvPr id="8" name="">
            <a:extLst xmlns:a="http://schemas.openxmlformats.org/drawingml/2006/main">
              <a:ext uri="{FF2B5EF4-FFF2-40B4-BE49-F238E27FC236}">
                <a16:creationId xmlns:a16="http://schemas.microsoft.com/office/drawing/2014/main" id="{5DFF5F7B-32BF-48D4-A22D-713B81428C83}"/>
              </a:ext>
            </a:extLst>
          </p:cNvPr>
          <p:cNvSpPr>
            <a:spLocks xmlns:a="http://schemas.openxmlformats.org/drawingml/2006/main" noGrp="1"/>
          </p:cNvSpPr>
          <p:nvPr/>
        </p:nvSpPr>
        <p:spPr>
          <a:xfrm xmlns:a="http://schemas.openxmlformats.org/drawingml/2006/main">
            <a:off x="6267450" y="4495800"/>
            <a:ext cx="52768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6F2EC"/>
                </a:solidFill>
                <a:latin typeface="Arial"/>
                <a:ea typeface="Arial"/>
                <a:cs typeface="Arial"/>
              </a:defRPr>
            </a:defPPr>
            <a:lvl1pPr>
              <a:defRPr sz="1725" b="0">
                <a:solidFill>
                  <a:srgbClr val="F6F2EC"/>
                </a:solidFill>
                <a:latin typeface="Arial"/>
                <a:ea typeface="Arial"/>
                <a:cs typeface="Arial"/>
              </a:defRPr>
            </a:lvl1pPr>
            <a:lvl2pPr>
              <a:defRPr sz="1725" b="0">
                <a:solidFill>
                  <a:srgbClr val="F6F2EC"/>
                </a:solidFill>
                <a:latin typeface="Arial"/>
                <a:ea typeface="Arial"/>
                <a:cs typeface="Arial"/>
              </a:defRPr>
            </a:lvl2pPr>
            <a:lvl3pPr>
              <a:defRPr sz="1725" b="0">
                <a:solidFill>
                  <a:srgbClr val="F6F2EC"/>
                </a:solidFill>
                <a:latin typeface="Arial"/>
                <a:ea typeface="Arial"/>
                <a:cs typeface="Arial"/>
              </a:defRPr>
            </a:lvl3pPr>
            <a:lvl4pPr>
              <a:defRPr sz="1725" b="0">
                <a:solidFill>
                  <a:srgbClr val="F6F2EC"/>
                </a:solidFill>
                <a:latin typeface="Arial"/>
                <a:ea typeface="Arial"/>
                <a:cs typeface="Arial"/>
              </a:defRPr>
            </a:lvl4pPr>
            <a:lvl5pPr>
              <a:defRPr sz="1725" b="0">
                <a:solidFill>
                  <a:srgbClr val="F6F2EC"/>
                </a:solidFill>
                <a:latin typeface="Arial"/>
                <a:ea typeface="Arial"/>
                <a:cs typeface="Arial"/>
              </a:defRPr>
            </a:lvl5pPr>
            <a:lvl6pPr>
              <a:defRPr sz="1725" b="0">
                <a:solidFill>
                  <a:srgbClr val="F6F2EC"/>
                </a:solidFill>
                <a:latin typeface="Arial"/>
                <a:ea typeface="Arial"/>
                <a:cs typeface="Arial"/>
              </a:defRPr>
            </a:lvl6pPr>
            <a:lvl7pPr>
              <a:defRPr sz="1725" b="0">
                <a:solidFill>
                  <a:srgbClr val="F6F2EC"/>
                </a:solidFill>
                <a:latin typeface="Arial"/>
                <a:ea typeface="Arial"/>
                <a:cs typeface="Arial"/>
              </a:defRPr>
            </a:lvl7pPr>
            <a:lvl8pPr>
              <a:defRPr sz="1725" b="0">
                <a:solidFill>
                  <a:srgbClr val="F6F2EC"/>
                </a:solidFill>
                <a:latin typeface="Arial"/>
                <a:ea typeface="Arial"/>
                <a:cs typeface="Arial"/>
              </a:defRPr>
            </a:lvl8pPr>
            <a:lvl9pPr>
              <a:defRPr sz="1725" b="0">
                <a:solidFill>
                  <a:srgbClr val="F6F2EC"/>
                </a:solidFill>
                <a:latin typeface="Arial"/>
                <a:ea typeface="Arial"/>
                <a:cs typeface="Arial"/>
              </a:defRPr>
            </a:lvl9pPr>
          </a:lstStyle>
          <a:p xmlns:a="http://schemas.openxmlformats.org/drawingml/2006/main">
            <a:pPr>
              <a:defRPr sz="1725" b="0">
                <a:solidFill>
                  <a:srgbClr val="F6F2EC"/>
                </a:solidFill>
                <a:latin typeface="Arial"/>
                <a:ea typeface="Arial"/>
                <a:cs typeface="Arial"/>
              </a:defRPr>
            </a:pPr>
            <a:r>
              <a:rPr sz="1725" b="0">
                <a:solidFill>
                  <a:srgbClr val="F6F2EC"/>
                </a:solidFill>
                <a:latin typeface="Arial"/>
                <a:ea typeface="Arial"/>
                <a:cs typeface="Arial"/>
              </a:rPr>
              <a:t>Quais alertas foram produzidos, quais ações ocorreram e com quais prazos e recursos?</a:t>
            </a:r>
          </a:p>
        </p:txBody>
      </p:sp>
      <p:sp>
        <p:nvSpPr>
          <p:cNvPr id="9" name="">
            <a:extLst xmlns:a="http://schemas.openxmlformats.org/drawingml/2006/main">
              <a:ext uri="{FF2B5EF4-FFF2-40B4-BE49-F238E27FC236}">
                <a16:creationId xmlns:a16="http://schemas.microsoft.com/office/drawing/2014/main" id="{CEC7FDF1-D37E-42B5-AA0F-CBED0565DECF}"/>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6A514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E57DD3-F9BF-4F26-BC82-F110D7B32550}"/>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DFC6B1"/>
                </a:solidFill>
                <a:latin typeface="Arial"/>
                <a:ea typeface="Arial"/>
                <a:cs typeface="Arial"/>
              </a:defRPr>
            </a:defPPr>
            <a:lvl1pPr>
              <a:defRPr sz="1200" b="0">
                <a:solidFill>
                  <a:srgbClr val="DFC6B1"/>
                </a:solidFill>
                <a:latin typeface="Arial"/>
                <a:ea typeface="Arial"/>
                <a:cs typeface="Arial"/>
              </a:defRPr>
            </a:lvl1pPr>
            <a:lvl2pPr>
              <a:defRPr sz="1200" b="0">
                <a:solidFill>
                  <a:srgbClr val="DFC6B1"/>
                </a:solidFill>
                <a:latin typeface="Arial"/>
                <a:ea typeface="Arial"/>
                <a:cs typeface="Arial"/>
              </a:defRPr>
            </a:lvl2pPr>
            <a:lvl3pPr>
              <a:defRPr sz="1200" b="0">
                <a:solidFill>
                  <a:srgbClr val="DFC6B1"/>
                </a:solidFill>
                <a:latin typeface="Arial"/>
                <a:ea typeface="Arial"/>
                <a:cs typeface="Arial"/>
              </a:defRPr>
            </a:lvl3pPr>
            <a:lvl4pPr>
              <a:defRPr sz="1200" b="0">
                <a:solidFill>
                  <a:srgbClr val="DFC6B1"/>
                </a:solidFill>
                <a:latin typeface="Arial"/>
                <a:ea typeface="Arial"/>
                <a:cs typeface="Arial"/>
              </a:defRPr>
            </a:lvl4pPr>
            <a:lvl5pPr>
              <a:defRPr sz="1200" b="0">
                <a:solidFill>
                  <a:srgbClr val="DFC6B1"/>
                </a:solidFill>
                <a:latin typeface="Arial"/>
                <a:ea typeface="Arial"/>
                <a:cs typeface="Arial"/>
              </a:defRPr>
            </a:lvl5pPr>
            <a:lvl6pPr>
              <a:defRPr sz="1200" b="0">
                <a:solidFill>
                  <a:srgbClr val="DFC6B1"/>
                </a:solidFill>
                <a:latin typeface="Arial"/>
                <a:ea typeface="Arial"/>
                <a:cs typeface="Arial"/>
              </a:defRPr>
            </a:lvl6pPr>
            <a:lvl7pPr>
              <a:defRPr sz="1200" b="0">
                <a:solidFill>
                  <a:srgbClr val="DFC6B1"/>
                </a:solidFill>
                <a:latin typeface="Arial"/>
                <a:ea typeface="Arial"/>
                <a:cs typeface="Arial"/>
              </a:defRPr>
            </a:lvl7pPr>
            <a:lvl8pPr>
              <a:defRPr sz="1200" b="0">
                <a:solidFill>
                  <a:srgbClr val="DFC6B1"/>
                </a:solidFill>
                <a:latin typeface="Arial"/>
                <a:ea typeface="Arial"/>
                <a:cs typeface="Arial"/>
              </a:defRPr>
            </a:lvl8pPr>
            <a:lvl9pPr>
              <a:defRPr sz="1200" b="0">
                <a:solidFill>
                  <a:srgbClr val="DFC6B1"/>
                </a:solidFill>
                <a:latin typeface="Arial"/>
                <a:ea typeface="Arial"/>
                <a:cs typeface="Arial"/>
              </a:defRPr>
            </a:lvl9pPr>
          </a:lstStyle>
          <a:p xmlns:a="http://schemas.openxmlformats.org/drawingml/2006/main">
            <a:pPr>
              <a:defRPr sz="1200" b="0">
                <a:solidFill>
                  <a:srgbClr val="DFC6B1"/>
                </a:solidFill>
                <a:latin typeface="Arial"/>
                <a:ea typeface="Arial"/>
                <a:cs typeface="Arial"/>
              </a:defRPr>
            </a:pPr>
            <a:r>
              <a:rPr sz="1200" b="0">
                <a:solidFill>
                  <a:srgbClr val="DFC6B1"/>
                </a:solidFill>
                <a:latin typeface="Arial"/>
                <a:ea typeface="Arial"/>
                <a:cs typeface="Arial"/>
              </a:rPr>
              <a:t>IC 95% por bootstrap: 0,42–0,50 · universo condicionado à presença de registro em algum ano.</a:t>
            </a:r>
          </a:p>
        </p:txBody>
      </p:sp>
      <p:sp>
        <p:nvSpPr>
          <p:cNvPr id="11" name="">
            <a:extLst xmlns:a="http://schemas.openxmlformats.org/drawingml/2006/main">
              <a:ext uri="{FF2B5EF4-FFF2-40B4-BE49-F238E27FC236}">
                <a16:creationId xmlns:a16="http://schemas.microsoft.com/office/drawing/2014/main" id="{058CBA5C-3CD4-4904-9250-ADF8A657BC4B}"/>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13</a:t>
            </a:r>
          </a:p>
        </p:txBody>
      </p:sp>
    </p:spTree>
    <p:extLst>
      <p:ext uri="{BB962C8B-B14F-4D97-AF65-F5344CB8AC3E}">
        <p14:creationId xmlns:p14="http://schemas.microsoft.com/office/powerpoint/2010/main" val="1231091103"/>
      </p:ext>
    </p:extLst>
  </p:cSld>
</p:sld>
</file>

<file path=ppt/slides/slide14.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D19F98-278E-440C-85E9-3821198CF5D7}"/>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VIABILIDADE DO DESENHO</a:t>
            </a:r>
          </a:p>
        </p:txBody>
      </p:sp>
      <p:sp>
        <p:nvSpPr>
          <p:cNvPr id="2" name="">
            <a:extLst xmlns:a="http://schemas.openxmlformats.org/drawingml/2006/main">
              <a:ext uri="{FF2B5EF4-FFF2-40B4-BE49-F238E27FC236}">
                <a16:creationId xmlns:a16="http://schemas.microsoft.com/office/drawing/2014/main" id="{FDECDCB1-7535-4689-941A-0461AA921329}"/>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O projeto é viável, mas nem toda hipótese já é testável</a:t>
            </a:r>
          </a:p>
        </p:txBody>
      </p:sp>
      <p:sp>
        <p:nvSpPr>
          <p:cNvPr id="3" name="">
            <a:extLst xmlns:a="http://schemas.openxmlformats.org/drawingml/2006/main">
              <a:ext uri="{FF2B5EF4-FFF2-40B4-BE49-F238E27FC236}">
                <a16:creationId xmlns:a16="http://schemas.microsoft.com/office/drawing/2014/main" id="{031AA88C-86EF-4EF4-930F-C9DA28BCB149}"/>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Separar análises disponíveis de mecanismos ainda não identificados</a:t>
            </a:r>
          </a:p>
        </p:txBody>
      </p:sp>
      <p:graphicFrame>
        <p:nvGraphicFramePr>
          <p:cNvPr id="4" name="">
            <a:extLst xmlns:a="http://schemas.openxmlformats.org/drawingml/2006/main">
              <a:ext uri="{FF2B5EF4-FFF2-40B4-BE49-F238E27FC236}">
                <a16:creationId xmlns:a16="http://schemas.microsoft.com/office/drawing/2014/main" id="{3355513C-A6C4-4EDB-9F51-3C142F72FBD6}"/>
              </a:ext>
            </a:extLst>
          </p:cNvPr>
          <p:cNvGraphicFramePr/>
          <p:nvPr/>
        </p:nvGraphicFramePr>
        <p:xfrm>
          <a:off xmlns:a="http://schemas.openxmlformats.org/drawingml/2006/main" x="647700" y="2362200"/>
          <a:ext xmlns:a="http://schemas.openxmlformats.org/drawingml/2006/main" cx="10896600" cy="2762250"/>
        </p:xfrm>
        <a:graphic xmlns:a="http://schemas.openxmlformats.org/drawingml/2006/main">
          <a:graphicData uri="http://schemas.openxmlformats.org/drawingml/2006/table">
            <a:tbl>
              <a:tblPr/>
              <a:tblGrid>
                <a:gridCol w="3048000"/>
                <a:gridCol w="3857625"/>
                <a:gridCol w="3990975"/>
              </a:tblGrid>
              <a:tr h="552450">
                <a:tc>
                  <a:txBody>
                    <a:bodyPr lIns="95250" tIns="95250" rIns="95250" bIns="95250"/>
                    <a:lstStyle/>
                    <a:p>
                      <a:r>
                        <a:rPr sz="1500" b="1">
                          <a:solidFill>
                            <a:srgbClr val="A33B32"/>
                          </a:solidFill>
                          <a:latin typeface="Arial"/>
                          <a:ea typeface="Arial"/>
                          <a:cs typeface="Arial"/>
                        </a:rPr>
                        <a:t>Pode testar agora</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Pode testar parcialmente</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95250" tIns="95250" rIns="95250" bIns="95250"/>
                    <a:lstStyle/>
                    <a:p>
                      <a:r>
                        <a:rPr sz="1500" b="1">
                          <a:solidFill>
                            <a:srgbClr val="A33B32"/>
                          </a:solidFill>
                          <a:latin typeface="Arial"/>
                          <a:ea typeface="Arial"/>
                          <a:cs typeface="Arial"/>
                        </a:rPr>
                        <a:t>Exige nova integração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Exposição e gravidade</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Seleção de casos comparáveis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Operação histórica dos instrumentos</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Padrões territoriais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Explicações com controles observados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Obrigações e recursos por período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Persistência dos registros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Capacidade instrumental cadastrada</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Alerta, decisão e execução</a:t>
                      </a:r>
                    </a:p>
                  </a:txBody>
                  <a:tcPr marL="91440" marR="91440" marT="45720" marB="45720">
                    <a:lnR w="4763">
                      <a:solidFill>
                        <a:srgbClr val="D4C5B7"/>
                      </a:solidFill>
                      <a:prstDash val="solid"/>
                    </a:lnR>
                    <a:lnB w="4763">
                      <a:solidFill>
                        <a:srgbClr val="D4C5B7"/>
                      </a:solidFill>
                      <a:prstDash val="solid"/>
                    </a:lnB>
                    <a:solidFill>
                      <a:srgbClr val="F6F2EC"/>
                    </a:solidFill>
                  </a:tcPr>
                </a:tc>
              </a:tr>
              <a:tr h="552450">
                <a:tc>
                  <a:txBody>
                    <a:bodyPr lIns="95250" tIns="95250" rIns="95250" bIns="95250"/>
                    <a:lstStyle/>
                    <a:p>
                      <a:r>
                        <a:rPr sz="1500" b="0">
                          <a:solidFill>
                            <a:srgbClr val="302B29"/>
                          </a:solidFill>
                          <a:latin typeface="Arial"/>
                          <a:ea typeface="Arial"/>
                          <a:cs typeface="Arial"/>
                        </a:rPr>
                        <a:t>Sensibilidades e previsão temporal</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Vinculação e qualidade dos dados</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95250" tIns="95250" rIns="95250" bIns="95250"/>
                    <a:lstStyle/>
                    <a:p>
                      <a:r>
                        <a:rPr sz="1500" b="0">
                          <a:solidFill>
                            <a:srgbClr val="302B29"/>
                          </a:solidFill>
                          <a:latin typeface="Arial"/>
                          <a:ea typeface="Arial"/>
                          <a:cs typeface="Arial"/>
                        </a:rPr>
                        <a:t>Detecção independente e mediação</a:t>
                      </a:r>
                    </a:p>
                  </a:txBody>
                  <a:tcPr marL="91440" marR="91440" marT="45720" marB="45720">
                    <a:lnR w="4763">
                      <a:solidFill>
                        <a:srgbClr val="D4C5B7"/>
                      </a:solidFill>
                      <a:prstDash val="solid"/>
                    </a:lnR>
                    <a:lnB w="4763">
                      <a:solidFill>
                        <a:srgbClr val="D4C5B7"/>
                      </a:solidFill>
                      <a:prstDash val="solid"/>
                    </a:lnB>
                    <a:solidFill>
                      <a:srgbClr val="F6F2EC"/>
                    </a:solidFill>
                  </a:tcPr>
                </a:tc>
              </a:tr>
            </a:tbl>
          </a:graphicData>
        </a:graphic>
      </p:graphicFrame>
      <p:sp>
        <p:nvSpPr>
          <p:cNvPr id="5" name="">
            <a:extLst xmlns:a="http://schemas.openxmlformats.org/drawingml/2006/main">
              <a:ext uri="{FF2B5EF4-FFF2-40B4-BE49-F238E27FC236}">
                <a16:creationId xmlns:a16="http://schemas.microsoft.com/office/drawing/2014/main" id="{A0DBC201-F1BB-4191-AAA8-7B6E4E606355}"/>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A6020B-D1E3-428D-A7AC-25830FDBA484}"/>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Fontes públicas identificadas não são automaticamente variáveis históricas prontas.</a:t>
            </a:r>
          </a:p>
        </p:txBody>
      </p:sp>
      <p:sp>
        <p:nvSpPr>
          <p:cNvPr id="7" name="">
            <a:extLst xmlns:a="http://schemas.openxmlformats.org/drawingml/2006/main">
              <a:ext uri="{FF2B5EF4-FFF2-40B4-BE49-F238E27FC236}">
                <a16:creationId xmlns:a16="http://schemas.microsoft.com/office/drawing/2014/main" id="{E6572E12-5F0E-4595-9845-0B5EF852B49E}"/>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14</a:t>
            </a:r>
          </a:p>
        </p:txBody>
      </p:sp>
    </p:spTree>
    <p:extLst>
      <p:ext uri="{BB962C8B-B14F-4D97-AF65-F5344CB8AC3E}">
        <p14:creationId xmlns:p14="http://schemas.microsoft.com/office/powerpoint/2010/main" val="95984171"/>
      </p:ext>
    </p:extLst>
  </p:cSld>
</p:sld>
</file>

<file path=ppt/slides/slide15.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557EC1D-55F0-466C-BCD3-0380308AAAB3}"/>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PLANO DE TRABALHO ORIGINAL</a:t>
            </a:r>
          </a:p>
        </p:txBody>
      </p:sp>
      <p:sp>
        <p:nvSpPr>
          <p:cNvPr id="2" name="">
            <a:extLst xmlns:a="http://schemas.openxmlformats.org/drawingml/2006/main">
              <a:ext uri="{FF2B5EF4-FFF2-40B4-BE49-F238E27FC236}">
                <a16:creationId xmlns:a16="http://schemas.microsoft.com/office/drawing/2014/main" id="{06B55DDE-3D33-4C52-8368-9F49787ECEEE}"/>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Cronograma previsto no projeto · 1/2</a:t>
            </a:r>
          </a:p>
        </p:txBody>
      </p:sp>
      <p:sp>
        <p:nvSpPr>
          <p:cNvPr id="3" name="">
            <a:extLst xmlns:a="http://schemas.openxmlformats.org/drawingml/2006/main">
              <a:ext uri="{FF2B5EF4-FFF2-40B4-BE49-F238E27FC236}">
                <a16:creationId xmlns:a16="http://schemas.microsoft.com/office/drawing/2014/main" id="{ED50500E-30CB-4186-9175-20F8D4FDD651}"/>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Outubro de 2026 a setembro de 2027 · Quadro 8</a:t>
            </a:r>
          </a:p>
        </p:txBody>
      </p:sp>
      <p:graphicFrame>
        <p:nvGraphicFramePr>
          <p:cNvPr id="4" name="">
            <a:extLst xmlns:a="http://schemas.openxmlformats.org/drawingml/2006/main">
              <a:ext uri="{FF2B5EF4-FFF2-40B4-BE49-F238E27FC236}">
                <a16:creationId xmlns:a16="http://schemas.microsoft.com/office/drawing/2014/main" id="{9D6FE00F-7196-42EE-B7D9-B8287C63A0F0}"/>
              </a:ext>
            </a:extLst>
          </p:cNvPr>
          <p:cNvGraphicFramePr/>
          <p:nvPr/>
        </p:nvGraphicFramePr>
        <p:xfrm>
          <a:off xmlns:a="http://schemas.openxmlformats.org/drawingml/2006/main" x="647700" y="2362200"/>
          <a:ext xmlns:a="http://schemas.openxmlformats.org/drawingml/2006/main" cx="10896600" cy="3276600"/>
        </p:xfrm>
        <a:graphic xmlns:a="http://schemas.openxmlformats.org/drawingml/2006/main">
          <a:graphicData uri="http://schemas.openxmlformats.org/drawingml/2006/table">
            <a:tbl>
              <a:tblPr/>
              <a:tblGrid>
                <a:gridCol w="4572000"/>
                <a:gridCol w="495300"/>
                <a:gridCol w="495300"/>
                <a:gridCol w="495300"/>
                <a:gridCol w="495300"/>
                <a:gridCol w="495300"/>
                <a:gridCol w="495300"/>
                <a:gridCol w="495300"/>
                <a:gridCol w="495300"/>
                <a:gridCol w="495300"/>
                <a:gridCol w="495300"/>
                <a:gridCol w="495300"/>
                <a:gridCol w="495300"/>
              </a:tblGrid>
              <a:tr h="409575">
                <a:tc>
                  <a:txBody>
                    <a:bodyPr lIns="47625" tIns="47625" rIns="47625" bIns="47625"/>
                    <a:lstStyle/>
                    <a:p>
                      <a:r>
                        <a:rPr sz="1200" b="1">
                          <a:solidFill>
                            <a:srgbClr val="A33B32"/>
                          </a:solidFill>
                          <a:latin typeface="Arial"/>
                          <a:ea typeface="Arial"/>
                          <a:cs typeface="Arial"/>
                        </a:rPr>
                        <a:t>Atividade · 2026 → 2027</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Out</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Nov</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Dez</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Jan</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Fev</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Mar</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Abr</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Mai</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Jun</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Jul</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Ago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Set</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Auditoria e consolidação da base de dados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Revisão final do projeto e envio à banca</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Qualificação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Ajustes pós-qualificação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1 – Diagnóstico informacional</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Etapas 2 e 3 – Sinistros esperados e distribuição da visibilidade (P1)</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4 – Gradiente de gravidade (P2)</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bl>
          </a:graphicData>
        </a:graphic>
      </p:graphicFrame>
      <p:sp>
        <p:nvSpPr>
          <p:cNvPr id="5" name="">
            <a:extLst xmlns:a="http://schemas.openxmlformats.org/drawingml/2006/main">
              <a:ext uri="{FF2B5EF4-FFF2-40B4-BE49-F238E27FC236}">
                <a16:creationId xmlns:a16="http://schemas.microsoft.com/office/drawing/2014/main" id="{DC9EEBED-7FCC-4F97-8583-A1677751DE09}"/>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3FB82B-3EF3-4EF4-9782-91B6729F5E78}"/>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Agenda informada: qualificação em 27/out/2026. O Quadro 8 marca nov–dez; harmonizar essa divergência com a autora.</a:t>
            </a:r>
          </a:p>
        </p:txBody>
      </p:sp>
      <p:sp>
        <p:nvSpPr>
          <p:cNvPr id="7" name="">
            <a:extLst xmlns:a="http://schemas.openxmlformats.org/drawingml/2006/main">
              <a:ext uri="{FF2B5EF4-FFF2-40B4-BE49-F238E27FC236}">
                <a16:creationId xmlns:a16="http://schemas.microsoft.com/office/drawing/2014/main" id="{AFD80C37-F0EA-4190-AE3E-B665539FBF42}"/>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15</a:t>
            </a:r>
          </a:p>
        </p:txBody>
      </p:sp>
    </p:spTree>
    <p:extLst>
      <p:ext uri="{BB962C8B-B14F-4D97-AF65-F5344CB8AC3E}">
        <p14:creationId xmlns:p14="http://schemas.microsoft.com/office/powerpoint/2010/main" val="2140206181"/>
      </p:ext>
    </p:extLst>
  </p:cSld>
</p:sld>
</file>

<file path=ppt/slides/slide16.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0267A0-E750-4A1F-9BC2-0B646C92840C}"/>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PLANO DE TRABALHO ORIGINAL</a:t>
            </a:r>
          </a:p>
        </p:txBody>
      </p:sp>
      <p:sp>
        <p:nvSpPr>
          <p:cNvPr id="2" name="">
            <a:extLst xmlns:a="http://schemas.openxmlformats.org/drawingml/2006/main">
              <a:ext uri="{FF2B5EF4-FFF2-40B4-BE49-F238E27FC236}">
                <a16:creationId xmlns:a16="http://schemas.microsoft.com/office/drawing/2014/main" id="{3E1CDC5C-E5AA-4B30-BCD8-64CB38574D7A}"/>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Cronograma previsto no projeto · 2/2</a:t>
            </a:r>
          </a:p>
        </p:txBody>
      </p:sp>
      <p:sp>
        <p:nvSpPr>
          <p:cNvPr id="3" name="">
            <a:extLst xmlns:a="http://schemas.openxmlformats.org/drawingml/2006/main">
              <a:ext uri="{FF2B5EF4-FFF2-40B4-BE49-F238E27FC236}">
                <a16:creationId xmlns:a16="http://schemas.microsoft.com/office/drawing/2014/main" id="{D1403778-4B82-4D5A-A007-E08D9DB73A93}"/>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Outubro de 2026 a setembro de 2027 · Quadro 8</a:t>
            </a:r>
          </a:p>
        </p:txBody>
      </p:sp>
      <p:graphicFrame>
        <p:nvGraphicFramePr>
          <p:cNvPr id="4" name="">
            <a:extLst xmlns:a="http://schemas.openxmlformats.org/drawingml/2006/main">
              <a:ext uri="{FF2B5EF4-FFF2-40B4-BE49-F238E27FC236}">
                <a16:creationId xmlns:a16="http://schemas.microsoft.com/office/drawing/2014/main" id="{97879C06-8412-4AA9-B4A9-B23FDDDA0C26}"/>
              </a:ext>
            </a:extLst>
          </p:cNvPr>
          <p:cNvGraphicFramePr/>
          <p:nvPr/>
        </p:nvGraphicFramePr>
        <p:xfrm>
          <a:off xmlns:a="http://schemas.openxmlformats.org/drawingml/2006/main" x="647700" y="2362200"/>
          <a:ext xmlns:a="http://schemas.openxmlformats.org/drawingml/2006/main" cx="10896600" cy="3276600"/>
        </p:xfrm>
        <a:graphic xmlns:a="http://schemas.openxmlformats.org/drawingml/2006/main">
          <a:graphicData uri="http://schemas.openxmlformats.org/drawingml/2006/table">
            <a:tbl>
              <a:tblPr/>
              <a:tblGrid>
                <a:gridCol w="4572000"/>
                <a:gridCol w="495300"/>
                <a:gridCol w="495300"/>
                <a:gridCol w="495300"/>
                <a:gridCol w="495300"/>
                <a:gridCol w="495300"/>
                <a:gridCol w="495300"/>
                <a:gridCol w="495300"/>
                <a:gridCol w="495300"/>
                <a:gridCol w="495300"/>
                <a:gridCol w="495300"/>
                <a:gridCol w="495300"/>
                <a:gridCol w="495300"/>
              </a:tblGrid>
              <a:tr h="409575">
                <a:tc>
                  <a:txBody>
                    <a:bodyPr lIns="47625" tIns="47625" rIns="47625" bIns="47625"/>
                    <a:lstStyle/>
                    <a:p>
                      <a:r>
                        <a:rPr sz="1200" b="1">
                          <a:solidFill>
                            <a:srgbClr val="A33B32"/>
                          </a:solidFill>
                          <a:latin typeface="Arial"/>
                          <a:ea typeface="Arial"/>
                          <a:cs typeface="Arial"/>
                        </a:rPr>
                        <a:t>Atividade · 2026 → 2027</a:t>
                      </a:r>
                    </a:p>
                  </a:txBody>
                  <a:tcPr marL="91440" marR="91440" marT="45720" marB="45720">
                    <a:lnL w="4763">
                      <a:solidFill>
                        <a:srgbClr val="D4C5B7"/>
                      </a:solidFill>
                      <a:prstDash val="solid"/>
                    </a:lnL>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Out</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Nov</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Dez</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Jan</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Fev</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Mar</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Abr</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Mai</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Jun</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Jul</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Ago</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c>
                  <a:txBody>
                    <a:bodyPr lIns="47625" tIns="47625" rIns="47625" bIns="47625"/>
                    <a:lstStyle/>
                    <a:p>
                      <a:r>
                        <a:rPr sz="1200" b="1">
                          <a:solidFill>
                            <a:srgbClr val="A33B32"/>
                          </a:solidFill>
                          <a:latin typeface="Arial"/>
                          <a:ea typeface="Arial"/>
                          <a:cs typeface="Arial"/>
                        </a:rPr>
                        <a:t>Set</a:t>
                      </a:r>
                    </a:p>
                  </a:txBody>
                  <a:tcPr marL="91440" marR="91440" marT="45720" marB="45720">
                    <a:lnR w="4763">
                      <a:solidFill>
                        <a:srgbClr val="D4C5B7"/>
                      </a:solidFill>
                      <a:prstDash val="solid"/>
                    </a:lnR>
                    <a:lnT w="4763">
                      <a:solidFill>
                        <a:srgbClr val="D4C5B7"/>
                      </a:solidFill>
                      <a:prstDash val="solid"/>
                    </a:lnT>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5 – Perdas não registradas e anomalias (P3)</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6 – Análise documental do ciclo PDCA e pedidos via LAI (P4)</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7 – Persistência do risco e resposta registrada (P4)</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Etapa 8 – Modelo de governança observável e validação</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Redação da tese</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Elaboração de artigos derivados</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r>
              <a:tr h="409575">
                <a:tc>
                  <a:txBody>
                    <a:bodyPr lIns="47625" tIns="47625" rIns="47625" bIns="47625"/>
                    <a:lstStyle/>
                    <a:p>
                      <a:r>
                        <a:rPr sz="1200" b="0">
                          <a:solidFill>
                            <a:srgbClr val="302B29"/>
                          </a:solidFill>
                          <a:latin typeface="Arial"/>
                          <a:ea typeface="Arial"/>
                          <a:cs typeface="Arial"/>
                        </a:rPr>
                        <a:t>Revisão final, depósito e defesa</a:t>
                      </a:r>
                    </a:p>
                  </a:txBody>
                  <a:tcPr marL="91440" marR="91440" marT="45720" marB="45720">
                    <a:lnL w="4763">
                      <a:solidFill>
                        <a:srgbClr val="D4C5B7"/>
                      </a:solidFill>
                      <a:prstDash val="solid"/>
                    </a:lnL>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0">
                          <a:solidFill>
                            <a:srgbClr val="302B29"/>
                          </a:solidFill>
                          <a:latin typeface="Arial"/>
                          <a:ea typeface="Arial"/>
                          <a:cs typeface="Arial"/>
                        </a:rPr>
                        <a:t/>
                      </a:r>
                    </a:p>
                  </a:txBody>
                  <a:tcPr marL="91440" marR="91440" marT="45720" marB="45720">
                    <a:lnR w="4763">
                      <a:solidFill>
                        <a:srgbClr val="D4C5B7"/>
                      </a:solidFill>
                      <a:prstDash val="solid"/>
                    </a:lnR>
                    <a:lnB w="4763">
                      <a:solidFill>
                        <a:srgbClr val="D4C5B7"/>
                      </a:solidFill>
                      <a:prstDash val="solid"/>
                    </a:lnB>
                    <a:solidFill>
                      <a:srgbClr val="F6F2EC"/>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c>
                  <a:txBody>
                    <a:bodyPr lIns="47625" tIns="47625" rIns="47625" bIns="47625"/>
                    <a:lstStyle/>
                    <a:p>
                      <a:r>
                        <a:rPr sz="1200" b="1">
                          <a:solidFill>
                            <a:srgbClr val="FFFFFF"/>
                          </a:solidFill>
                          <a:latin typeface="Arial"/>
                          <a:ea typeface="Arial"/>
                          <a:cs typeface="Arial"/>
                        </a:rPr>
                        <a:t>●</a:t>
                      </a:r>
                    </a:p>
                  </a:txBody>
                  <a:tcPr marL="91440" marR="91440" marT="45720" marB="45720">
                    <a:lnR w="4763">
                      <a:solidFill>
                        <a:srgbClr val="D4C5B7"/>
                      </a:solidFill>
                      <a:prstDash val="solid"/>
                    </a:lnR>
                    <a:lnB w="4763">
                      <a:solidFill>
                        <a:srgbClr val="D4C5B7"/>
                      </a:solidFill>
                      <a:prstDash val="solid"/>
                    </a:lnB>
                    <a:solidFill>
                      <a:srgbClr val="A33B32"/>
                    </a:solidFill>
                  </a:tcPr>
                </a:tc>
              </a:tr>
            </a:tbl>
          </a:graphicData>
        </a:graphic>
      </p:graphicFrame>
      <p:sp>
        <p:nvSpPr>
          <p:cNvPr id="5" name="">
            <a:extLst xmlns:a="http://schemas.openxmlformats.org/drawingml/2006/main">
              <a:ext uri="{FF2B5EF4-FFF2-40B4-BE49-F238E27FC236}">
                <a16:creationId xmlns:a16="http://schemas.microsoft.com/office/drawing/2014/main" id="{25615933-57A8-44F4-B624-4A1502A57572}"/>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72EDB8-4AFD-43D4-BACD-F8CED0EF0AEC}"/>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Agenda informada: qualificação em 27/out/2026. O Quadro 8 marca nov–dez; harmonizar essa divergência com a autora.</a:t>
            </a:r>
          </a:p>
        </p:txBody>
      </p:sp>
      <p:sp>
        <p:nvSpPr>
          <p:cNvPr id="7" name="">
            <a:extLst xmlns:a="http://schemas.openxmlformats.org/drawingml/2006/main">
              <a:ext uri="{FF2B5EF4-FFF2-40B4-BE49-F238E27FC236}">
                <a16:creationId xmlns:a16="http://schemas.microsoft.com/office/drawing/2014/main" id="{40924AD5-A169-4881-AE2A-EE8927CD50B7}"/>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16</a:t>
            </a:r>
          </a:p>
        </p:txBody>
      </p:sp>
    </p:spTree>
    <p:extLst>
      <p:ext uri="{BB962C8B-B14F-4D97-AF65-F5344CB8AC3E}">
        <p14:creationId xmlns:p14="http://schemas.microsoft.com/office/powerpoint/2010/main" val="1702231094"/>
      </p:ext>
    </p:extLst>
  </p:cSld>
</p:sld>
</file>

<file path=ppt/slides/slide17.xml><?xml version="1.0" encoding="utf-8"?>
<p:sld xmlns:p="http://schemas.openxmlformats.org/presentationml/2006/main">
  <p:cSld>
    <p:bg>
      <p:bgPr>
        <a:solidFill xmlns:a="http://schemas.openxmlformats.org/drawingml/2006/main">
          <a:srgbClr val="F6F2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F5D8084-F400-493B-9A39-1C7BBC3DB1F4}"/>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A33B32"/>
                </a:solidFill>
                <a:latin typeface="Arial"/>
                <a:ea typeface="Arial"/>
                <a:cs typeface="Arial"/>
              </a:defRPr>
            </a:defPPr>
            <a:lvl1pPr>
              <a:defRPr sz="1050" b="1">
                <a:solidFill>
                  <a:srgbClr val="A33B32"/>
                </a:solidFill>
                <a:latin typeface="Arial"/>
                <a:ea typeface="Arial"/>
                <a:cs typeface="Arial"/>
              </a:defRPr>
            </a:lvl1pPr>
            <a:lvl2pPr>
              <a:defRPr sz="1050" b="1">
                <a:solidFill>
                  <a:srgbClr val="A33B32"/>
                </a:solidFill>
                <a:latin typeface="Arial"/>
                <a:ea typeface="Arial"/>
                <a:cs typeface="Arial"/>
              </a:defRPr>
            </a:lvl2pPr>
            <a:lvl3pPr>
              <a:defRPr sz="1050" b="1">
                <a:solidFill>
                  <a:srgbClr val="A33B32"/>
                </a:solidFill>
                <a:latin typeface="Arial"/>
                <a:ea typeface="Arial"/>
                <a:cs typeface="Arial"/>
              </a:defRPr>
            </a:lvl3pPr>
            <a:lvl4pPr>
              <a:defRPr sz="1050" b="1">
                <a:solidFill>
                  <a:srgbClr val="A33B32"/>
                </a:solidFill>
                <a:latin typeface="Arial"/>
                <a:ea typeface="Arial"/>
                <a:cs typeface="Arial"/>
              </a:defRPr>
            </a:lvl4pPr>
            <a:lvl5pPr>
              <a:defRPr sz="1050" b="1">
                <a:solidFill>
                  <a:srgbClr val="A33B32"/>
                </a:solidFill>
                <a:latin typeface="Arial"/>
                <a:ea typeface="Arial"/>
                <a:cs typeface="Arial"/>
              </a:defRPr>
            </a:lvl5pPr>
            <a:lvl6pPr>
              <a:defRPr sz="1050" b="1">
                <a:solidFill>
                  <a:srgbClr val="A33B32"/>
                </a:solidFill>
                <a:latin typeface="Arial"/>
                <a:ea typeface="Arial"/>
                <a:cs typeface="Arial"/>
              </a:defRPr>
            </a:lvl6pPr>
            <a:lvl7pPr>
              <a:defRPr sz="1050" b="1">
                <a:solidFill>
                  <a:srgbClr val="A33B32"/>
                </a:solidFill>
                <a:latin typeface="Arial"/>
                <a:ea typeface="Arial"/>
                <a:cs typeface="Arial"/>
              </a:defRPr>
            </a:lvl7pPr>
            <a:lvl8pPr>
              <a:defRPr sz="1050" b="1">
                <a:solidFill>
                  <a:srgbClr val="A33B32"/>
                </a:solidFill>
                <a:latin typeface="Arial"/>
                <a:ea typeface="Arial"/>
                <a:cs typeface="Arial"/>
              </a:defRPr>
            </a:lvl8pPr>
            <a:lvl9pPr>
              <a:defRPr sz="1050" b="1">
                <a:solidFill>
                  <a:srgbClr val="A33B32"/>
                </a:solidFill>
                <a:latin typeface="Arial"/>
                <a:ea typeface="Arial"/>
                <a:cs typeface="Arial"/>
              </a:defRPr>
            </a:lvl9pPr>
          </a:lstStyle>
          <a:p xmlns:a="http://schemas.openxmlformats.org/drawingml/2006/main">
            <a:pPr>
              <a:defRPr sz="1050" b="1">
                <a:solidFill>
                  <a:srgbClr val="A33B32"/>
                </a:solidFill>
                <a:latin typeface="Arial"/>
                <a:ea typeface="Arial"/>
                <a:cs typeface="Arial"/>
              </a:defRPr>
            </a:pPr>
            <a:r>
              <a:rPr sz="1050" b="1">
                <a:solidFill>
                  <a:srgbClr val="A33B32"/>
                </a:solidFill>
                <a:latin typeface="Arial"/>
                <a:ea typeface="Arial"/>
                <a:cs typeface="Arial"/>
              </a:rPr>
              <a:t>CONTRIBUIÇÃO E PRÓXIMA DECISÃO</a:t>
            </a:r>
          </a:p>
        </p:txBody>
      </p:sp>
      <p:sp>
        <p:nvSpPr>
          <p:cNvPr id="2" name="">
            <a:extLst xmlns:a="http://schemas.openxmlformats.org/drawingml/2006/main">
              <a:ext uri="{FF2B5EF4-FFF2-40B4-BE49-F238E27FC236}">
                <a16:creationId xmlns:a16="http://schemas.microsoft.com/office/drawing/2014/main" id="{6DBE2627-D9A6-4427-BF11-27E47AFCD4C7}"/>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302B29"/>
                </a:solidFill>
                <a:latin typeface="Arial"/>
                <a:ea typeface="Arial"/>
                <a:cs typeface="Arial"/>
              </a:defRPr>
            </a:defPPr>
            <a:lvl1pPr>
              <a:defRPr sz="3375" b="1">
                <a:solidFill>
                  <a:srgbClr val="302B29"/>
                </a:solidFill>
                <a:latin typeface="Arial"/>
                <a:ea typeface="Arial"/>
                <a:cs typeface="Arial"/>
              </a:defRPr>
            </a:lvl1pPr>
            <a:lvl2pPr>
              <a:defRPr sz="3375" b="1">
                <a:solidFill>
                  <a:srgbClr val="302B29"/>
                </a:solidFill>
                <a:latin typeface="Arial"/>
                <a:ea typeface="Arial"/>
                <a:cs typeface="Arial"/>
              </a:defRPr>
            </a:lvl2pPr>
            <a:lvl3pPr>
              <a:defRPr sz="3375" b="1">
                <a:solidFill>
                  <a:srgbClr val="302B29"/>
                </a:solidFill>
                <a:latin typeface="Arial"/>
                <a:ea typeface="Arial"/>
                <a:cs typeface="Arial"/>
              </a:defRPr>
            </a:lvl3pPr>
            <a:lvl4pPr>
              <a:defRPr sz="3375" b="1">
                <a:solidFill>
                  <a:srgbClr val="302B29"/>
                </a:solidFill>
                <a:latin typeface="Arial"/>
                <a:ea typeface="Arial"/>
                <a:cs typeface="Arial"/>
              </a:defRPr>
            </a:lvl4pPr>
            <a:lvl5pPr>
              <a:defRPr sz="3375" b="1">
                <a:solidFill>
                  <a:srgbClr val="302B29"/>
                </a:solidFill>
                <a:latin typeface="Arial"/>
                <a:ea typeface="Arial"/>
                <a:cs typeface="Arial"/>
              </a:defRPr>
            </a:lvl5pPr>
            <a:lvl6pPr>
              <a:defRPr sz="3375" b="1">
                <a:solidFill>
                  <a:srgbClr val="302B29"/>
                </a:solidFill>
                <a:latin typeface="Arial"/>
                <a:ea typeface="Arial"/>
                <a:cs typeface="Arial"/>
              </a:defRPr>
            </a:lvl6pPr>
            <a:lvl7pPr>
              <a:defRPr sz="3375" b="1">
                <a:solidFill>
                  <a:srgbClr val="302B29"/>
                </a:solidFill>
                <a:latin typeface="Arial"/>
                <a:ea typeface="Arial"/>
                <a:cs typeface="Arial"/>
              </a:defRPr>
            </a:lvl7pPr>
            <a:lvl8pPr>
              <a:defRPr sz="3375" b="1">
                <a:solidFill>
                  <a:srgbClr val="302B29"/>
                </a:solidFill>
                <a:latin typeface="Arial"/>
                <a:ea typeface="Arial"/>
                <a:cs typeface="Arial"/>
              </a:defRPr>
            </a:lvl8pPr>
            <a:lvl9pPr>
              <a:defRPr sz="3375" b="1">
                <a:solidFill>
                  <a:srgbClr val="302B29"/>
                </a:solidFill>
                <a:latin typeface="Arial"/>
                <a:ea typeface="Arial"/>
                <a:cs typeface="Arial"/>
              </a:defRPr>
            </a:lvl9pPr>
          </a:lstStyle>
          <a:p xmlns:a="http://schemas.openxmlformats.org/drawingml/2006/main">
            <a:pPr>
              <a:defRPr sz="3375" b="1">
                <a:solidFill>
                  <a:srgbClr val="302B29"/>
                </a:solidFill>
                <a:latin typeface="Arial"/>
                <a:ea typeface="Arial"/>
                <a:cs typeface="Arial"/>
              </a:defRPr>
            </a:pPr>
            <a:r>
              <a:rPr sz="3375" b="1">
                <a:solidFill>
                  <a:srgbClr val="302B29"/>
                </a:solidFill>
                <a:latin typeface="Arial"/>
                <a:ea typeface="Arial"/>
                <a:cs typeface="Arial"/>
              </a:rPr>
              <a:t>O avanço teórico depende de demonstrar a ligação entre informação e ação</a:t>
            </a:r>
          </a:p>
        </p:txBody>
      </p:sp>
      <p:sp>
        <p:nvSpPr>
          <p:cNvPr id="3" name="">
            <a:extLst xmlns:a="http://schemas.openxmlformats.org/drawingml/2006/main">
              <a:ext uri="{FF2B5EF4-FFF2-40B4-BE49-F238E27FC236}">
                <a16:creationId xmlns:a16="http://schemas.microsoft.com/office/drawing/2014/main" id="{69528DFC-1A71-4241-92A4-3D2AAD1BDE47}"/>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5665C"/>
                </a:solidFill>
                <a:latin typeface="Arial"/>
                <a:ea typeface="Arial"/>
                <a:cs typeface="Arial"/>
              </a:defRPr>
            </a:defPPr>
            <a:lvl1pPr>
              <a:defRPr sz="1650" b="0">
                <a:solidFill>
                  <a:srgbClr val="75665C"/>
                </a:solidFill>
                <a:latin typeface="Arial"/>
                <a:ea typeface="Arial"/>
                <a:cs typeface="Arial"/>
              </a:defRPr>
            </a:lvl1pPr>
            <a:lvl2pPr>
              <a:defRPr sz="1650" b="0">
                <a:solidFill>
                  <a:srgbClr val="75665C"/>
                </a:solidFill>
                <a:latin typeface="Arial"/>
                <a:ea typeface="Arial"/>
                <a:cs typeface="Arial"/>
              </a:defRPr>
            </a:lvl2pPr>
            <a:lvl3pPr>
              <a:defRPr sz="1650" b="0">
                <a:solidFill>
                  <a:srgbClr val="75665C"/>
                </a:solidFill>
                <a:latin typeface="Arial"/>
                <a:ea typeface="Arial"/>
                <a:cs typeface="Arial"/>
              </a:defRPr>
            </a:lvl3pPr>
            <a:lvl4pPr>
              <a:defRPr sz="1650" b="0">
                <a:solidFill>
                  <a:srgbClr val="75665C"/>
                </a:solidFill>
                <a:latin typeface="Arial"/>
                <a:ea typeface="Arial"/>
                <a:cs typeface="Arial"/>
              </a:defRPr>
            </a:lvl4pPr>
            <a:lvl5pPr>
              <a:defRPr sz="1650" b="0">
                <a:solidFill>
                  <a:srgbClr val="75665C"/>
                </a:solidFill>
                <a:latin typeface="Arial"/>
                <a:ea typeface="Arial"/>
                <a:cs typeface="Arial"/>
              </a:defRPr>
            </a:lvl5pPr>
            <a:lvl6pPr>
              <a:defRPr sz="1650" b="0">
                <a:solidFill>
                  <a:srgbClr val="75665C"/>
                </a:solidFill>
                <a:latin typeface="Arial"/>
                <a:ea typeface="Arial"/>
                <a:cs typeface="Arial"/>
              </a:defRPr>
            </a:lvl6pPr>
            <a:lvl7pPr>
              <a:defRPr sz="1650" b="0">
                <a:solidFill>
                  <a:srgbClr val="75665C"/>
                </a:solidFill>
                <a:latin typeface="Arial"/>
                <a:ea typeface="Arial"/>
                <a:cs typeface="Arial"/>
              </a:defRPr>
            </a:lvl7pPr>
            <a:lvl8pPr>
              <a:defRPr sz="1650" b="0">
                <a:solidFill>
                  <a:srgbClr val="75665C"/>
                </a:solidFill>
                <a:latin typeface="Arial"/>
                <a:ea typeface="Arial"/>
                <a:cs typeface="Arial"/>
              </a:defRPr>
            </a:lvl8pPr>
            <a:lvl9pPr>
              <a:defRPr sz="1650" b="0">
                <a:solidFill>
                  <a:srgbClr val="75665C"/>
                </a:solidFill>
                <a:latin typeface="Arial"/>
                <a:ea typeface="Arial"/>
                <a:cs typeface="Arial"/>
              </a:defRPr>
            </a:lvl9pPr>
          </a:lstStyle>
          <a:p xmlns:a="http://schemas.openxmlformats.org/drawingml/2006/main">
            <a:pPr>
              <a:defRPr sz="1650" b="0">
                <a:solidFill>
                  <a:srgbClr val="75665C"/>
                </a:solidFill>
                <a:latin typeface="Arial"/>
                <a:ea typeface="Arial"/>
                <a:cs typeface="Arial"/>
              </a:defRPr>
            </a:pPr>
            <a:r>
              <a:rPr sz="1650" b="0">
                <a:solidFill>
                  <a:srgbClr val="75665C"/>
                </a:solidFill>
                <a:latin typeface="Arial"/>
                <a:ea typeface="Arial"/>
                <a:cs typeface="Arial"/>
              </a:rPr>
              <a:t>O laboratório prepara o teste; o mecanismo institucional continua sendo a contribuição a construir</a:t>
            </a:r>
          </a:p>
        </p:txBody>
      </p:sp>
      <p:sp>
        <p:nvSpPr>
          <p:cNvPr id="4" name="">
            <a:extLst xmlns:a="http://schemas.openxmlformats.org/drawingml/2006/main">
              <a:ext uri="{FF2B5EF4-FFF2-40B4-BE49-F238E27FC236}">
                <a16:creationId xmlns:a16="http://schemas.microsoft.com/office/drawing/2014/main" id="{41A1700A-9FF3-4AB5-B221-392B2CA53E5F}"/>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O que a análise acrescenta</a:t>
            </a:r>
          </a:p>
        </p:txBody>
      </p:sp>
      <p:sp>
        <p:nvSpPr>
          <p:cNvPr id="5" name="">
            <a:extLst xmlns:a="http://schemas.openxmlformats.org/drawingml/2006/main">
              <a:ext uri="{FF2B5EF4-FFF2-40B4-BE49-F238E27FC236}">
                <a16:creationId xmlns:a16="http://schemas.microsoft.com/office/drawing/2014/main" id="{50417B8B-FA9D-4CE7-BFD7-ED206FB5291A}"/>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Comparações auditáveis, exposição explícita e limites empíricos da interpretação.</a:t>
            </a:r>
          </a:p>
        </p:txBody>
      </p:sp>
      <p:sp>
        <p:nvSpPr>
          <p:cNvPr id="6" name="">
            <a:extLst xmlns:a="http://schemas.openxmlformats.org/drawingml/2006/main">
              <a:ext uri="{FF2B5EF4-FFF2-40B4-BE49-F238E27FC236}">
                <a16:creationId xmlns:a16="http://schemas.microsoft.com/office/drawing/2014/main" id="{FD9FDDCC-3127-46BC-A6B2-616D8D414A6C}"/>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B1E1C6C-FC5F-4A7C-A77E-76EC81536B0E}"/>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O teste decisivo</a:t>
            </a:r>
          </a:p>
        </p:txBody>
      </p:sp>
      <p:sp>
        <p:nvSpPr>
          <p:cNvPr id="8" name="">
            <a:extLst xmlns:a="http://schemas.openxmlformats.org/drawingml/2006/main">
              <a:ext uri="{FF2B5EF4-FFF2-40B4-BE49-F238E27FC236}">
                <a16:creationId xmlns:a16="http://schemas.microsoft.com/office/drawing/2014/main" id="{7AB2917D-90F7-4E2F-B34D-6F5D8B67640A}"/>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Reconstruir capacidade de observar e a trajetória dos alertas em episódios comparáveis.</a:t>
            </a:r>
          </a:p>
        </p:txBody>
      </p:sp>
      <p:sp>
        <p:nvSpPr>
          <p:cNvPr id="9" name="">
            <a:extLst xmlns:a="http://schemas.openxmlformats.org/drawingml/2006/main">
              <a:ext uri="{FF2B5EF4-FFF2-40B4-BE49-F238E27FC236}">
                <a16:creationId xmlns:a16="http://schemas.microsoft.com/office/drawing/2014/main" id="{0C0FE3C7-0323-4566-A34A-03D436D62DF8}"/>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166344B-B2F3-430F-AB89-6F3A96077C65}"/>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302B29"/>
                </a:solidFill>
                <a:latin typeface="Arial"/>
                <a:ea typeface="Arial"/>
                <a:cs typeface="Arial"/>
              </a:defRPr>
            </a:defPPr>
            <a:lvl1pPr>
              <a:defRPr sz="2100" b="1">
                <a:solidFill>
                  <a:srgbClr val="302B29"/>
                </a:solidFill>
                <a:latin typeface="Arial"/>
                <a:ea typeface="Arial"/>
                <a:cs typeface="Arial"/>
              </a:defRPr>
            </a:lvl1pPr>
            <a:lvl2pPr>
              <a:defRPr sz="2100" b="1">
                <a:solidFill>
                  <a:srgbClr val="302B29"/>
                </a:solidFill>
                <a:latin typeface="Arial"/>
                <a:ea typeface="Arial"/>
                <a:cs typeface="Arial"/>
              </a:defRPr>
            </a:lvl2pPr>
            <a:lvl3pPr>
              <a:defRPr sz="2100" b="1">
                <a:solidFill>
                  <a:srgbClr val="302B29"/>
                </a:solidFill>
                <a:latin typeface="Arial"/>
                <a:ea typeface="Arial"/>
                <a:cs typeface="Arial"/>
              </a:defRPr>
            </a:lvl3pPr>
            <a:lvl4pPr>
              <a:defRPr sz="2100" b="1">
                <a:solidFill>
                  <a:srgbClr val="302B29"/>
                </a:solidFill>
                <a:latin typeface="Arial"/>
                <a:ea typeface="Arial"/>
                <a:cs typeface="Arial"/>
              </a:defRPr>
            </a:lvl4pPr>
            <a:lvl5pPr>
              <a:defRPr sz="2100" b="1">
                <a:solidFill>
                  <a:srgbClr val="302B29"/>
                </a:solidFill>
                <a:latin typeface="Arial"/>
                <a:ea typeface="Arial"/>
                <a:cs typeface="Arial"/>
              </a:defRPr>
            </a:lvl5pPr>
            <a:lvl6pPr>
              <a:defRPr sz="2100" b="1">
                <a:solidFill>
                  <a:srgbClr val="302B29"/>
                </a:solidFill>
                <a:latin typeface="Arial"/>
                <a:ea typeface="Arial"/>
                <a:cs typeface="Arial"/>
              </a:defRPr>
            </a:lvl6pPr>
            <a:lvl7pPr>
              <a:defRPr sz="2100" b="1">
                <a:solidFill>
                  <a:srgbClr val="302B29"/>
                </a:solidFill>
                <a:latin typeface="Arial"/>
                <a:ea typeface="Arial"/>
                <a:cs typeface="Arial"/>
              </a:defRPr>
            </a:lvl7pPr>
            <a:lvl8pPr>
              <a:defRPr sz="2100" b="1">
                <a:solidFill>
                  <a:srgbClr val="302B29"/>
                </a:solidFill>
                <a:latin typeface="Arial"/>
                <a:ea typeface="Arial"/>
                <a:cs typeface="Arial"/>
              </a:defRPr>
            </a:lvl8pPr>
            <a:lvl9pPr>
              <a:defRPr sz="2100" b="1">
                <a:solidFill>
                  <a:srgbClr val="302B29"/>
                </a:solidFill>
                <a:latin typeface="Arial"/>
                <a:ea typeface="Arial"/>
                <a:cs typeface="Arial"/>
              </a:defRPr>
            </a:lvl9pPr>
          </a:lstStyle>
          <a:p xmlns:a="http://schemas.openxmlformats.org/drawingml/2006/main">
            <a:pPr>
              <a:defRPr sz="2100" b="1">
                <a:solidFill>
                  <a:srgbClr val="302B29"/>
                </a:solidFill>
                <a:latin typeface="Arial"/>
                <a:ea typeface="Arial"/>
                <a:cs typeface="Arial"/>
              </a:defRPr>
            </a:pPr>
            <a:r>
              <a:rPr sz="2100" b="1">
                <a:solidFill>
                  <a:srgbClr val="302B29"/>
                </a:solidFill>
                <a:latin typeface="Arial"/>
                <a:ea typeface="Arial"/>
                <a:cs typeface="Arial"/>
              </a:rPr>
              <a:t>O que fortalece a tese</a:t>
            </a:r>
          </a:p>
        </p:txBody>
      </p:sp>
      <p:sp>
        <p:nvSpPr>
          <p:cNvPr id="11" name="">
            <a:extLst xmlns:a="http://schemas.openxmlformats.org/drawingml/2006/main">
              <a:ext uri="{FF2B5EF4-FFF2-40B4-BE49-F238E27FC236}">
                <a16:creationId xmlns:a16="http://schemas.microsoft.com/office/drawing/2014/main" id="{69C66660-9590-44F1-8AF8-93A898498667}"/>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302B29"/>
                </a:solidFill>
                <a:latin typeface="Arial"/>
                <a:ea typeface="Arial"/>
                <a:cs typeface="Arial"/>
              </a:defRPr>
            </a:defPPr>
            <a:lvl1pPr>
              <a:defRPr sz="1800" b="0">
                <a:solidFill>
                  <a:srgbClr val="302B29"/>
                </a:solidFill>
                <a:latin typeface="Arial"/>
                <a:ea typeface="Arial"/>
                <a:cs typeface="Arial"/>
              </a:defRPr>
            </a:lvl1pPr>
            <a:lvl2pPr>
              <a:defRPr sz="1800" b="0">
                <a:solidFill>
                  <a:srgbClr val="302B29"/>
                </a:solidFill>
                <a:latin typeface="Arial"/>
                <a:ea typeface="Arial"/>
                <a:cs typeface="Arial"/>
              </a:defRPr>
            </a:lvl2pPr>
            <a:lvl3pPr>
              <a:defRPr sz="1800" b="0">
                <a:solidFill>
                  <a:srgbClr val="302B29"/>
                </a:solidFill>
                <a:latin typeface="Arial"/>
                <a:ea typeface="Arial"/>
                <a:cs typeface="Arial"/>
              </a:defRPr>
            </a:lvl3pPr>
            <a:lvl4pPr>
              <a:defRPr sz="1800" b="0">
                <a:solidFill>
                  <a:srgbClr val="302B29"/>
                </a:solidFill>
                <a:latin typeface="Arial"/>
                <a:ea typeface="Arial"/>
                <a:cs typeface="Arial"/>
              </a:defRPr>
            </a:lvl4pPr>
            <a:lvl5pPr>
              <a:defRPr sz="1800" b="0">
                <a:solidFill>
                  <a:srgbClr val="302B29"/>
                </a:solidFill>
                <a:latin typeface="Arial"/>
                <a:ea typeface="Arial"/>
                <a:cs typeface="Arial"/>
              </a:defRPr>
            </a:lvl5pPr>
            <a:lvl6pPr>
              <a:defRPr sz="1800" b="0">
                <a:solidFill>
                  <a:srgbClr val="302B29"/>
                </a:solidFill>
                <a:latin typeface="Arial"/>
                <a:ea typeface="Arial"/>
                <a:cs typeface="Arial"/>
              </a:defRPr>
            </a:lvl6pPr>
            <a:lvl7pPr>
              <a:defRPr sz="1800" b="0">
                <a:solidFill>
                  <a:srgbClr val="302B29"/>
                </a:solidFill>
                <a:latin typeface="Arial"/>
                <a:ea typeface="Arial"/>
                <a:cs typeface="Arial"/>
              </a:defRPr>
            </a:lvl7pPr>
            <a:lvl8pPr>
              <a:defRPr sz="1800" b="0">
                <a:solidFill>
                  <a:srgbClr val="302B29"/>
                </a:solidFill>
                <a:latin typeface="Arial"/>
                <a:ea typeface="Arial"/>
                <a:cs typeface="Arial"/>
              </a:defRPr>
            </a:lvl8pPr>
            <a:lvl9pPr>
              <a:defRPr sz="1800" b="0">
                <a:solidFill>
                  <a:srgbClr val="302B29"/>
                </a:solidFill>
                <a:latin typeface="Arial"/>
                <a:ea typeface="Arial"/>
                <a:cs typeface="Arial"/>
              </a:defRPr>
            </a:lvl9pPr>
          </a:lstStyle>
          <a:p xmlns:a="http://schemas.openxmlformats.org/drawingml/2006/main">
            <a:pPr>
              <a:defRPr sz="1800" b="0">
                <a:solidFill>
                  <a:srgbClr val="302B29"/>
                </a:solidFill>
                <a:latin typeface="Arial"/>
                <a:ea typeface="Arial"/>
                <a:cs typeface="Arial"/>
              </a:defRPr>
            </a:pPr>
            <a:r>
              <a:rPr sz="1800" b="0">
                <a:solidFill>
                  <a:srgbClr val="302B29"/>
                </a:solidFill>
                <a:latin typeface="Arial"/>
                <a:ea typeface="Arial"/>
                <a:cs typeface="Arial"/>
              </a:rPr>
              <a:t>Evidências que distingam mecanismos e incluam casos que contrariem a hipótese.</a:t>
            </a:r>
          </a:p>
        </p:txBody>
      </p:sp>
      <p:sp>
        <p:nvSpPr>
          <p:cNvPr id="12" name="">
            <a:extLst xmlns:a="http://schemas.openxmlformats.org/drawingml/2006/main">
              <a:ext uri="{FF2B5EF4-FFF2-40B4-BE49-F238E27FC236}">
                <a16:creationId xmlns:a16="http://schemas.microsoft.com/office/drawing/2014/main" id="{413020F9-F450-4D04-8438-E0D4E32243AC}"/>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D4C5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F6B9B01-7ED6-4F89-8E5F-BD377B49ED31}"/>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735E50"/>
                </a:solidFill>
                <a:latin typeface="Arial"/>
                <a:ea typeface="Arial"/>
                <a:cs typeface="Arial"/>
              </a:defRPr>
            </a:defPPr>
            <a:lvl1pPr>
              <a:defRPr sz="1200" b="0">
                <a:solidFill>
                  <a:srgbClr val="735E50"/>
                </a:solidFill>
                <a:latin typeface="Arial"/>
                <a:ea typeface="Arial"/>
                <a:cs typeface="Arial"/>
              </a:defRPr>
            </a:lvl1pPr>
            <a:lvl2pPr>
              <a:defRPr sz="1200" b="0">
                <a:solidFill>
                  <a:srgbClr val="735E50"/>
                </a:solidFill>
                <a:latin typeface="Arial"/>
                <a:ea typeface="Arial"/>
                <a:cs typeface="Arial"/>
              </a:defRPr>
            </a:lvl2pPr>
            <a:lvl3pPr>
              <a:defRPr sz="1200" b="0">
                <a:solidFill>
                  <a:srgbClr val="735E50"/>
                </a:solidFill>
                <a:latin typeface="Arial"/>
                <a:ea typeface="Arial"/>
                <a:cs typeface="Arial"/>
              </a:defRPr>
            </a:lvl3pPr>
            <a:lvl4pPr>
              <a:defRPr sz="1200" b="0">
                <a:solidFill>
                  <a:srgbClr val="735E50"/>
                </a:solidFill>
                <a:latin typeface="Arial"/>
                <a:ea typeface="Arial"/>
                <a:cs typeface="Arial"/>
              </a:defRPr>
            </a:lvl4pPr>
            <a:lvl5pPr>
              <a:defRPr sz="1200" b="0">
                <a:solidFill>
                  <a:srgbClr val="735E50"/>
                </a:solidFill>
                <a:latin typeface="Arial"/>
                <a:ea typeface="Arial"/>
                <a:cs typeface="Arial"/>
              </a:defRPr>
            </a:lvl5pPr>
            <a:lvl6pPr>
              <a:defRPr sz="1200" b="0">
                <a:solidFill>
                  <a:srgbClr val="735E50"/>
                </a:solidFill>
                <a:latin typeface="Arial"/>
                <a:ea typeface="Arial"/>
                <a:cs typeface="Arial"/>
              </a:defRPr>
            </a:lvl6pPr>
            <a:lvl7pPr>
              <a:defRPr sz="1200" b="0">
                <a:solidFill>
                  <a:srgbClr val="735E50"/>
                </a:solidFill>
                <a:latin typeface="Arial"/>
                <a:ea typeface="Arial"/>
                <a:cs typeface="Arial"/>
              </a:defRPr>
            </a:lvl7pPr>
            <a:lvl8pPr>
              <a:defRPr sz="1200" b="0">
                <a:solidFill>
                  <a:srgbClr val="735E50"/>
                </a:solidFill>
                <a:latin typeface="Arial"/>
                <a:ea typeface="Arial"/>
                <a:cs typeface="Arial"/>
              </a:defRPr>
            </a:lvl8pPr>
            <a:lvl9pPr>
              <a:defRPr sz="1200" b="0">
                <a:solidFill>
                  <a:srgbClr val="735E50"/>
                </a:solidFill>
                <a:latin typeface="Arial"/>
                <a:ea typeface="Arial"/>
                <a:cs typeface="Arial"/>
              </a:defRPr>
            </a:lvl9pPr>
          </a:lstStyle>
          <a:p xmlns:a="http://schemas.openxmlformats.org/drawingml/2006/main">
            <a:pPr>
              <a:defRPr sz="1200" b="0">
                <a:solidFill>
                  <a:srgbClr val="735E50"/>
                </a:solidFill>
                <a:latin typeface="Arial"/>
                <a:ea typeface="Arial"/>
                <a:cs typeface="Arial"/>
              </a:defRPr>
            </a:pPr>
            <a:r>
              <a:rPr sz="1200" b="0">
                <a:solidFill>
                  <a:srgbClr val="735E50"/>
                </a:solidFill>
                <a:latin typeface="Arial"/>
                <a:ea typeface="Arial"/>
                <a:cs typeface="Arial"/>
              </a:rPr>
              <a:t>Observar melhor e responder melhor são perguntas conectadas, mas empiricamente distintas.</a:t>
            </a:r>
          </a:p>
        </p:txBody>
      </p:sp>
      <p:sp>
        <p:nvSpPr>
          <p:cNvPr id="14" name="">
            <a:extLst xmlns:a="http://schemas.openxmlformats.org/drawingml/2006/main">
              <a:ext uri="{FF2B5EF4-FFF2-40B4-BE49-F238E27FC236}">
                <a16:creationId xmlns:a16="http://schemas.microsoft.com/office/drawing/2014/main" id="{B8767DA9-42A3-4CAD-A0F9-55A691D9AB8F}"/>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17</a:t>
            </a:r>
          </a:p>
        </p:txBody>
      </p:sp>
    </p:spTree>
    <p:extLst>
      <p:ext uri="{BB962C8B-B14F-4D97-AF65-F5344CB8AC3E}">
        <p14:creationId xmlns:p14="http://schemas.microsoft.com/office/powerpoint/2010/main" val="1437154248"/>
      </p:ext>
    </p:extLst>
  </p:cSld>
</p:sld>
</file>

<file path=ppt/slides/slide18.xml><?xml version="1.0" encoding="utf-8"?>
<p:sld xmlns:p="http://schemas.openxmlformats.org/presentationml/2006/main">
  <p:cSld>
    <p:bg>
      <p:bgPr>
        <a:solidFill xmlns:a="http://schemas.openxmlformats.org/drawingml/2006/main">
          <a:srgbClr val="29252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D825362-0EDF-4542-B0C8-959778557D47}"/>
              </a:ext>
            </a:extLst>
          </p:cNvPr>
          <p:cNvSpPr>
            <a:spLocks xmlns:a="http://schemas.openxmlformats.org/drawingml/2006/main" noGrp="1"/>
          </p:cNvSpPr>
          <p:nvPr/>
        </p:nvSpPr>
        <p:spPr>
          <a:xfrm xmlns:a="http://schemas.openxmlformats.org/drawingml/2006/main">
            <a:off x="647700" y="4572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DFB56C"/>
                </a:solidFill>
                <a:latin typeface="Arial"/>
                <a:ea typeface="Arial"/>
                <a:cs typeface="Arial"/>
              </a:defRPr>
            </a:defPPr>
            <a:lvl1pPr>
              <a:defRPr sz="1050" b="1">
                <a:solidFill>
                  <a:srgbClr val="DFB56C"/>
                </a:solidFill>
                <a:latin typeface="Arial"/>
                <a:ea typeface="Arial"/>
                <a:cs typeface="Arial"/>
              </a:defRPr>
            </a:lvl1pPr>
            <a:lvl2pPr>
              <a:defRPr sz="1050" b="1">
                <a:solidFill>
                  <a:srgbClr val="DFB56C"/>
                </a:solidFill>
                <a:latin typeface="Arial"/>
                <a:ea typeface="Arial"/>
                <a:cs typeface="Arial"/>
              </a:defRPr>
            </a:lvl2pPr>
            <a:lvl3pPr>
              <a:defRPr sz="1050" b="1">
                <a:solidFill>
                  <a:srgbClr val="DFB56C"/>
                </a:solidFill>
                <a:latin typeface="Arial"/>
                <a:ea typeface="Arial"/>
                <a:cs typeface="Arial"/>
              </a:defRPr>
            </a:lvl3pPr>
            <a:lvl4pPr>
              <a:defRPr sz="1050" b="1">
                <a:solidFill>
                  <a:srgbClr val="DFB56C"/>
                </a:solidFill>
                <a:latin typeface="Arial"/>
                <a:ea typeface="Arial"/>
                <a:cs typeface="Arial"/>
              </a:defRPr>
            </a:lvl4pPr>
            <a:lvl5pPr>
              <a:defRPr sz="1050" b="1">
                <a:solidFill>
                  <a:srgbClr val="DFB56C"/>
                </a:solidFill>
                <a:latin typeface="Arial"/>
                <a:ea typeface="Arial"/>
                <a:cs typeface="Arial"/>
              </a:defRPr>
            </a:lvl5pPr>
            <a:lvl6pPr>
              <a:defRPr sz="1050" b="1">
                <a:solidFill>
                  <a:srgbClr val="DFB56C"/>
                </a:solidFill>
                <a:latin typeface="Arial"/>
                <a:ea typeface="Arial"/>
                <a:cs typeface="Arial"/>
              </a:defRPr>
            </a:lvl6pPr>
            <a:lvl7pPr>
              <a:defRPr sz="1050" b="1">
                <a:solidFill>
                  <a:srgbClr val="DFB56C"/>
                </a:solidFill>
                <a:latin typeface="Arial"/>
                <a:ea typeface="Arial"/>
                <a:cs typeface="Arial"/>
              </a:defRPr>
            </a:lvl7pPr>
            <a:lvl8pPr>
              <a:defRPr sz="1050" b="1">
                <a:solidFill>
                  <a:srgbClr val="DFB56C"/>
                </a:solidFill>
                <a:latin typeface="Arial"/>
                <a:ea typeface="Arial"/>
                <a:cs typeface="Arial"/>
              </a:defRPr>
            </a:lvl8pPr>
            <a:lvl9pPr>
              <a:defRPr sz="1050" b="1">
                <a:solidFill>
                  <a:srgbClr val="DFB56C"/>
                </a:solidFill>
                <a:latin typeface="Arial"/>
                <a:ea typeface="Arial"/>
                <a:cs typeface="Arial"/>
              </a:defRPr>
            </a:lvl9pPr>
          </a:lstStyle>
          <a:p xmlns:a="http://schemas.openxmlformats.org/drawingml/2006/main">
            <a:pPr>
              <a:defRPr sz="1050" b="1">
                <a:solidFill>
                  <a:srgbClr val="DFB56C"/>
                </a:solidFill>
                <a:latin typeface="Arial"/>
                <a:ea typeface="Arial"/>
                <a:cs typeface="Arial"/>
              </a:defRPr>
            </a:pPr>
            <a:r>
              <a:rPr sz="1050" b="1">
                <a:solidFill>
                  <a:srgbClr val="DFB56C"/>
                </a:solidFill>
                <a:latin typeface="Arial"/>
                <a:ea typeface="Arial"/>
                <a:cs typeface="Arial"/>
              </a:rPr>
              <a:t>DISCUSSÃO COM A BANCA</a:t>
            </a:r>
          </a:p>
        </p:txBody>
      </p:sp>
      <p:sp>
        <p:nvSpPr>
          <p:cNvPr id="2" name="">
            <a:extLst xmlns:a="http://schemas.openxmlformats.org/drawingml/2006/main">
              <a:ext uri="{FF2B5EF4-FFF2-40B4-BE49-F238E27FC236}">
                <a16:creationId xmlns:a16="http://schemas.microsoft.com/office/drawing/2014/main" id="{D2BAC169-88EE-4FE5-86C5-5178FD270006}"/>
              </a:ext>
            </a:extLst>
          </p:cNvPr>
          <p:cNvSpPr>
            <a:spLocks xmlns:a="http://schemas.openxmlformats.org/drawingml/2006/main" noGrp="1"/>
          </p:cNvSpPr>
          <p:nvPr/>
        </p:nvSpPr>
        <p:spPr>
          <a:xfrm xmlns:a="http://schemas.openxmlformats.org/drawingml/2006/main">
            <a:off x="647700" y="952500"/>
            <a:ext cx="108966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F6F2EC"/>
                </a:solidFill>
                <a:latin typeface="Arial"/>
                <a:ea typeface="Arial"/>
                <a:cs typeface="Arial"/>
              </a:defRPr>
            </a:defPPr>
            <a:lvl1pPr>
              <a:defRPr sz="3375" b="1">
                <a:solidFill>
                  <a:srgbClr val="F6F2EC"/>
                </a:solidFill>
                <a:latin typeface="Arial"/>
                <a:ea typeface="Arial"/>
                <a:cs typeface="Arial"/>
              </a:defRPr>
            </a:lvl1pPr>
            <a:lvl2pPr>
              <a:defRPr sz="3375" b="1">
                <a:solidFill>
                  <a:srgbClr val="F6F2EC"/>
                </a:solidFill>
                <a:latin typeface="Arial"/>
                <a:ea typeface="Arial"/>
                <a:cs typeface="Arial"/>
              </a:defRPr>
            </a:lvl2pPr>
            <a:lvl3pPr>
              <a:defRPr sz="3375" b="1">
                <a:solidFill>
                  <a:srgbClr val="F6F2EC"/>
                </a:solidFill>
                <a:latin typeface="Arial"/>
                <a:ea typeface="Arial"/>
                <a:cs typeface="Arial"/>
              </a:defRPr>
            </a:lvl3pPr>
            <a:lvl4pPr>
              <a:defRPr sz="3375" b="1">
                <a:solidFill>
                  <a:srgbClr val="F6F2EC"/>
                </a:solidFill>
                <a:latin typeface="Arial"/>
                <a:ea typeface="Arial"/>
                <a:cs typeface="Arial"/>
              </a:defRPr>
            </a:lvl4pPr>
            <a:lvl5pPr>
              <a:defRPr sz="3375" b="1">
                <a:solidFill>
                  <a:srgbClr val="F6F2EC"/>
                </a:solidFill>
                <a:latin typeface="Arial"/>
                <a:ea typeface="Arial"/>
                <a:cs typeface="Arial"/>
              </a:defRPr>
            </a:lvl5pPr>
            <a:lvl6pPr>
              <a:defRPr sz="3375" b="1">
                <a:solidFill>
                  <a:srgbClr val="F6F2EC"/>
                </a:solidFill>
                <a:latin typeface="Arial"/>
                <a:ea typeface="Arial"/>
                <a:cs typeface="Arial"/>
              </a:defRPr>
            </a:lvl6pPr>
            <a:lvl7pPr>
              <a:defRPr sz="3375" b="1">
                <a:solidFill>
                  <a:srgbClr val="F6F2EC"/>
                </a:solidFill>
                <a:latin typeface="Arial"/>
                <a:ea typeface="Arial"/>
                <a:cs typeface="Arial"/>
              </a:defRPr>
            </a:lvl7pPr>
            <a:lvl8pPr>
              <a:defRPr sz="3375" b="1">
                <a:solidFill>
                  <a:srgbClr val="F6F2EC"/>
                </a:solidFill>
                <a:latin typeface="Arial"/>
                <a:ea typeface="Arial"/>
                <a:cs typeface="Arial"/>
              </a:defRPr>
            </a:lvl8pPr>
            <a:lvl9pPr>
              <a:defRPr sz="3375" b="1">
                <a:solidFill>
                  <a:srgbClr val="F6F2EC"/>
                </a:solidFill>
                <a:latin typeface="Arial"/>
                <a:ea typeface="Arial"/>
                <a:cs typeface="Arial"/>
              </a:defRPr>
            </a:lvl9pPr>
          </a:lstStyle>
          <a:p xmlns:a="http://schemas.openxmlformats.org/drawingml/2006/main">
            <a:pPr>
              <a:defRPr sz="3375" b="1">
                <a:solidFill>
                  <a:srgbClr val="F6F2EC"/>
                </a:solidFill>
                <a:latin typeface="Arial"/>
                <a:ea typeface="Arial"/>
                <a:cs typeface="Arial"/>
              </a:defRPr>
            </a:pPr>
            <a:r>
              <a:rPr sz="3375" b="1">
                <a:solidFill>
                  <a:srgbClr val="F6F2EC"/>
                </a:solidFill>
                <a:latin typeface="Arial"/>
                <a:ea typeface="Arial"/>
                <a:cs typeface="Arial"/>
              </a:rPr>
              <a:t>Conhecer o risco é o começo da explicação</a:t>
            </a:r>
          </a:p>
        </p:txBody>
      </p:sp>
      <p:sp>
        <p:nvSpPr>
          <p:cNvPr id="3" name="">
            <a:extLst xmlns:a="http://schemas.openxmlformats.org/drawingml/2006/main">
              <a:ext uri="{FF2B5EF4-FFF2-40B4-BE49-F238E27FC236}">
                <a16:creationId xmlns:a16="http://schemas.microsoft.com/office/drawing/2014/main" id="{5D82F2AB-0134-4410-80C4-B9FCB330329F}"/>
              </a:ext>
            </a:extLst>
          </p:cNvPr>
          <p:cNvSpPr>
            <a:spLocks xmlns:a="http://schemas.openxmlformats.org/drawingml/2006/main" noGrp="1"/>
          </p:cNvSpPr>
          <p:nvPr/>
        </p:nvSpPr>
        <p:spPr>
          <a:xfrm xmlns:a="http://schemas.openxmlformats.org/drawingml/2006/main">
            <a:off x="647700" y="1981200"/>
            <a:ext cx="10896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DFC6B1"/>
                </a:solidFill>
                <a:latin typeface="Arial"/>
                <a:ea typeface="Arial"/>
                <a:cs typeface="Arial"/>
              </a:defRPr>
            </a:defPPr>
            <a:lvl1pPr>
              <a:defRPr sz="1650" b="0">
                <a:solidFill>
                  <a:srgbClr val="DFC6B1"/>
                </a:solidFill>
                <a:latin typeface="Arial"/>
                <a:ea typeface="Arial"/>
                <a:cs typeface="Arial"/>
              </a:defRPr>
            </a:lvl1pPr>
            <a:lvl2pPr>
              <a:defRPr sz="1650" b="0">
                <a:solidFill>
                  <a:srgbClr val="DFC6B1"/>
                </a:solidFill>
                <a:latin typeface="Arial"/>
                <a:ea typeface="Arial"/>
                <a:cs typeface="Arial"/>
              </a:defRPr>
            </a:lvl2pPr>
            <a:lvl3pPr>
              <a:defRPr sz="1650" b="0">
                <a:solidFill>
                  <a:srgbClr val="DFC6B1"/>
                </a:solidFill>
                <a:latin typeface="Arial"/>
                <a:ea typeface="Arial"/>
                <a:cs typeface="Arial"/>
              </a:defRPr>
            </a:lvl3pPr>
            <a:lvl4pPr>
              <a:defRPr sz="1650" b="0">
                <a:solidFill>
                  <a:srgbClr val="DFC6B1"/>
                </a:solidFill>
                <a:latin typeface="Arial"/>
                <a:ea typeface="Arial"/>
                <a:cs typeface="Arial"/>
              </a:defRPr>
            </a:lvl4pPr>
            <a:lvl5pPr>
              <a:defRPr sz="1650" b="0">
                <a:solidFill>
                  <a:srgbClr val="DFC6B1"/>
                </a:solidFill>
                <a:latin typeface="Arial"/>
                <a:ea typeface="Arial"/>
                <a:cs typeface="Arial"/>
              </a:defRPr>
            </a:lvl5pPr>
            <a:lvl6pPr>
              <a:defRPr sz="1650" b="0">
                <a:solidFill>
                  <a:srgbClr val="DFC6B1"/>
                </a:solidFill>
                <a:latin typeface="Arial"/>
                <a:ea typeface="Arial"/>
                <a:cs typeface="Arial"/>
              </a:defRPr>
            </a:lvl6pPr>
            <a:lvl7pPr>
              <a:defRPr sz="1650" b="0">
                <a:solidFill>
                  <a:srgbClr val="DFC6B1"/>
                </a:solidFill>
                <a:latin typeface="Arial"/>
                <a:ea typeface="Arial"/>
                <a:cs typeface="Arial"/>
              </a:defRPr>
            </a:lvl7pPr>
            <a:lvl8pPr>
              <a:defRPr sz="1650" b="0">
                <a:solidFill>
                  <a:srgbClr val="DFC6B1"/>
                </a:solidFill>
                <a:latin typeface="Arial"/>
                <a:ea typeface="Arial"/>
                <a:cs typeface="Arial"/>
              </a:defRPr>
            </a:lvl8pPr>
            <a:lvl9pPr>
              <a:defRPr sz="1650" b="0">
                <a:solidFill>
                  <a:srgbClr val="DFC6B1"/>
                </a:solidFill>
                <a:latin typeface="Arial"/>
                <a:ea typeface="Arial"/>
                <a:cs typeface="Arial"/>
              </a:defRPr>
            </a:lvl9pPr>
          </a:lstStyle>
          <a:p xmlns:a="http://schemas.openxmlformats.org/drawingml/2006/main">
            <a:pPr>
              <a:defRPr sz="1650" b="0">
                <a:solidFill>
                  <a:srgbClr val="DFC6B1"/>
                </a:solidFill>
                <a:latin typeface="Arial"/>
                <a:ea typeface="Arial"/>
                <a:cs typeface="Arial"/>
              </a:defRPr>
            </a:pPr>
            <a:r>
              <a:rPr sz="1650" b="0">
                <a:solidFill>
                  <a:srgbClr val="DFC6B1"/>
                </a:solidFill>
                <a:latin typeface="Arial"/>
                <a:ea typeface="Arial"/>
                <a:cs typeface="Arial"/>
              </a:rPr>
              <a:t>A tese precisa mostrar como a governança transforma conhecimento em resposta</a:t>
            </a:r>
          </a:p>
        </p:txBody>
      </p:sp>
      <p:sp>
        <p:nvSpPr>
          <p:cNvPr id="4" name="">
            <a:extLst xmlns:a="http://schemas.openxmlformats.org/drawingml/2006/main">
              <a:ext uri="{FF2B5EF4-FFF2-40B4-BE49-F238E27FC236}">
                <a16:creationId xmlns:a16="http://schemas.microsoft.com/office/drawing/2014/main" id="{140D5944-A6AC-4471-8760-22592D6B752F}"/>
              </a:ext>
            </a:extLst>
          </p:cNvPr>
          <p:cNvSpPr>
            <a:spLocks xmlns:a="http://schemas.openxmlformats.org/drawingml/2006/main" noGrp="1"/>
          </p:cNvSpPr>
          <p:nvPr/>
        </p:nvSpPr>
        <p:spPr>
          <a:xfrm xmlns:a="http://schemas.openxmlformats.org/drawingml/2006/main">
            <a:off x="647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Painel e evidências</a:t>
            </a:r>
          </a:p>
        </p:txBody>
      </p:sp>
      <p:sp>
        <p:nvSpPr>
          <p:cNvPr id="5" name="">
            <a:extLst xmlns:a="http://schemas.openxmlformats.org/drawingml/2006/main">
              <a:ext uri="{FF2B5EF4-FFF2-40B4-BE49-F238E27FC236}">
                <a16:creationId xmlns:a16="http://schemas.microsoft.com/office/drawing/2014/main" id="{3D7D61AA-2576-4F1F-96F5-D8120F4BE59E}"/>
              </a:ext>
            </a:extLst>
          </p:cNvPr>
          <p:cNvSpPr>
            <a:spLocks xmlns:a="http://schemas.openxmlformats.org/drawingml/2006/main" noGrp="1"/>
          </p:cNvSpPr>
          <p:nvPr/>
        </p:nvSpPr>
        <p:spPr>
          <a:xfrm xmlns:a="http://schemas.openxmlformats.org/drawingml/2006/main">
            <a:off x="647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F6F2EC"/>
                </a:solidFill>
                <a:latin typeface="Arial"/>
                <a:ea typeface="Arial"/>
                <a:cs typeface="Arial"/>
              </a:defRPr>
            </a:defPPr>
            <a:lvl1pPr>
              <a:defRPr sz="1800" b="0">
                <a:solidFill>
                  <a:srgbClr val="F6F2EC"/>
                </a:solidFill>
                <a:latin typeface="Arial"/>
                <a:ea typeface="Arial"/>
                <a:cs typeface="Arial"/>
              </a:defRPr>
            </a:lvl1pPr>
            <a:lvl2pPr>
              <a:defRPr sz="1800" b="0">
                <a:solidFill>
                  <a:srgbClr val="F6F2EC"/>
                </a:solidFill>
                <a:latin typeface="Arial"/>
                <a:ea typeface="Arial"/>
                <a:cs typeface="Arial"/>
              </a:defRPr>
            </a:lvl2pPr>
            <a:lvl3pPr>
              <a:defRPr sz="1800" b="0">
                <a:solidFill>
                  <a:srgbClr val="F6F2EC"/>
                </a:solidFill>
                <a:latin typeface="Arial"/>
                <a:ea typeface="Arial"/>
                <a:cs typeface="Arial"/>
              </a:defRPr>
            </a:lvl3pPr>
            <a:lvl4pPr>
              <a:defRPr sz="1800" b="0">
                <a:solidFill>
                  <a:srgbClr val="F6F2EC"/>
                </a:solidFill>
                <a:latin typeface="Arial"/>
                <a:ea typeface="Arial"/>
                <a:cs typeface="Arial"/>
              </a:defRPr>
            </a:lvl4pPr>
            <a:lvl5pPr>
              <a:defRPr sz="1800" b="0">
                <a:solidFill>
                  <a:srgbClr val="F6F2EC"/>
                </a:solidFill>
                <a:latin typeface="Arial"/>
                <a:ea typeface="Arial"/>
                <a:cs typeface="Arial"/>
              </a:defRPr>
            </a:lvl5pPr>
            <a:lvl6pPr>
              <a:defRPr sz="1800" b="0">
                <a:solidFill>
                  <a:srgbClr val="F6F2EC"/>
                </a:solidFill>
                <a:latin typeface="Arial"/>
                <a:ea typeface="Arial"/>
                <a:cs typeface="Arial"/>
              </a:defRPr>
            </a:lvl6pPr>
            <a:lvl7pPr>
              <a:defRPr sz="1800" b="0">
                <a:solidFill>
                  <a:srgbClr val="F6F2EC"/>
                </a:solidFill>
                <a:latin typeface="Arial"/>
                <a:ea typeface="Arial"/>
                <a:cs typeface="Arial"/>
              </a:defRPr>
            </a:lvl7pPr>
            <a:lvl8pPr>
              <a:defRPr sz="1800" b="0">
                <a:solidFill>
                  <a:srgbClr val="F6F2EC"/>
                </a:solidFill>
                <a:latin typeface="Arial"/>
                <a:ea typeface="Arial"/>
                <a:cs typeface="Arial"/>
              </a:defRPr>
            </a:lvl8pPr>
            <a:lvl9pPr>
              <a:defRPr sz="1800" b="0">
                <a:solidFill>
                  <a:srgbClr val="F6F2EC"/>
                </a:solidFill>
                <a:latin typeface="Arial"/>
                <a:ea typeface="Arial"/>
                <a:cs typeface="Arial"/>
              </a:defRPr>
            </a:lvl9pPr>
          </a:lstStyle>
          <a:p xmlns:a="http://schemas.openxmlformats.org/drawingml/2006/main">
            <a:pPr>
              <a:defRPr sz="1800" b="0">
                <a:solidFill>
                  <a:srgbClr val="F6F2EC"/>
                </a:solidFill>
                <a:latin typeface="Arial"/>
                <a:ea typeface="Arial"/>
                <a:cs typeface="Arial"/>
              </a:defRPr>
            </a:pPr>
            <a:r>
              <a:rPr sz="1800" b="0">
                <a:solidFill>
                  <a:srgbClr val="F6F2EC"/>
                </a:solidFill>
                <a:latin typeface="Arial"/>
                <a:ea typeface="Arial"/>
                <a:cs typeface="Arial"/>
              </a:rPr>
              <a:t>Fontes, modelos, sensibilidades e interpretações.</a:t>
            </a:r>
          </a:p>
        </p:txBody>
      </p:sp>
      <p:sp>
        <p:nvSpPr>
          <p:cNvPr id="6" name="">
            <a:extLst xmlns:a="http://schemas.openxmlformats.org/drawingml/2006/main">
              <a:ext uri="{FF2B5EF4-FFF2-40B4-BE49-F238E27FC236}">
                <a16:creationId xmlns:a16="http://schemas.microsoft.com/office/drawing/2014/main" id="{6B7189C2-C11D-4593-88FC-350C374D664A}"/>
              </a:ext>
            </a:extLst>
          </p:cNvPr>
          <p:cNvSpPr>
            <a:spLocks xmlns:a="http://schemas.openxmlformats.org/drawingml/2006/main" noGrp="1"/>
          </p:cNvSpPr>
          <p:nvPr/>
        </p:nvSpPr>
        <p:spPr>
          <a:xfrm xmlns:a="http://schemas.openxmlformats.org/drawingml/2006/main">
            <a:off x="4203700" y="2952750"/>
            <a:ext cx="9525" cy="2524125"/>
          </a:xfrm>
          <a:prstGeom xmlns:a="http://schemas.openxmlformats.org/drawingml/2006/main" prst="rect">
            <a:avLst/>
          </a:prstGeom>
          <a:solidFill xmlns:a="http://schemas.openxmlformats.org/drawingml/2006/main">
            <a:srgbClr val="6A514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BE2851-A415-4DB0-B094-C5091BED52D5}"/>
              </a:ext>
            </a:extLst>
          </p:cNvPr>
          <p:cNvSpPr>
            <a:spLocks xmlns:a="http://schemas.openxmlformats.org/drawingml/2006/main" noGrp="1"/>
          </p:cNvSpPr>
          <p:nvPr/>
        </p:nvSpPr>
        <p:spPr>
          <a:xfrm xmlns:a="http://schemas.openxmlformats.org/drawingml/2006/main">
            <a:off x="43942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Caderno de trabalho</a:t>
            </a:r>
          </a:p>
        </p:txBody>
      </p:sp>
      <p:sp>
        <p:nvSpPr>
          <p:cNvPr id="8" name="">
            <a:extLst xmlns:a="http://schemas.openxmlformats.org/drawingml/2006/main">
              <a:ext uri="{FF2B5EF4-FFF2-40B4-BE49-F238E27FC236}">
                <a16:creationId xmlns:a16="http://schemas.microsoft.com/office/drawing/2014/main" id="{BB80EB52-5FA7-4C7B-B43A-FFE42730B70D}"/>
              </a:ext>
            </a:extLst>
          </p:cNvPr>
          <p:cNvSpPr>
            <a:spLocks xmlns:a="http://schemas.openxmlformats.org/drawingml/2006/main" noGrp="1"/>
          </p:cNvSpPr>
          <p:nvPr/>
        </p:nvSpPr>
        <p:spPr>
          <a:xfrm xmlns:a="http://schemas.openxmlformats.org/drawingml/2006/main">
            <a:off x="43942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F6F2EC"/>
                </a:solidFill>
                <a:latin typeface="Arial"/>
                <a:ea typeface="Arial"/>
                <a:cs typeface="Arial"/>
              </a:defRPr>
            </a:defPPr>
            <a:lvl1pPr>
              <a:defRPr sz="1800" b="0">
                <a:solidFill>
                  <a:srgbClr val="F6F2EC"/>
                </a:solidFill>
                <a:latin typeface="Arial"/>
                <a:ea typeface="Arial"/>
                <a:cs typeface="Arial"/>
              </a:defRPr>
            </a:lvl1pPr>
            <a:lvl2pPr>
              <a:defRPr sz="1800" b="0">
                <a:solidFill>
                  <a:srgbClr val="F6F2EC"/>
                </a:solidFill>
                <a:latin typeface="Arial"/>
                <a:ea typeface="Arial"/>
                <a:cs typeface="Arial"/>
              </a:defRPr>
            </a:lvl2pPr>
            <a:lvl3pPr>
              <a:defRPr sz="1800" b="0">
                <a:solidFill>
                  <a:srgbClr val="F6F2EC"/>
                </a:solidFill>
                <a:latin typeface="Arial"/>
                <a:ea typeface="Arial"/>
                <a:cs typeface="Arial"/>
              </a:defRPr>
            </a:lvl3pPr>
            <a:lvl4pPr>
              <a:defRPr sz="1800" b="0">
                <a:solidFill>
                  <a:srgbClr val="F6F2EC"/>
                </a:solidFill>
                <a:latin typeface="Arial"/>
                <a:ea typeface="Arial"/>
                <a:cs typeface="Arial"/>
              </a:defRPr>
            </a:lvl4pPr>
            <a:lvl5pPr>
              <a:defRPr sz="1800" b="0">
                <a:solidFill>
                  <a:srgbClr val="F6F2EC"/>
                </a:solidFill>
                <a:latin typeface="Arial"/>
                <a:ea typeface="Arial"/>
                <a:cs typeface="Arial"/>
              </a:defRPr>
            </a:lvl5pPr>
            <a:lvl6pPr>
              <a:defRPr sz="1800" b="0">
                <a:solidFill>
                  <a:srgbClr val="F6F2EC"/>
                </a:solidFill>
                <a:latin typeface="Arial"/>
                <a:ea typeface="Arial"/>
                <a:cs typeface="Arial"/>
              </a:defRPr>
            </a:lvl6pPr>
            <a:lvl7pPr>
              <a:defRPr sz="1800" b="0">
                <a:solidFill>
                  <a:srgbClr val="F6F2EC"/>
                </a:solidFill>
                <a:latin typeface="Arial"/>
                <a:ea typeface="Arial"/>
                <a:cs typeface="Arial"/>
              </a:defRPr>
            </a:lvl7pPr>
            <a:lvl8pPr>
              <a:defRPr sz="1800" b="0">
                <a:solidFill>
                  <a:srgbClr val="F6F2EC"/>
                </a:solidFill>
                <a:latin typeface="Arial"/>
                <a:ea typeface="Arial"/>
                <a:cs typeface="Arial"/>
              </a:defRPr>
            </a:lvl8pPr>
            <a:lvl9pPr>
              <a:defRPr sz="1800" b="0">
                <a:solidFill>
                  <a:srgbClr val="F6F2EC"/>
                </a:solidFill>
                <a:latin typeface="Arial"/>
                <a:ea typeface="Arial"/>
                <a:cs typeface="Arial"/>
              </a:defRPr>
            </a:lvl9pPr>
          </a:lstStyle>
          <a:p xmlns:a="http://schemas.openxmlformats.org/drawingml/2006/main">
            <a:pPr>
              <a:defRPr sz="1800" b="0">
                <a:solidFill>
                  <a:srgbClr val="F6F2EC"/>
                </a:solidFill>
                <a:latin typeface="Arial"/>
                <a:ea typeface="Arial"/>
                <a:cs typeface="Arial"/>
              </a:defRPr>
            </a:pPr>
            <a:r>
              <a:rPr sz="1800" b="0">
                <a:solidFill>
                  <a:srgbClr val="F6F2EC"/>
                </a:solidFill>
                <a:latin typeface="Arial"/>
                <a:ea typeface="Arial"/>
                <a:cs typeface="Arial"/>
              </a:rPr>
              <a:t>Tese, hipóteses, indicadores e viabilidade.</a:t>
            </a:r>
          </a:p>
        </p:txBody>
      </p:sp>
      <p:sp>
        <p:nvSpPr>
          <p:cNvPr id="9" name="">
            <a:extLst xmlns:a="http://schemas.openxmlformats.org/drawingml/2006/main">
              <a:ext uri="{FF2B5EF4-FFF2-40B4-BE49-F238E27FC236}">
                <a16:creationId xmlns:a16="http://schemas.microsoft.com/office/drawing/2014/main" id="{7ABC7FE2-0C53-4C86-AEF5-B110787AC239}"/>
              </a:ext>
            </a:extLst>
          </p:cNvPr>
          <p:cNvSpPr>
            <a:spLocks xmlns:a="http://schemas.openxmlformats.org/drawingml/2006/main" noGrp="1"/>
          </p:cNvSpPr>
          <p:nvPr/>
        </p:nvSpPr>
        <p:spPr>
          <a:xfrm xmlns:a="http://schemas.openxmlformats.org/drawingml/2006/main">
            <a:off x="7950200" y="2952750"/>
            <a:ext cx="9525" cy="2524125"/>
          </a:xfrm>
          <a:prstGeom xmlns:a="http://schemas.openxmlformats.org/drawingml/2006/main" prst="rect">
            <a:avLst/>
          </a:prstGeom>
          <a:solidFill xmlns:a="http://schemas.openxmlformats.org/drawingml/2006/main">
            <a:srgbClr val="6A514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5100A91-F572-4C60-ACFE-698C668ED8D9}"/>
              </a:ext>
            </a:extLst>
          </p:cNvPr>
          <p:cNvSpPr>
            <a:spLocks xmlns:a="http://schemas.openxmlformats.org/drawingml/2006/main" noGrp="1"/>
          </p:cNvSpPr>
          <p:nvPr/>
        </p:nvSpPr>
        <p:spPr>
          <a:xfrm xmlns:a="http://schemas.openxmlformats.org/drawingml/2006/main">
            <a:off x="8140700" y="2952750"/>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6F2EC"/>
                </a:solidFill>
                <a:latin typeface="Arial"/>
                <a:ea typeface="Arial"/>
                <a:cs typeface="Arial"/>
              </a:defRPr>
            </a:defPPr>
            <a:lvl1pPr>
              <a:defRPr sz="2100" b="1">
                <a:solidFill>
                  <a:srgbClr val="F6F2EC"/>
                </a:solidFill>
                <a:latin typeface="Arial"/>
                <a:ea typeface="Arial"/>
                <a:cs typeface="Arial"/>
              </a:defRPr>
            </a:lvl1pPr>
            <a:lvl2pPr>
              <a:defRPr sz="2100" b="1">
                <a:solidFill>
                  <a:srgbClr val="F6F2EC"/>
                </a:solidFill>
                <a:latin typeface="Arial"/>
                <a:ea typeface="Arial"/>
                <a:cs typeface="Arial"/>
              </a:defRPr>
            </a:lvl2pPr>
            <a:lvl3pPr>
              <a:defRPr sz="2100" b="1">
                <a:solidFill>
                  <a:srgbClr val="F6F2EC"/>
                </a:solidFill>
                <a:latin typeface="Arial"/>
                <a:ea typeface="Arial"/>
                <a:cs typeface="Arial"/>
              </a:defRPr>
            </a:lvl3pPr>
            <a:lvl4pPr>
              <a:defRPr sz="2100" b="1">
                <a:solidFill>
                  <a:srgbClr val="F6F2EC"/>
                </a:solidFill>
                <a:latin typeface="Arial"/>
                <a:ea typeface="Arial"/>
                <a:cs typeface="Arial"/>
              </a:defRPr>
            </a:lvl4pPr>
            <a:lvl5pPr>
              <a:defRPr sz="2100" b="1">
                <a:solidFill>
                  <a:srgbClr val="F6F2EC"/>
                </a:solidFill>
                <a:latin typeface="Arial"/>
                <a:ea typeface="Arial"/>
                <a:cs typeface="Arial"/>
              </a:defRPr>
            </a:lvl5pPr>
            <a:lvl6pPr>
              <a:defRPr sz="2100" b="1">
                <a:solidFill>
                  <a:srgbClr val="F6F2EC"/>
                </a:solidFill>
                <a:latin typeface="Arial"/>
                <a:ea typeface="Arial"/>
                <a:cs typeface="Arial"/>
              </a:defRPr>
            </a:lvl6pPr>
            <a:lvl7pPr>
              <a:defRPr sz="2100" b="1">
                <a:solidFill>
                  <a:srgbClr val="F6F2EC"/>
                </a:solidFill>
                <a:latin typeface="Arial"/>
                <a:ea typeface="Arial"/>
                <a:cs typeface="Arial"/>
              </a:defRPr>
            </a:lvl7pPr>
            <a:lvl8pPr>
              <a:defRPr sz="2100" b="1">
                <a:solidFill>
                  <a:srgbClr val="F6F2EC"/>
                </a:solidFill>
                <a:latin typeface="Arial"/>
                <a:ea typeface="Arial"/>
                <a:cs typeface="Arial"/>
              </a:defRPr>
            </a:lvl8pPr>
            <a:lvl9pPr>
              <a:defRPr sz="2100" b="1">
                <a:solidFill>
                  <a:srgbClr val="F6F2EC"/>
                </a:solidFill>
                <a:latin typeface="Arial"/>
                <a:ea typeface="Arial"/>
                <a:cs typeface="Arial"/>
              </a:defRPr>
            </a:lvl9pPr>
          </a:lstStyle>
          <a:p xmlns:a="http://schemas.openxmlformats.org/drawingml/2006/main">
            <a:pPr>
              <a:defRPr sz="2100" b="1">
                <a:solidFill>
                  <a:srgbClr val="F6F2EC"/>
                </a:solidFill>
                <a:latin typeface="Arial"/>
                <a:ea typeface="Arial"/>
                <a:cs typeface="Arial"/>
              </a:defRPr>
            </a:pPr>
            <a:r>
              <a:rPr sz="2100" b="1">
                <a:solidFill>
                  <a:srgbClr val="F6F2EC"/>
                </a:solidFill>
                <a:latin typeface="Arial"/>
                <a:ea typeface="Arial"/>
                <a:cs typeface="Arial"/>
              </a:rPr>
              <a:t>Reprodução aberta</a:t>
            </a:r>
          </a:p>
        </p:txBody>
      </p:sp>
      <p:sp>
        <p:nvSpPr>
          <p:cNvPr id="11" name="">
            <a:extLst xmlns:a="http://schemas.openxmlformats.org/drawingml/2006/main">
              <a:ext uri="{FF2B5EF4-FFF2-40B4-BE49-F238E27FC236}">
                <a16:creationId xmlns:a16="http://schemas.microsoft.com/office/drawing/2014/main" id="{8D7A516D-4780-4971-9F09-9138CA2D9088}"/>
              </a:ext>
            </a:extLst>
          </p:cNvPr>
          <p:cNvSpPr>
            <a:spLocks xmlns:a="http://schemas.openxmlformats.org/drawingml/2006/main" noGrp="1"/>
          </p:cNvSpPr>
          <p:nvPr/>
        </p:nvSpPr>
        <p:spPr>
          <a:xfrm xmlns:a="http://schemas.openxmlformats.org/drawingml/2006/main">
            <a:off x="8140700" y="3857625"/>
            <a:ext cx="34036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F6F2EC"/>
                </a:solidFill>
                <a:latin typeface="Arial"/>
                <a:ea typeface="Arial"/>
                <a:cs typeface="Arial"/>
              </a:defRPr>
            </a:defPPr>
            <a:lvl1pPr>
              <a:defRPr sz="1800" b="0">
                <a:solidFill>
                  <a:srgbClr val="F6F2EC"/>
                </a:solidFill>
                <a:latin typeface="Arial"/>
                <a:ea typeface="Arial"/>
                <a:cs typeface="Arial"/>
              </a:defRPr>
            </a:lvl1pPr>
            <a:lvl2pPr>
              <a:defRPr sz="1800" b="0">
                <a:solidFill>
                  <a:srgbClr val="F6F2EC"/>
                </a:solidFill>
                <a:latin typeface="Arial"/>
                <a:ea typeface="Arial"/>
                <a:cs typeface="Arial"/>
              </a:defRPr>
            </a:lvl2pPr>
            <a:lvl3pPr>
              <a:defRPr sz="1800" b="0">
                <a:solidFill>
                  <a:srgbClr val="F6F2EC"/>
                </a:solidFill>
                <a:latin typeface="Arial"/>
                <a:ea typeface="Arial"/>
                <a:cs typeface="Arial"/>
              </a:defRPr>
            </a:lvl3pPr>
            <a:lvl4pPr>
              <a:defRPr sz="1800" b="0">
                <a:solidFill>
                  <a:srgbClr val="F6F2EC"/>
                </a:solidFill>
                <a:latin typeface="Arial"/>
                <a:ea typeface="Arial"/>
                <a:cs typeface="Arial"/>
              </a:defRPr>
            </a:lvl4pPr>
            <a:lvl5pPr>
              <a:defRPr sz="1800" b="0">
                <a:solidFill>
                  <a:srgbClr val="F6F2EC"/>
                </a:solidFill>
                <a:latin typeface="Arial"/>
                <a:ea typeface="Arial"/>
                <a:cs typeface="Arial"/>
              </a:defRPr>
            </a:lvl5pPr>
            <a:lvl6pPr>
              <a:defRPr sz="1800" b="0">
                <a:solidFill>
                  <a:srgbClr val="F6F2EC"/>
                </a:solidFill>
                <a:latin typeface="Arial"/>
                <a:ea typeface="Arial"/>
                <a:cs typeface="Arial"/>
              </a:defRPr>
            </a:lvl6pPr>
            <a:lvl7pPr>
              <a:defRPr sz="1800" b="0">
                <a:solidFill>
                  <a:srgbClr val="F6F2EC"/>
                </a:solidFill>
                <a:latin typeface="Arial"/>
                <a:ea typeface="Arial"/>
                <a:cs typeface="Arial"/>
              </a:defRPr>
            </a:lvl7pPr>
            <a:lvl8pPr>
              <a:defRPr sz="1800" b="0">
                <a:solidFill>
                  <a:srgbClr val="F6F2EC"/>
                </a:solidFill>
                <a:latin typeface="Arial"/>
                <a:ea typeface="Arial"/>
                <a:cs typeface="Arial"/>
              </a:defRPr>
            </a:lvl8pPr>
            <a:lvl9pPr>
              <a:defRPr sz="1800" b="0">
                <a:solidFill>
                  <a:srgbClr val="F6F2EC"/>
                </a:solidFill>
                <a:latin typeface="Arial"/>
                <a:ea typeface="Arial"/>
                <a:cs typeface="Arial"/>
              </a:defRPr>
            </a:lvl9pPr>
          </a:lstStyle>
          <a:p xmlns:a="http://schemas.openxmlformats.org/drawingml/2006/main">
            <a:pPr>
              <a:defRPr sz="1800" b="0">
                <a:solidFill>
                  <a:srgbClr val="F6F2EC"/>
                </a:solidFill>
                <a:latin typeface="Arial"/>
                <a:ea typeface="Arial"/>
                <a:cs typeface="Arial"/>
              </a:defRPr>
            </a:pPr>
            <a:r>
              <a:rPr sz="1800" b="0">
                <a:solidFill>
                  <a:srgbClr val="F6F2EC"/>
                </a:solidFill>
                <a:latin typeface="Arial"/>
                <a:ea typeface="Arial"/>
                <a:cs typeface="Arial"/>
              </a:rPr>
              <a:t>GitHub, arquivos preservados e notebook Colab.</a:t>
            </a:r>
          </a:p>
        </p:txBody>
      </p:sp>
      <p:sp>
        <p:nvSpPr>
          <p:cNvPr id="12" name="">
            <a:extLst xmlns:a="http://schemas.openxmlformats.org/drawingml/2006/main">
              <a:ext uri="{FF2B5EF4-FFF2-40B4-BE49-F238E27FC236}">
                <a16:creationId xmlns:a16="http://schemas.microsoft.com/office/drawing/2014/main" id="{A9DC7E06-8C30-4E7E-9CB4-4EF4B1F8AFCB}"/>
              </a:ext>
            </a:extLst>
          </p:cNvPr>
          <p:cNvSpPr>
            <a:spLocks xmlns:a="http://schemas.openxmlformats.org/drawingml/2006/main" noGrp="1"/>
          </p:cNvSpPr>
          <p:nvPr/>
        </p:nvSpPr>
        <p:spPr>
          <a:xfrm xmlns:a="http://schemas.openxmlformats.org/drawingml/2006/main">
            <a:off x="647700" y="6019800"/>
            <a:ext cx="10896600" cy="9525"/>
          </a:xfrm>
          <a:prstGeom xmlns:a="http://schemas.openxmlformats.org/drawingml/2006/main" prst="rect">
            <a:avLst/>
          </a:prstGeom>
          <a:solidFill xmlns:a="http://schemas.openxmlformats.org/drawingml/2006/main">
            <a:srgbClr val="6A514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0FDDD7D-F71B-4384-A3EF-9A11274A8C96}"/>
              </a:ext>
            </a:extLst>
          </p:cNvPr>
          <p:cNvSpPr>
            <a:spLocks xmlns:a="http://schemas.openxmlformats.org/drawingml/2006/main" noGrp="1"/>
          </p:cNvSpPr>
          <p:nvPr/>
        </p:nvSpPr>
        <p:spPr>
          <a:xfrm xmlns:a="http://schemas.openxmlformats.org/drawingml/2006/main">
            <a:off x="647700" y="6181725"/>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DFC6B1"/>
                </a:solidFill>
                <a:latin typeface="Arial"/>
                <a:ea typeface="Arial"/>
                <a:cs typeface="Arial"/>
              </a:defRPr>
            </a:defPPr>
            <a:lvl1pPr>
              <a:defRPr sz="1200" b="0">
                <a:solidFill>
                  <a:srgbClr val="DFC6B1"/>
                </a:solidFill>
                <a:latin typeface="Arial"/>
                <a:ea typeface="Arial"/>
                <a:cs typeface="Arial"/>
              </a:defRPr>
            </a:lvl1pPr>
            <a:lvl2pPr>
              <a:defRPr sz="1200" b="0">
                <a:solidFill>
                  <a:srgbClr val="DFC6B1"/>
                </a:solidFill>
                <a:latin typeface="Arial"/>
                <a:ea typeface="Arial"/>
                <a:cs typeface="Arial"/>
              </a:defRPr>
            </a:lvl2pPr>
            <a:lvl3pPr>
              <a:defRPr sz="1200" b="0">
                <a:solidFill>
                  <a:srgbClr val="DFC6B1"/>
                </a:solidFill>
                <a:latin typeface="Arial"/>
                <a:ea typeface="Arial"/>
                <a:cs typeface="Arial"/>
              </a:defRPr>
            </a:lvl3pPr>
            <a:lvl4pPr>
              <a:defRPr sz="1200" b="0">
                <a:solidFill>
                  <a:srgbClr val="DFC6B1"/>
                </a:solidFill>
                <a:latin typeface="Arial"/>
                <a:ea typeface="Arial"/>
                <a:cs typeface="Arial"/>
              </a:defRPr>
            </a:lvl4pPr>
            <a:lvl5pPr>
              <a:defRPr sz="1200" b="0">
                <a:solidFill>
                  <a:srgbClr val="DFC6B1"/>
                </a:solidFill>
                <a:latin typeface="Arial"/>
                <a:ea typeface="Arial"/>
                <a:cs typeface="Arial"/>
              </a:defRPr>
            </a:lvl5pPr>
            <a:lvl6pPr>
              <a:defRPr sz="1200" b="0">
                <a:solidFill>
                  <a:srgbClr val="DFC6B1"/>
                </a:solidFill>
                <a:latin typeface="Arial"/>
                <a:ea typeface="Arial"/>
                <a:cs typeface="Arial"/>
              </a:defRPr>
            </a:lvl6pPr>
            <a:lvl7pPr>
              <a:defRPr sz="1200" b="0">
                <a:solidFill>
                  <a:srgbClr val="DFC6B1"/>
                </a:solidFill>
                <a:latin typeface="Arial"/>
                <a:ea typeface="Arial"/>
                <a:cs typeface="Arial"/>
              </a:defRPr>
            </a:lvl7pPr>
            <a:lvl8pPr>
              <a:defRPr sz="1200" b="0">
                <a:solidFill>
                  <a:srgbClr val="DFC6B1"/>
                </a:solidFill>
                <a:latin typeface="Arial"/>
                <a:ea typeface="Arial"/>
                <a:cs typeface="Arial"/>
              </a:defRPr>
            </a:lvl8pPr>
            <a:lvl9pPr>
              <a:defRPr sz="1200" b="0">
                <a:solidFill>
                  <a:srgbClr val="DFC6B1"/>
                </a:solidFill>
                <a:latin typeface="Arial"/>
                <a:ea typeface="Arial"/>
                <a:cs typeface="Arial"/>
              </a:defRPr>
            </a:lvl9pPr>
          </a:lstStyle>
          <a:p xmlns:a="http://schemas.openxmlformats.org/drawingml/2006/main">
            <a:pPr>
              <a:defRPr sz="1200" b="0">
                <a:solidFill>
                  <a:srgbClr val="DFC6B1"/>
                </a:solidFill>
                <a:latin typeface="Arial"/>
                <a:ea typeface="Arial"/>
                <a:cs typeface="Arial"/>
              </a:defRPr>
            </a:pPr>
            <a:r>
              <a:rPr sz="1200" b="0">
                <a:solidFill>
                  <a:srgbClr val="DFC6B1"/>
                </a:solidFill>
                <a:latin typeface="Arial"/>
                <a:ea typeface="Arial"/>
                <a:cs typeface="Arial"/>
              </a:rPr>
              <a:t>Universidade FUMEC · Doutorado em Administração · qualificação do projeto</a:t>
            </a:r>
          </a:p>
        </p:txBody>
      </p:sp>
      <p:sp>
        <p:nvSpPr>
          <p:cNvPr id="14" name="">
            <a:extLst xmlns:a="http://schemas.openxmlformats.org/drawingml/2006/main">
              <a:ext uri="{FF2B5EF4-FFF2-40B4-BE49-F238E27FC236}">
                <a16:creationId xmlns:a16="http://schemas.microsoft.com/office/drawing/2014/main" id="{9A12DB62-8DC2-4BFD-BC61-D8584CFEC0C5}"/>
              </a:ext>
            </a:extLst>
          </p:cNvPr>
          <p:cNvSpPr>
            <a:spLocks xmlns:a="http://schemas.openxmlformats.org/drawingml/2006/main" noGrp="1"/>
          </p:cNvSpPr>
          <p:nvPr/>
        </p:nvSpPr>
        <p:spPr>
          <a:xfrm xmlns:a="http://schemas.openxmlformats.org/drawingml/2006/main">
            <a:off x="11563350" y="25717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D9D8E"/>
                </a:solidFill>
                <a:latin typeface="Arial"/>
                <a:ea typeface="Arial"/>
                <a:cs typeface="Arial"/>
              </a:defRPr>
            </a:defPPr>
            <a:lvl1pPr>
              <a:defRPr sz="1125" b="0">
                <a:solidFill>
                  <a:srgbClr val="AD9D8E"/>
                </a:solidFill>
                <a:latin typeface="Arial"/>
                <a:ea typeface="Arial"/>
                <a:cs typeface="Arial"/>
              </a:defRPr>
            </a:lvl1pPr>
            <a:lvl2pPr>
              <a:defRPr sz="1125" b="0">
                <a:solidFill>
                  <a:srgbClr val="AD9D8E"/>
                </a:solidFill>
                <a:latin typeface="Arial"/>
                <a:ea typeface="Arial"/>
                <a:cs typeface="Arial"/>
              </a:defRPr>
            </a:lvl2pPr>
            <a:lvl3pPr>
              <a:defRPr sz="1125" b="0">
                <a:solidFill>
                  <a:srgbClr val="AD9D8E"/>
                </a:solidFill>
                <a:latin typeface="Arial"/>
                <a:ea typeface="Arial"/>
                <a:cs typeface="Arial"/>
              </a:defRPr>
            </a:lvl3pPr>
            <a:lvl4pPr>
              <a:defRPr sz="1125" b="0">
                <a:solidFill>
                  <a:srgbClr val="AD9D8E"/>
                </a:solidFill>
                <a:latin typeface="Arial"/>
                <a:ea typeface="Arial"/>
                <a:cs typeface="Arial"/>
              </a:defRPr>
            </a:lvl4pPr>
            <a:lvl5pPr>
              <a:defRPr sz="1125" b="0">
                <a:solidFill>
                  <a:srgbClr val="AD9D8E"/>
                </a:solidFill>
                <a:latin typeface="Arial"/>
                <a:ea typeface="Arial"/>
                <a:cs typeface="Arial"/>
              </a:defRPr>
            </a:lvl5pPr>
            <a:lvl6pPr>
              <a:defRPr sz="1125" b="0">
                <a:solidFill>
                  <a:srgbClr val="AD9D8E"/>
                </a:solidFill>
                <a:latin typeface="Arial"/>
                <a:ea typeface="Arial"/>
                <a:cs typeface="Arial"/>
              </a:defRPr>
            </a:lvl6pPr>
            <a:lvl7pPr>
              <a:defRPr sz="1125" b="0">
                <a:solidFill>
                  <a:srgbClr val="AD9D8E"/>
                </a:solidFill>
                <a:latin typeface="Arial"/>
                <a:ea typeface="Arial"/>
                <a:cs typeface="Arial"/>
              </a:defRPr>
            </a:lvl7pPr>
            <a:lvl8pPr>
              <a:defRPr sz="1125" b="0">
                <a:solidFill>
                  <a:srgbClr val="AD9D8E"/>
                </a:solidFill>
                <a:latin typeface="Arial"/>
                <a:ea typeface="Arial"/>
                <a:cs typeface="Arial"/>
              </a:defRPr>
            </a:lvl8pPr>
            <a:lvl9pPr>
              <a:defRPr sz="1125" b="0">
                <a:solidFill>
                  <a:srgbClr val="AD9D8E"/>
                </a:solidFill>
                <a:latin typeface="Arial"/>
                <a:ea typeface="Arial"/>
                <a:cs typeface="Arial"/>
              </a:defRPr>
            </a:lvl9pPr>
          </a:lstStyle>
          <a:p xmlns:a="http://schemas.openxmlformats.org/drawingml/2006/main">
            <a:pPr>
              <a:defRPr sz="1125" b="0">
                <a:solidFill>
                  <a:srgbClr val="AD9D8E"/>
                </a:solidFill>
                <a:latin typeface="Arial"/>
                <a:ea typeface="Arial"/>
                <a:cs typeface="Arial"/>
              </a:defRPr>
            </a:pPr>
            <a:r>
              <a:rPr sz="1125" b="0">
                <a:solidFill>
                  <a:srgbClr val="AD9D8E"/>
                </a:solidFill>
                <a:latin typeface="Arial"/>
                <a:ea typeface="Arial"/>
                <a:cs typeface="Arial"/>
              </a:rPr>
              <a:t>18</a:t>
            </a:r>
          </a:p>
        </p:txBody>
      </p:sp>
    </p:spTree>
    <p:extLst>
      <p:ext uri="{BB962C8B-B14F-4D97-AF65-F5344CB8AC3E}">
        <p14:creationId xmlns:p14="http://schemas.microsoft.com/office/powerpoint/2010/main" val="477748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2026-10-17T16:44:08.8280000Z</dcterms:created>
  <dcterms:modified xsi:type="dcterms:W3CDTF">2026-10-17T16:44:08.8280000Z</dcterms:modified>
</coreProperties>
</file>