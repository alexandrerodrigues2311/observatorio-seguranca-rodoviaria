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706c15eb0a40a3" /><Relationship Type="http://schemas.openxmlformats.org/officeDocument/2006/relationships/extended-properties" Target="/docProps/app.xml" Id="R45eeefda0d4e47e0" /><Relationship Type="http://schemas.openxmlformats.org/officeDocument/2006/relationships/officeDocument" Target="/ppt/presentation.xml" Id="R4368d744736844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babb08ebfd4a63"/>
  </p:sldMasterIdLst>
  <p:notesMasterIdLst>
    <p:notesMasterId xmlns:r="http://schemas.openxmlformats.org/officeDocument/2006/relationships" r:id="R04727d111cba40ab"/>
  </p:notesMasterIdLst>
  <p:sldIdLst>
    <p:sldId xmlns:r="http://schemas.openxmlformats.org/officeDocument/2006/relationships" id="256" r:id="R01dbcc51791e4bf4"/>
    <p:sldId xmlns:r="http://schemas.openxmlformats.org/officeDocument/2006/relationships" id="257" r:id="R3551ebcdbb6e432d"/>
    <p:sldId xmlns:r="http://schemas.openxmlformats.org/officeDocument/2006/relationships" id="258" r:id="R45eee28a88304634"/>
    <p:sldId xmlns:r="http://schemas.openxmlformats.org/officeDocument/2006/relationships" id="259" r:id="R235ac36da05e4f1f"/>
    <p:sldId xmlns:r="http://schemas.openxmlformats.org/officeDocument/2006/relationships" id="260" r:id="R74f7f266508c4481"/>
    <p:sldId xmlns:r="http://schemas.openxmlformats.org/officeDocument/2006/relationships" id="261" r:id="R50d0afd760db4179"/>
    <p:sldId xmlns:r="http://schemas.openxmlformats.org/officeDocument/2006/relationships" id="262" r:id="Rcbf6aa3ac4364cae"/>
    <p:sldId xmlns:r="http://schemas.openxmlformats.org/officeDocument/2006/relationships" id="263" r:id="Red29d3bae036424f"/>
    <p:sldId xmlns:r="http://schemas.openxmlformats.org/officeDocument/2006/relationships" id="264" r:id="R46edd3a2790e4047"/>
    <p:sldId xmlns:r="http://schemas.openxmlformats.org/officeDocument/2006/relationships" id="265" r:id="Raae19be778944fda"/>
    <p:sldId xmlns:r="http://schemas.openxmlformats.org/officeDocument/2006/relationships" id="266" r:id="R274babaee7d44fa6"/>
    <p:sldId xmlns:r="http://schemas.openxmlformats.org/officeDocument/2006/relationships" id="267" r:id="R940ac4e34ffb4821"/>
    <p:sldId xmlns:r="http://schemas.openxmlformats.org/officeDocument/2006/relationships" id="268" r:id="Rb6cb8eefbc084fa4"/>
    <p:sldId xmlns:r="http://schemas.openxmlformats.org/officeDocument/2006/relationships" id="269" r:id="Rd4ebb846175e4b39"/>
    <p:sldId xmlns:r="http://schemas.openxmlformats.org/officeDocument/2006/relationships" id="270" r:id="Rba0723d4dd8644ad"/>
    <p:sldId xmlns:r="http://schemas.openxmlformats.org/officeDocument/2006/relationships" id="271" r:id="R11e9cbfe55d140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d6ee451abd401c" /><Relationship Type="http://schemas.openxmlformats.org/officeDocument/2006/relationships/slideMaster" Target="/ppt/slideMasters/slideMaster1.xml" Id="R29babb08ebfd4a63" /><Relationship Type="http://schemas.openxmlformats.org/officeDocument/2006/relationships/notesMaster" Target="/ppt/notesMasters/notesMaster1.xml" Id="R04727d111cba40ab" /><Relationship Type="http://schemas.openxmlformats.org/officeDocument/2006/relationships/presProps" Target="/ppt/presProps.xml" Id="R3aef8f5483554067" /><Relationship Type="http://schemas.openxmlformats.org/officeDocument/2006/relationships/tableStyles" Target="/ppt/tableStyles.xml" Id="R0f25c94f5e83464b" /><Relationship Type="http://schemas.openxmlformats.org/officeDocument/2006/relationships/slide" Target="/ppt/slides/slide1.xml" Id="R01dbcc51791e4bf4" /><Relationship Type="http://schemas.openxmlformats.org/officeDocument/2006/relationships/slide" Target="/ppt/slides/slide2.xml" Id="R3551ebcdbb6e432d" /><Relationship Type="http://schemas.openxmlformats.org/officeDocument/2006/relationships/slide" Target="/ppt/slides/slide3.xml" Id="R45eee28a88304634" /><Relationship Type="http://schemas.openxmlformats.org/officeDocument/2006/relationships/slide" Target="/ppt/slides/slide4.xml" Id="R235ac36da05e4f1f" /><Relationship Type="http://schemas.openxmlformats.org/officeDocument/2006/relationships/slide" Target="/ppt/slides/slide5.xml" Id="R74f7f266508c4481" /><Relationship Type="http://schemas.openxmlformats.org/officeDocument/2006/relationships/slide" Target="/ppt/slides/slide6.xml" Id="R50d0afd760db4179" /><Relationship Type="http://schemas.openxmlformats.org/officeDocument/2006/relationships/slide" Target="/ppt/slides/slide7.xml" Id="Rcbf6aa3ac4364cae" /><Relationship Type="http://schemas.openxmlformats.org/officeDocument/2006/relationships/slide" Target="/ppt/slides/slide8.xml" Id="Red29d3bae036424f" /><Relationship Type="http://schemas.openxmlformats.org/officeDocument/2006/relationships/slide" Target="/ppt/slides/slide9.xml" Id="R46edd3a2790e4047" /><Relationship Type="http://schemas.openxmlformats.org/officeDocument/2006/relationships/slide" Target="/ppt/slides/slide10.xml" Id="Raae19be778944fda" /><Relationship Type="http://schemas.openxmlformats.org/officeDocument/2006/relationships/slide" Target="/ppt/slides/slide11.xml" Id="R274babaee7d44fa6" /><Relationship Type="http://schemas.openxmlformats.org/officeDocument/2006/relationships/slide" Target="/ppt/slides/slide12.xml" Id="R940ac4e34ffb4821" /><Relationship Type="http://schemas.openxmlformats.org/officeDocument/2006/relationships/slide" Target="/ppt/slides/slide13.xml" Id="Rb6cb8eefbc084fa4" /><Relationship Type="http://schemas.openxmlformats.org/officeDocument/2006/relationships/slide" Target="/ppt/slides/slide14.xml" Id="Rd4ebb846175e4b39" /><Relationship Type="http://schemas.openxmlformats.org/officeDocument/2006/relationships/slide" Target="/ppt/slides/slide15.xml" Id="Rba0723d4dd8644ad" /><Relationship Type="http://schemas.openxmlformats.org/officeDocument/2006/relationships/slide" Target="/ppt/slides/slide16.xml" Id="R11e9cbfe55d140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6622aac674422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0f980d66cc4807" /><Relationship Type="http://schemas.openxmlformats.org/officeDocument/2006/relationships/notesMaster" Target="/ppt/notesMasters/notesMaster1.xml" Id="R75c04d4c8fb944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8791d700d64b09" /><Relationship Type="http://schemas.openxmlformats.org/officeDocument/2006/relationships/notesMaster" Target="/ppt/notesMasters/notesMaster1.xml" Id="Rf224678f8df846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10065cd35c43fd" /><Relationship Type="http://schemas.openxmlformats.org/officeDocument/2006/relationships/notesMaster" Target="/ppt/notesMasters/notesMaster1.xml" Id="R54457ee3db3f4a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5bc5d12caa4558" /><Relationship Type="http://schemas.openxmlformats.org/officeDocument/2006/relationships/notesMaster" Target="/ppt/notesMasters/notesMaster1.xml" Id="Rd96efd01f3ab49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24279dd2e448f4" /><Relationship Type="http://schemas.openxmlformats.org/officeDocument/2006/relationships/notesMaster" Target="/ppt/notesMasters/notesMaster1.xml" Id="Rd3d39ef63c0149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ffdf4a953f4048" /><Relationship Type="http://schemas.openxmlformats.org/officeDocument/2006/relationships/notesMaster" Target="/ppt/notesMasters/notesMaster1.xml" Id="R07f56a7a876e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cddd56a28f4853" /><Relationship Type="http://schemas.openxmlformats.org/officeDocument/2006/relationships/notesMaster" Target="/ppt/notesMasters/notesMaster1.xml" Id="Re1a149da8817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7217531bfa64d3f" /><Relationship Type="http://schemas.openxmlformats.org/officeDocument/2006/relationships/notesMaster" Target="/ppt/notesMasters/notesMaster1.xml" Id="R4e10ea0625fb4c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e26e6285a44460" /><Relationship Type="http://schemas.openxmlformats.org/officeDocument/2006/relationships/notesMaster" Target="/ppt/notesMasters/notesMaster1.xml" Id="R17a61a431c964e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d299958e434697" /><Relationship Type="http://schemas.openxmlformats.org/officeDocument/2006/relationships/notesMaster" Target="/ppt/notesMasters/notesMaster1.xml" Id="Rbb7ffec6aef94d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fc48b6a95e4fc3" /><Relationship Type="http://schemas.openxmlformats.org/officeDocument/2006/relationships/notesMaster" Target="/ppt/notesMasters/notesMaster1.xml" Id="Ra99887a279dd43e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725e0ab0d6c4350" /><Relationship Type="http://schemas.openxmlformats.org/officeDocument/2006/relationships/notesMaster" Target="/ppt/notesMasters/notesMaster1.xml" Id="R276f251461ca47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19d43a16df4ab4" /><Relationship Type="http://schemas.openxmlformats.org/officeDocument/2006/relationships/notesMaster" Target="/ppt/notesMasters/notesMaster1.xml" Id="R7d7610030d3842d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82dbef104a4860" /><Relationship Type="http://schemas.openxmlformats.org/officeDocument/2006/relationships/notesMaster" Target="/ppt/notesMasters/notesMaster1.xml" Id="R727ab5bc7b5446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b17174ddee407e" /><Relationship Type="http://schemas.openxmlformats.org/officeDocument/2006/relationships/notesMaster" Target="/ppt/notesMasters/notesMaster1.xml" Id="R771723df722045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b869bef4884987" /><Relationship Type="http://schemas.openxmlformats.org/officeDocument/2006/relationships/notesMaster" Target="/ppt/notesMasters/notesMaster1.xml" Id="R8728e051cbbb4b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35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Apresente o projeto de Débora Cristina Coutinho Vilas Bôas, orientado por Suzana Rodrigues na Universidade FUMEC. A agenda informada é 27 de outubro de 2026 às 15h. O roteiro principal tem 14 slides e dura 20 minutos; os dois apêndices são opcionais. Diferencie o desenho original das extensões do laboratório.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capa e resumo. Imagem de fundo ilustrativa gerada por IA, sem associação a um evento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mesmo número registrado pode refletir maior risco, mais circulação ou melhor capacidade de observar. A pergunta institucional é como comparar resultados quando obrigações e instrumentos produzem informação com cobertura diferente. Esses mecanismos concorrentes precisam ser distinguidos. Não se afirma que toda diferença decorra de detecção.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seções 1.2 e 2.4. Diagrama de mecanismos concorrentes, sem proporções empíricas presumidas.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tese da seção 1.5 trata a produção da informação como parte da governança e distingue reconhecer o risco de agir sobre ele. A formulação é uma proposição a demonstrar. A persistência das perdas, sem documentos sobre obrigações, decisões e execução, não comprova falha do PDCA. A avaliação deve considerar ações reais insuficientes e explicações concorrentes.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seção 1.5. Síntese e modelo visual interpretativo; não representa um efeito causal já estimado.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110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tese usa Scott como teoria de base. A governança regulatória situa a coordenação por regras, contratos, monitoramento e sanções nos arranjos híbridos. Espeland e Stevens discutem a comensuração; Power separa auditabilidade de desempenho substantivo. Bevan e Hood, Moynihan e Kroll ajudam a situar a produção e o uso de indicadores. Moore e Bozeman dão a consequência normativa: as perdas que não entram na representação do problema podem ficar fora das prioridades. Não confundir indicador de custo com medida integral de valor público. A originalidade pretendida é conectar essas contribuições no nível do arranjo e do trecho, em vez de apenas renomear capacidade informacional. Transição: qual construto faz essa conexão?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seções 2.1, 2.2 e 2.7. Autores conforme o referencial da proposta.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110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definição e a separação das dimensões estão nas seções 2.3 e 4.5. Instrumentos e vinculação são anteriores ao sinistro; cobertura é uma dimensão resultante e critério de validação. O projeto classifica o conceito como formativo e evita um índice composto principal. A contribuição proposta é analisar a unidade em que a política acontece e exigir atribuição a um responsável. Isso o distingue, em intenção, de transparência, accountability e capacidade estatal. O desafio empírico permanece: a razão registrado/esperado e a probabilidade de zero de um modelo não identificam sozinhas a cobertura real. A apresentação preserva essa diferença entre definição teórica e mensuração identificada.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seção 2.3, Quadro 1, seção 4.5; Diamantopoulos e Winklhofer (2001), conforme citado pela autora.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P1 propõe diferenças de instrumentos e vinculação por arranjo, jurisdição e instrumentação. P2 propõe associação mais forte da visibilidade com sinistros leves do que fatais; sua interpretação exige considerar que infraestrutura e atendimento também podem alterar gravidade. P3 liga visibilidade, perdas não registradas e mudança das prioridades. Resíduos e zeros, isoladamente, não comprovam perdas ocultas; é necessária triangulação ou um desenho de identificação. P4 confronta persistência com resposta registrada e verificação. As quatro proposições devem ter critérios de refutação e explicar como lidar com informações indisponíveis.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seção 3.2. A redação visual sintetiza as proposições, sem apresentá-las como resultados confirmados.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90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ciclo organiza a coleta documental, mas não explica sozinho por que a resposta acontece ou falha. Para cada etapa, localizar um documento datado e um responsável: diagnóstico e plano, ordem de serviço e recebimento, avaliação do resultado e decisão de revisão. A hipótese de não resposta exige confrontar o dever de agir, a disponibilidade de recursos, o que foi de fato executado e sua temporalidade. Persistência pode coexistir com intervenção insuficiente. Uma falha de coordenação é diferente de cumprimento formal sem resultado. O desenho original usa fontes públicas e pedidos via LAI.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seções 2.5, 3.3 e 4.6; Deming (1986), conforme a proposta. Explicações complementares de desacoplamento pertencem à agenda de aprofundamento.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laboratório integrou registros PRF, exposição modelada PNCT e referências cadastrais SNV e ANTT. Os arquivos são preservados com manifesto e hash. Cada fonte tem unidade e período próprios: ocorrências não são pessoas, VMD é modelado e cadastro atual não reconstrói operação histórica. O notebook permite verificar as regras e os cálculos.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Fontes oficiais e manifestos do laboratório. Universo PRF 2022–2025; exposição modelada e malha cadastral com escopos próprios.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70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mapa usa limites públicos do IBGE e traçado oficial do SNV. A mesma transformação Mercator é aplicada a polígonos e rodovias, com escala uniforme, evitando estiramento independente. A BR-040 está destacada apenas como exemplo de localização, não como seleção definitiva de caso ou ranking de risco. A atribuição institucional exige compatibilizar km, limite e vigência. Um cadastro de 2026 não pode ser aplicado automaticamente a todos os anos. O mapa ilustra a infraestrutura necessária para vincular contratos, registros e intervenções à unidade analítica.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IBGE malhas; SNV 202604A e scripts de geometria do laboratório. Projeção cartográfica registrada no material.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90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núcleo estatístico já inclui logística de fatalidade condicional ao registro, NB2 com offset de exposição e multinomial de gravidade máxima. A extensão de ML compara boosting, regressão Poisson ponderada por exposição e KMeans descritivo. Os preditores não incluem contagens de vítimas na classificação. O tipo de sinistro é conhecido após o evento, portanto não é previsão de acidente antes de ocorrer. Dois candidatos por tarefa são escolhidos em 2022→2023 antes do teste 2024–2025. A reserva por corredor também é excluída da seleção. Os grupos são formados em 2022–2023; incluem taxas iniciais e não medem qualidade da governança.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Scripts estatísticos e aprendizado_maquina.py; documentação oficial do scikit-learn citada no notebook.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 regressão, os valores de desvio Poisson são aproximadamente 1,855 para taxa constante, 1,599 para NB2 e 1,545 para boosting, no mesmo teste com 9.859 segmentos-ano. A redução frente ao NB2 é cerca de 3,4%; não se afirma significância inferencial desse ganho. Na classificação, log loss melhora de 1,074 do multinomial para 1,065, mas a identificação fatal por argmax permanece baixa, cerca de 3,8%. A acurácia continua dominada pelos leves. É importante reportar calibração, AP e sensibilidade, e não vender o modelo como um classificador forte. Os testes espacial-temporais e referências completas estão no relatório.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dist/data/aprendizado.json; multinomial.json e exposicao.json. Valores calculados pelo pipeline reproduzível.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avanço não é o uso de um algoritmo mais complexo. É tornar verificável a relação entre o registro e as condições institucionais que o produziram. A exposição modelada e as sensibilidades mostram por que números isolados podem sustentar leituras distintas. Os agrupamentos selecionam candidatos documentais: são perfis estáveis no universo inicial, não classes naturais ou notas de gestão. A ligação teórica precisa mostrar se instrumentos e vinculação tornam a informação comparável, se isso chega às prioridades e como a responsabilidade e os recursos alteram a resposta. Ganhos preditivos modestos não invalidam a pergunta institucional, mas também não a respondem.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seção 1.6 e referencial; resultados e limites do laboratório.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105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proposta é promissora, mas a evidência quantitativa disponível ainda não demonstra a contribuição institucional. Podemos testar padrões e associações e escolher casos. Cadastros de SAT, CFTV e radares foram preservados e contados, mas não informam integralmente operação passada. Planos, execução e conclusões têm campos que exigem unidades, versões e validação do objeto. Para P4, reconstruir alertas, obrigações, decisões e intervenções, inclusive a hipótese de ação real insuficiente. Para detecção, confrontar fontes e sua dependência. A ausência de um documento acessível não comprova que uma ação não ocorreu.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Matriz de viabilidade e operacionalização de governança; fontes ANTT/DNIT e projeto, seções 3 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90 segundos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Esta é uma síntese narrativa, não uma substituição do calendário original. A auditoria, revisão e qualificação aparecem no fim de 2026; diagnóstico e documentos avançam no primeiro trimestre de 2027; os modelos, gradiente de gravidade e persistência ocupam os meses seguintes; validação, redação, artigos e revisão se sobrepõem no fim do cronograma. O Quadro 8 completo está nos dois apêndices, com todas as atividades e meses originais. A divergência da data de qualificação é explicitada. Feche retomando a tese: compreender governança exige conectar a produção da informação à resposta, e o laboratório torna essa agenda mais verificável.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Quadro 8. Agrupamento de fases apenas para exposição em 20 minutos; datas exatas nos apêndices.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apêndice opcional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Apêndice opcional, fora do tempo de 20 minutos. Preserva a posição de cada marcação nas células originais do Quadro 8, para consulta da banca.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seção 6, Quadro 8. Agenda informada pelo avaliador: 27/out/2026 às 15h.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apêndice opcional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Apêndice opcional, fora do tempo de 20 minutos. Preserva a posição de cada marcação nas células originais do Quadro 8, para consulta da banca.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Projeto, seção 6, Quadro 8. Agenda informada pelo avaliador: 27/out/2026 às 15h.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9dd88d69e40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22f761b0742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90124c18e4c5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1c3aafc22b42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7410179b245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fb8f0aa094b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8A9DCA-1E4B-4F0A-AA98-8245DF7F65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470A707-BCC3-4A8D-9487-39CFE570DC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9EC76E9-5F83-43B3-B721-07DD88113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EB0AEA-274D-4227-8648-051EC352B1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917584-5ADE-4926-AE0C-2017CC6056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E986642-EA99-4BB0-9013-D2BB9C991D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E44A70-26C3-4A38-8F5F-507474B0B3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63E754D-3036-493B-8785-EC3936D418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507174-5C67-4A70-BB2C-95A7C6DB0C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ABD415-75F1-4171-8C1C-ED0FE1724F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8aea34dd0c46e7" /><Relationship Type="http://schemas.openxmlformats.org/officeDocument/2006/relationships/slideLayout" Target="/ppt/slideLayouts/slideLayout1.xml" Id="R23c5b2919c134e62" /><Relationship Type="http://schemas.openxmlformats.org/officeDocument/2006/relationships/slideLayout" Target="/ppt/slideLayouts/slideLayout2.xml" Id="Re0d60ea5eaff4d15" /><Relationship Type="http://schemas.openxmlformats.org/officeDocument/2006/relationships/slideLayout" Target="/ppt/slideLayouts/slideLayout3.xml" Id="R4b15b40a711f4e0a" /><Relationship Type="http://schemas.openxmlformats.org/officeDocument/2006/relationships/slideLayout" Target="/ppt/slideLayouts/slideLayout4.xml" Id="R552aa3a7433749c7" /><Relationship Type="http://schemas.openxmlformats.org/officeDocument/2006/relationships/slideLayout" Target="/ppt/slideLayouts/slideLayout5.xml" Id="R4f4a6cce74004b0b" /><Relationship Type="http://schemas.openxmlformats.org/officeDocument/2006/relationships/slideLayout" Target="/ppt/slideLayouts/slideLayout6.xml" Id="R2c8349e2077741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c5b2919c134e62"/>
    <p:sldLayoutId xmlns:r="http://schemas.openxmlformats.org/officeDocument/2006/relationships" id="2147483650" r:id="Re0d60ea5eaff4d15"/>
    <p:sldLayoutId xmlns:r="http://schemas.openxmlformats.org/officeDocument/2006/relationships" id="2147483651" r:id="R4b15b40a711f4e0a"/>
    <p:sldLayoutId xmlns:r="http://schemas.openxmlformats.org/officeDocument/2006/relationships" id="2147483652" r:id="R552aa3a7433749c7"/>
    <p:sldLayoutId xmlns:r="http://schemas.openxmlformats.org/officeDocument/2006/relationships" id="2147483653" r:id="R4f4a6cce74004b0b"/>
    <p:sldLayoutId xmlns:r="http://schemas.openxmlformats.org/officeDocument/2006/relationships" id="2147483654" r:id="R2c8349e2077741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1c339eca14b56" /><Relationship Type="http://schemas.openxmlformats.org/officeDocument/2006/relationships/image" Target="/ppt/media/image.png" Id="Rd04ea790f19b4063" /><Relationship Type="http://schemas.openxmlformats.org/officeDocument/2006/relationships/image" Target="/ppt/media/image2.png" Id="R41708a42cb5f4f9e" /><Relationship Type="http://schemas.openxmlformats.org/officeDocument/2006/relationships/notesSlide" Target="/ppt/notesSlides/notesSlide1.xml" Id="R9f069bd619aa42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16e9f5329d4cce" /><Relationship Type="http://schemas.openxmlformats.org/officeDocument/2006/relationships/notesSlide" Target="/ppt/notesSlides/notesSlide2.xml" Id="R851fbbb6043c42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a1dcf281434bb2" /><Relationship Type="http://schemas.openxmlformats.org/officeDocument/2006/relationships/notesSlide" Target="/ppt/notesSlides/notesSlide3.xml" Id="R0c674f172e9548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09383303a94f3c" /><Relationship Type="http://schemas.openxmlformats.org/officeDocument/2006/relationships/notesSlide" Target="/ppt/notesSlides/notesSlide4.xml" Id="Rc66153d96d294dc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11a23b6484ec3" /><Relationship Type="http://schemas.openxmlformats.org/officeDocument/2006/relationships/notesSlide" Target="/ppt/notesSlides/notesSlide5.xml" Id="R7e242c448a274a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7533ab568f426a" /><Relationship Type="http://schemas.openxmlformats.org/officeDocument/2006/relationships/notesSlide" Target="/ppt/notesSlides/notesSlide6.xml" Id="Re9fca37d2e1b49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4817201604ca9" /><Relationship Type="http://schemas.openxmlformats.org/officeDocument/2006/relationships/notesSlide" Target="/ppt/notesSlides/notesSlide7.xml" Id="Rd2e3a2de012a47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fac28fca34a47" /><Relationship Type="http://schemas.openxmlformats.org/officeDocument/2006/relationships/notesSlide" Target="/ppt/notesSlides/notesSlide8.xml" Id="R8d7b65afcf214c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5bd622fdb74a81" /><Relationship Type="http://schemas.openxmlformats.org/officeDocument/2006/relationships/image" Target="/ppt/media/image3.png" Id="R1d8783ebadf04e5b" /><Relationship Type="http://schemas.openxmlformats.org/officeDocument/2006/relationships/image" Target="/ppt/media/image.svg" Id="R1e421aafb9fd4f24" /><Relationship Type="http://schemas.openxmlformats.org/officeDocument/2006/relationships/image" Target="/ppt/media/image4.png" Id="Rcee4c0430ac94c73" /><Relationship Type="http://schemas.openxmlformats.org/officeDocument/2006/relationships/image" Target="/ppt/media/image2.svg" Id="Rf393054d6b16463c" /><Relationship Type="http://schemas.openxmlformats.org/officeDocument/2006/relationships/notesSlide" Target="/ppt/notesSlides/notesSlide9.xml" Id="Re77445d0af0f4c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bd94d41d0a449b" /><Relationship Type="http://schemas.openxmlformats.org/officeDocument/2006/relationships/notesSlide" Target="/ppt/notesSlides/notesSlide10.xml" Id="Red065ee8c75343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a20eed0e3443c" /><Relationship Type="http://schemas.openxmlformats.org/officeDocument/2006/relationships/chart" Target="/ppt/slides/charts/chart1.xml" Id="R762a73147ffe461f" /><Relationship Type="http://schemas.openxmlformats.org/officeDocument/2006/relationships/notesSlide" Target="/ppt/notesSlides/notesSlide11.xml" Id="Ra1a4df24344744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ade3471a374f9b" /><Relationship Type="http://schemas.openxmlformats.org/officeDocument/2006/relationships/notesSlide" Target="/ppt/notesSlides/notesSlide12.xml" Id="Rd259f05a6d4742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35604b41e6472e" /><Relationship Type="http://schemas.openxmlformats.org/officeDocument/2006/relationships/notesSlide" Target="/ppt/notesSlides/notesSlide13.xml" Id="R1693ed5a1d5747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30059d57344019" /><Relationship Type="http://schemas.openxmlformats.org/officeDocument/2006/relationships/notesSlide" Target="/ppt/notesSlides/notesSlide14.xml" Id="R362fd2a13bdb47b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5c41d44f14e41" /><Relationship Type="http://schemas.openxmlformats.org/officeDocument/2006/relationships/notesSlide" Target="/ppt/notesSlides/notesSlide15.xml" Id="Recd1b484f8744f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259584d8824092" /><Relationship Type="http://schemas.openxmlformats.org/officeDocument/2006/relationships/notesSlide" Target="/ppt/notesSlides/notesSlide16.xml" Id="R03a185f93480425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Desvio Poisson · menor é melhor</c:v>
          </c:tx>
          <c:spPr>
            <a:solidFill xmlns:a="http://schemas.openxmlformats.org/drawingml/2006/main">
              <a:srgbClr val="A33B32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Taxa constante</c:v>
                </c:pt>
                <c:pt idx="1">
                  <c:v>NB2</c:v>
                </c:pt>
                <c:pt idx="2">
                  <c:v>Boosting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1.855</c:v>
                </c:pt>
                <c:pt idx="1">
                  <c:v>1.599</c:v>
                </c:pt>
                <c:pt idx="2">
                  <c:v>1.545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7272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>
              <a:noFill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majorGridlines>
          <c:spPr>
            <a:ln xmlns:a="http://schemas.openxmlformats.org/drawingml/2006/main">
              <a:noFill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2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257503-DB47-481D-96B2-C1C170C525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ea790f19b406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4E61D-108A-4386-83D9-4C2D4757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4">
              <a:alpha val="6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64DAA-AA78-4D98-ADF4-5DB106E8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514">
              <a:alpha val="6500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8E306E-B4A5-487E-B0B6-891E99B5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7335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A72BD-4E97-408F-A984-B7E9125858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08a42cb5f4f9e"/>
          <a:stretch xmlns:a="http://schemas.openxmlformats.org/drawingml/2006/main"/>
        </p:blipFill>
        <p:spPr>
          <a:xfrm xmlns:a="http://schemas.openxmlformats.org/drawingml/2006/main">
            <a:off x="661511" y="390525"/>
            <a:ext cx="1515428" cy="8191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10E04-B9A6-4843-894F-50DD9184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6667500" cy="2484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9DFD2"/>
                </a:solidFill>
                <a:latin typeface="Arial"/>
                <a:ea typeface="Arial"/>
                <a:cs typeface="Arial"/>
              </a:rPr>
              <a:t>DOUTORADO EM ADMINISTRAÇÃO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E9F0F-CA55-4299-9AD4-B0057E4C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05025"/>
            <a:ext cx="7381875" cy="19846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o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vê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1FFDC-8037-4918-B42D-A5ACB92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6953250" cy="779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Escolhas de governança e visibilidade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nas rodovias federais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16D3A-BCB8-45A1-B2CD-C75F28A9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7620000" cy="56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Débora Cristina Coutinho Vilas Bôas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Orientadora Profa. Dra. Suzana Rodrigues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7DC84-D7BD-40B8-89AA-2590CA06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9525000" cy="260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 OUT 2026 · 15H    |    20 MINUTOS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BF8CE-3F5E-4A74-8853-9A13A1CE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10627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0D4E6A-BF33-4105-98BD-446F4113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PROBLEMA DE PESQUISA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B49F5-2566-4554-9F8D-14383EFE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O número observado mistura risco e capacidade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de registrar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38A2-3A0B-4524-928B-C92D6765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110871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Como comparar arranjos quando o próprio registro pode variar entre eles?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4C407-E7E1-4AC8-BBDB-EE6ADC29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10668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8B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5A618-BF04-41D5-A731-8BE47C00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9FDD-8E8B-4FC8-B75B-5644DB2F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47950"/>
            <a:ext cx="419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8A283-24B0-496C-ABEB-00B12BAA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95575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48109-F3A6-4235-A737-E7A32986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9F488D-E4C4-440A-A42B-30F060A6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B2BB9-ADC3-4865-AED7-7D222413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3845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4FEBF-B246-48E7-8BB6-6FB6EFCD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47950"/>
            <a:ext cx="4191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9AD97-463A-4C98-971A-CB485AD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95575"/>
            <a:ext cx="2857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564FBF-7677-4028-84BD-BAB921D6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8D70AD-32CD-4917-82AE-6F96962B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0575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99950E-1614-49F7-A868-B1625502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571750"/>
            <a:ext cx="685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727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EE0AF1-D8B0-4810-B85B-C18F1234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2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BE7F0-3688-42E0-B305-C2084DA8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05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A3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9D402-0D78-4666-B3E9-A5C112FD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43375" y="3000375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7272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1B9B1-1242-4A6F-9DEB-E995D34A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876675" y="3362325"/>
            <a:ext cx="5334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7272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D87CF-24C0-49F3-9933-E94B6DDF9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62500" y="3000375"/>
            <a:ext cx="10477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4F011-4ADE-41BA-B153-D4100E1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15000" y="29337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0828C-B48C-4153-8C43-68010B06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715000" y="30003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82F5E4-38B6-4B51-B7B3-4CD132C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19375"/>
            <a:ext cx="57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272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AAF2E6-EAA2-46FD-BFE9-DB985E9C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27717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5DD6A5-068D-4196-A0CB-B8F357BE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289560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7D53C-3477-41A0-B498-0F94C193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301942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537D50-4167-4664-B622-118DCA6A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324600" y="314325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1C731E-5BD8-4329-A78F-37C56456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96125" y="300037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54F0D-E701-4AB0-BD71-7FF49A3A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53375" y="29337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C89A34-2F1D-46A5-9984-C58E62A0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53375" y="30003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E78BA5-04CB-4CC0-BDB2-A5216A95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657475"/>
            <a:ext cx="2781300" cy="7562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INDICADOR</a:t>
            </a:r>
          </a:p>
          <a:p xmlns:a="http://schemas.openxmlformats.org/drawingml/2006/main">
            <a:pPr>
              <a:defRPr sz="22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PUBLICADO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2F764C-F7AB-4F68-A17C-3512D481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9525"/>
            <a:ext cx="2809875" cy="37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Ocorrência real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9052B8-BAB7-43CF-8D19-0C902B67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Tráfego, infraestrutura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 condições de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circulação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B99C65-8430-4BD7-9719-4F234B35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19525"/>
            <a:ext cx="2762250" cy="37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Observação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1774D4-0AF2-4066-82AA-07962525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67200"/>
            <a:ext cx="31908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Instrumentos, atendimento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 rotinas de registro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EE4ECD-9D77-49A8-B3CB-D7723D2B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19525"/>
            <a:ext cx="2857500" cy="378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Comparação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E11C5A-6386-4992-93BB-24F6F272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67200"/>
            <a:ext cx="295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Segurança e registro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precisam ser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distinguidos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212264-8244-418A-84AC-B607551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9F040C-C2D7-488C-A2FA-077CB2FD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Mais registros são compatíveis com mais risco, melhor observação ou ambos.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0C9769-6764-4131-9B7B-3384A668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30891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2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5C68B-EAB5-4E91-B108-3D8E7031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TESE DEFENDIDA · SEÇÃO 1.5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C99369-F827-4BAC-93F8-450C0484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tese liga a produção da informação à resposta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pública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259227-07CE-4338-8D54-6D84F22C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110871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 governança condiciona o que pode ser conhecido e o que pode ser feito.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D48AC-DDC2-4262-A928-A27DD586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24193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AB1F2-16FD-4804-87EA-8417D755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207645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Governança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78AAF-2AFF-40B1-9038-615045BDC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2076450" cy="827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Obrigações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recursos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responsáveis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28863-4C3D-4C58-ABC7-CA7A6756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905125"/>
            <a:ext cx="24193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6BD41-FFBF-4881-A8A7-14730C35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038475"/>
            <a:ext cx="207645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Conhecer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8A9A05-B1C3-45A7-9242-07E0DF1C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486150"/>
            <a:ext cx="2076450" cy="827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Monitorar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registrar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vincular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E3DE0-F06A-419B-B5ED-9CE6A1EB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05125"/>
            <a:ext cx="24193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8AFB3-91D2-411E-BFFD-FB12F5A9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38475"/>
            <a:ext cx="207645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53723-99A8-41F7-B1A3-8231D52F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86150"/>
            <a:ext cx="2076450" cy="827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Priorizar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executar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avaliar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7C27B-7223-4D3A-8345-457448FC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05125"/>
            <a:ext cx="24193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3BA07-5133-41CC-BA2E-0E21C114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038475"/>
            <a:ext cx="207645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35D8E-6DC7-4B43-9998-5D74AC1B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486150"/>
            <a:ext cx="2076450" cy="827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Danos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recorrência</a:t>
            </a:r>
          </a:p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aprendizagem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D000F-422C-401B-B04A-F8167770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952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77DF1-BFED-4433-B960-AC9426F2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248025" y="38862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373600-FF92-4681-8E53-5672E6F2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48025" y="39528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E3C64F-B2F6-4EC3-8F13-DFAA62A2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857875" y="3952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AB98B9-BF74-40B4-B9A4-531D865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134100" y="38862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41D91-61A4-44CE-B19E-6BF12FCC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34100" y="39528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4FAB91-9B85-49D0-800D-46265C83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43950" y="3952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9500C-D41B-4FB8-92B9-AA8A6319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0175" y="38862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8A494B-23EF-4D32-9D9E-39B43526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20175" y="39528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622F12-8289-4643-8271-E8267682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20350" y="5295900"/>
            <a:ext cx="953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38A3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A916E-1538-4CF9-87CE-519E9DF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62125" y="5572125"/>
            <a:ext cx="86582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38A3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50C0BB-A59D-485C-9E5A-F0AA413B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62125" y="5219700"/>
            <a:ext cx="953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710294-D0FA-4898-998F-4C1B2A1F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95450" y="5219700"/>
            <a:ext cx="666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556257-EFDB-4012-8410-7CE3BC4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62125" y="5219700"/>
            <a:ext cx="666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38A3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1C64C8-F7B1-4FF5-BA5B-0ED5C4C5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5F5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F5CE55-01B0-4889-A1BA-A5884B11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Proposição a demonstrar: reconhecer o risco não assegura uma resposta efetiva.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BF669D-E5CF-4E5F-9844-57C1D4DD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1424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5CD71A-165B-4E1E-963B-C8E6926C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ARQUITETURA TEÓRICA DO PROJETO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B45485-E61E-40A1-8D3B-6C2E5F62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A teoria articula legibilidade, regulação e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valor público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0D17C-9321-4474-A968-C6D8BB25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62175"/>
            <a:ext cx="338137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999E9-B552-41F9-9BA6-03BD86A0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303847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Legibilidade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8D9898-1DB4-4D5D-94CE-50A9D382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3038475" cy="108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Scott (1998)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Cadastros e categorias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tornam problemas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governáveis.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25DD9-379A-4838-934E-A80B89B1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338137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E0AB0-4271-4D7A-8B3C-EC4A5BD7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95525"/>
            <a:ext cx="3038475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Arranjos e</a:t>
            </a:r>
          </a:p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instrumentos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15641-0BB2-4E90-AB31-A2B0E9D4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4472"/>
            <a:ext cx="3038475" cy="10869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Peters e Pierre; Baldwin et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al.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Contratos e monitoramento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estruturam a coordenação.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3C7E93-947E-411B-A6A1-8ACA139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62175"/>
            <a:ext cx="3381375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B5D05-A61C-4E25-94F8-9BA108C0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95525"/>
            <a:ext cx="303847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Mensuração e uso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86259-B895-4F64-86D2-FA6F6D92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3038475" cy="827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Espeland e Stevens; Power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Comparar e tornar auditável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não garante equivalência.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A7DBE8-7FB6-4192-930E-A75ACC51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62400" y="319087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9BEA2A-8D85-44E1-9589-3C54F2B0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200525" y="31242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64234-472A-446C-94BF-600AA90F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200525" y="31908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E64C3-017F-4433-80AD-926E7BE5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810500" y="3190875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AB205-B9F1-4185-ADBC-7F75D61F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48625" y="31242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486413-F91D-4858-87C4-B2DC74A2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48625" y="31908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6590D7-C080-4683-B39E-99D057C2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110871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921D4-CE2F-4C38-AD1A-0E2AE0C3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286125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POR QUE ISSO IMPORTA?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46461-624E-4A8F-93FF-4F918DA5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28700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Perdas não reconhecidas e respostas incompletas afetam o valor público.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49FF5-BDD9-4400-8C68-52C0A5575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B1417D-38CA-45A1-8A65-9D4E1C32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Moore (1995) e Bozeman (2002) · a relação entre indicadores e ação é parte do problema institucional.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17EF98-DEEA-495C-BDA2-3F2B2E12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96513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B1DC2-3A8D-44B2-8B4E-DCF67F2F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CONCEITO PROPOSTO PELA AUTORA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E3052-EB38-4553-8D71-BEB0ABEB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VGPR mede condições de ver, não qualidade da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segurança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3C9C9-7AB0-4179-94B6-60B2C78F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5475"/>
            <a:ext cx="110871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Capacidade de observar e registrar com vínculo ao local, à data e ao responsável.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2785F4-0DE4-4267-9D3E-80BAD315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05100"/>
            <a:ext cx="33813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B66B7-A549-4DEF-9390-ED05E823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303847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Instrumentos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712697-AD4A-43D4-A8D3-2647E7E2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3038475" cy="56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Equipamentos e rotinas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Anteriores ao sinistro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38CD8-7D39-4D09-AEA0-E23A3947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05100"/>
            <a:ext cx="33813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BEC0D-EE99-49D4-9782-8F722E7E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38450"/>
            <a:ext cx="303847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Vinculação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D6233C-9DB9-4C9D-9515-A707435B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86125"/>
            <a:ext cx="3038475" cy="5673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Trecho · ano · responsável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Anteriores ao sinistro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0829C-AA39-4F05-979C-F53A0328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05100"/>
            <a:ext cx="33813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DD738-5CE4-436A-B579-36E7C140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38450"/>
            <a:ext cx="303847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Cobertura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4B140-705B-4507-91C8-C3513A76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86125"/>
            <a:ext cx="3038475" cy="827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Parcela efetivamente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registrada</a:t>
            </a:r>
          </a:p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Validação a demonstrar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5967F0-E69F-4559-955C-1BBAD27E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4429125" cy="283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CONSTRUTO FORMATIVO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52E833-18CA-4D12-B19E-D3070801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29225"/>
            <a:ext cx="6667500" cy="685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Dimensões diferentes não exigem um índice</a:t>
            </a:r>
          </a:p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único.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6C20D-E899-490F-9D15-F316C0AE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10125"/>
            <a:ext cx="3524250" cy="11342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Transparência divulga.</a:t>
            </a:r>
          </a:p>
          <a:p xmlns:a="http://schemas.openxmlformats.org/drawingml/2006/main">
            <a: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Accountability cobra.</a:t>
            </a:r>
          </a:p>
          <a:p xmlns:a="http://schemas.openxmlformats.org/drawingml/2006/main">
            <a: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VGPR trata da observação</a:t>
            </a:r>
          </a:p>
          <a:p xmlns:a="http://schemas.openxmlformats.org/drawingml/2006/main">
            <a:pPr>
              <a:defRPr sz="17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anterior.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7D9F5-0A7D-4C0B-A535-247C7531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C047B-FBE5-44BE-9017-57DC1DBC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Instrumentos e vinculação entram como medidas principais; cobertura exige validação independente.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02DB7-5677-48A8-94AA-9CD5E9D1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982909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73536B-4E51-49C4-8407-8961B6E9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MODELO CONCEITUAL · P1 A P4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304D7B-29AB-41DE-969D-92B5931DE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As proposições precisam distinguir detecção,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risco e resposta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49137-4FDE-43EF-A664-D593DDD7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DD864-2921-49B6-9F4E-39CD3E2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14575"/>
            <a:ext cx="5715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0EA4B-F033-4313-B447-DC072FA0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38375"/>
            <a:ext cx="4524375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Variação da visibilidade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4185C-646D-401A-A52E-81FBDB8A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533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Instrumentos e vinculação diferem entre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arranjos.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41EA7-6EBD-4E59-90AE-BEE77F15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1EC5C-3E92-41DE-B4DE-2905FA5E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90875"/>
            <a:ext cx="5715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08AD97-05EF-4654-B18F-9CC9A3C8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14675"/>
            <a:ext cx="4524375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Gradiente de gravidade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7AC9F-378E-4E18-97A9-B7E5CCE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533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Associação com o registro varia por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desfecho.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451DFE-8426-46AB-9E7F-90702FEA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63664-3E09-4E6F-819D-A805390E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067175"/>
            <a:ext cx="5715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E94FD-88DD-4CB5-9172-C00B202E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90975"/>
            <a:ext cx="4524375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Mudança de prioridades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117E1B-F65C-4C39-BDB5-E7C4CF0F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19550"/>
            <a:ext cx="533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Baixa visibilidade pode alterar o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diagnóstico de críticos.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B59E5F-CBD2-43D1-A83E-6D7E9D88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A7E902-1925-42A4-94D2-7B642CC2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43475"/>
            <a:ext cx="571500" cy="3192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0040AC-5717-44FE-BFA1-9F9C63D8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67275"/>
            <a:ext cx="4524375" cy="366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Resposta ao risco conhecido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BB68C9-979B-4D98-B135-25330343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95850"/>
            <a:ext cx="5334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Persistência deve ser confrontada com</a:t>
            </a:r>
          </a:p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intervenções documentadas.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2F2CCC-8F02-4566-A021-0AB8CA7E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D3182-59BC-4033-875A-893F2FB5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P2 e P3 exigem evidência que separe observação de ocorrência. P4 exige reconstruir a resposta.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ABB7B5-9EBC-4756-ACC1-B15C058A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1990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F13402-0202-41B6-B877-3FA7F294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DO RISCO CONHECIDO À AÇÃO VERIFICÁVEL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70623-E0C8-4457-A62F-7E521D85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O PDCA vira uma trilha de evidências da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resposta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0DCDA-34E2-48C6-857D-17CD4789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4AD82C-32B3-4975-BC15-E3A182A5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419350"/>
            <a:ext cx="327660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Planejar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BDF939-9544-4FDC-88A9-A77E1970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867025"/>
            <a:ext cx="3276600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Diagnóstico e prioridade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0E11C8-E3CA-4433-84AA-7552A267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379EA-F0DC-4996-9E1A-71291506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19350"/>
            <a:ext cx="327660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Executar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2F191-3005-4F8D-927A-752ED6A2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867025"/>
            <a:ext cx="3276600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Obra ou medida entregue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D1A83-395C-4468-8BC2-19355792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26720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5AEB56-3733-4B41-804C-32C60679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400550"/>
            <a:ext cx="327660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Verificar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3A37B-0FFF-42E7-BC92-62E4284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848225"/>
            <a:ext cx="3276600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Resultado e comparação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6EEF2-BCFD-490E-9F82-98AF459A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67200"/>
            <a:ext cx="361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D2682-7727-4125-880B-36A611E7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400550"/>
            <a:ext cx="3276600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Agir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56645C-6F9D-4CDA-903F-BBE16466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848225"/>
            <a:ext cx="3276600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Correção e nova decisão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192F9-DD59-4D5D-A872-32C9AA2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53000" y="2857500"/>
            <a:ext cx="2257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F21D8D-6507-4FD3-8228-5FB410CE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115175" y="279082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6A0809-D9BD-4794-8DA4-24F3DCEB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115175" y="28575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E06F9-7DED-4971-83F3-F7D40E43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91625" y="3609975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9F5AB3-DB31-4870-B4E6-D98B6ADB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24950" y="4019550"/>
            <a:ext cx="666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A394F-FAF4-4B70-9CA0-F247A6B0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91625" y="4019550"/>
            <a:ext cx="666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643C53-0B50-441C-AF91-2D6DD071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810125" y="4848225"/>
            <a:ext cx="2409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0CA56C-6192-41D9-82B3-714DFBA3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43475" y="4848225"/>
            <a:ext cx="2276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EF5F0D-834A-4A16-A5DF-E54D205C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43475" y="478155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8AF2D1-9662-49DF-936D-278632C5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43475" y="484822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5B950B-D860-4904-B083-C270F41B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375" y="3619500"/>
            <a:ext cx="953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FEB904-6F3F-4532-9AE1-52EE0292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33700" y="3619500"/>
            <a:ext cx="666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F5160E-E9E8-42DA-85B5-E3CDB507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00375" y="3619500"/>
            <a:ext cx="6667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91332A-F42D-49C3-B497-10D90F54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5524500" cy="272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RESPONSÁVEL + DATA + DOCUMENTO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2FC8F2-B87A-46C5-A3FB-CB4ADB75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6A7320-15AD-4258-8FC5-A3D16A26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Norma não prova execução; documento não localizado não prova ausência de ação.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B1CDF4-0BAC-401D-8B74-7C59F060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27652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10028C-07CA-4107-A503-D0A910EB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EXTENSÃO INDEPENDENTE · FONTES PRESERVADAS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FE5C6-4327-406C-9865-C7251A8F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55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A base já permite testar padrões e associações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8750BF-2B59-4ECD-94D7-991E351A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76475"/>
            <a:ext cx="57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272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4457C-0927-4398-B19B-8F56DB8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04950" y="2428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3555C-9575-4293-BA96-5903BC56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04950" y="255270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0AD44-71A2-4796-B310-78505D63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04950" y="267652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08D5E-6361-452E-B2FA-E5D7C2504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504950" y="280035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FBC98-0FBD-4B76-9CCF-961F5D3B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2333625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PRF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49D27-4E29-40A8-965B-9FA0E318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333625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Ocorrências</a:t>
            </a:r>
          </a:p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2022–2025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3AE71-096E-4171-AE62-8536543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76475"/>
            <a:ext cx="57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272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1AC16-0309-478B-8D09-25E72EF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29125" y="2428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1AD50B-DFF9-4452-A822-71D3663F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29125" y="255270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B75E4F-EBD3-4BB7-BA48-4DAB530A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29125" y="267652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B3985-D230-40D3-82EC-97EACC3B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429125" y="280035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A4D5C-BEA3-4FE4-8686-68448AAA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28975"/>
            <a:ext cx="2333625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PNCT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86209-07E2-4AB5-870F-BAE72775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95700"/>
            <a:ext cx="2333625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Tráfego modelado</a:t>
            </a:r>
          </a:p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2022–2025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04CC3-8054-46D5-9007-828A6768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76475"/>
            <a:ext cx="57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272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A43FE9-7CE9-48A3-8FD7-F1CC0D2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53300" y="2428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F9671E-089F-4D86-A908-3612AB85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53300" y="255270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056B8-7E40-43DA-8DFF-B63EB29A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53300" y="267652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E26469-F0E4-43FF-AF4F-9647C9C0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53300" y="280035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91A56C-BB4A-4A1B-A937-A9C14A62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2333625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SNV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F60F35-461D-48E2-93E8-2FDC6F16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95700"/>
            <a:ext cx="2333625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Malha e trechos</a:t>
            </a:r>
          </a:p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202604A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F3B43E-F22B-4C19-BA8D-D77EA1ED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2276475"/>
            <a:ext cx="57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272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171850-61FF-458C-BD4A-A3A2AD50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277475" y="242887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7E9416-726D-49F5-AF17-90183CEE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277475" y="255270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509843-4185-4D1E-AD82-9E8C0544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277475" y="2676525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47813-D976-42E5-AF0C-0AD9601F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277475" y="2800350"/>
            <a:ext cx="371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695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D9BE13-4D22-4A30-BA34-623668BC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28975"/>
            <a:ext cx="2333625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ANTT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5ADB3E-08FB-449E-BB94-60F58A66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695700"/>
            <a:ext cx="2333625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Instrumentos</a:t>
            </a:r>
          </a:p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 investimentos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E8BBB9-B288-48CB-84A7-3D1F80D3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19250" y="4476750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FC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E94148-C1AF-494A-AB82-483FD7F7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19250" y="4714875"/>
            <a:ext cx="88582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FC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004145-22FE-4006-897C-065F74A2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477500" y="4476750"/>
            <a:ext cx="953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FC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A347B0-B065-4015-A4EC-D9981FD4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010150"/>
            <a:ext cx="102870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UF + BR + km + período → auditoria → painel reproduzível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E706D5-AE21-493C-9723-F4FC1D94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997A0F-9A44-4A35-A949-24DBAAB6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278.103 sinistros · 23.274 mortes · 26 fontes originais preservadas com SHA-256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8F9772-94F9-4BC2-AA45-C4811041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014595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68DD4-058B-4D22-B840-73F3DF95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UNIDADE TERRITORIAL E RASTREABILIDADE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4782-7C8E-4737-B51A-7AB126CD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A atribuição institucional começa no trecho e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no período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FD11B7-3A6B-4DFC-9E10-FEFB78E03D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783ebadf04e5b">
            <a:extLst>
              <a:ext uri="{96DAC541-7B7A-43D3-8B79-37D633B846F1}">
                <asvg:svgBlip xmlns:asvg="http://schemas.microsoft.com/office/drawing/2016/SVG/main" r:embed="R1e421aafb9fd4f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0500" y="2009775"/>
            <a:ext cx="5143500" cy="396240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A5A6E-0B05-4816-862F-507980685D2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4c0430ac94c73">
            <a:extLst>
              <a:ext uri="{96DAC541-7B7A-43D3-8B79-37D633B846F1}">
                <asvg:svgBlip xmlns:asvg="http://schemas.microsoft.com/office/drawing/2016/SVG/main" r:embed="Rf393054d6b1646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34050" y="2038350"/>
            <a:ext cx="6096000" cy="3905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56B01-4B7A-45CC-863F-4497569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981575" y="3952875"/>
            <a:ext cx="6191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6BE3-810F-4EA8-9AD4-15558C3B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05450" y="38862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309D3A-6E6F-4C93-A2FD-074AB5D7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505450" y="39528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3CC1C8-C53A-4BB5-AA76-4611179C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4333875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Brasil · malha federal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208B41-937D-4FDB-A220-5AE0B841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48325"/>
            <a:ext cx="5305425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Exemplo de localização · MG / BR-040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CF367-9649-42A8-BF0E-8E7A1AA3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38E0F-2CE2-4E66-81BC-0055393D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Limites IBGE e traçados SNV · Mercator com escala uniforme · geometria de 2026, sem regime histórico inferido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EAE66-E3D9-4615-A14E-0DD09152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5592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891F4-EA3A-4454-9C45-9916339F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ESTRATÉGIA ANALÍTICA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C1B43-330B-4CDF-A3D7-A53377AEC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Cada pergunta tem unidade, teste e limite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próprios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58045-16C5-4AF5-A32F-9DE06E49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435E6-33B2-4EF3-BF39-1E1A7BB1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61912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26E305-49B8-421C-83DC-71CC0B68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28975"/>
            <a:ext cx="3429000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Gravidade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14829-D753-468F-AF11-0063A73E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3381375" cy="1004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Logística e multinomial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Boosting de classificação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Ocorrências registradas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CE61B-E88B-4165-B5C1-34E355CE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16CEA-53B1-45F7-A8DD-D0331675C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428875"/>
            <a:ext cx="61912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DF160-2925-4874-99E7-09D63B3C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28975"/>
            <a:ext cx="3429000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Contagens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CB63A6-F81F-4C9A-BD0E-FBA0C043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76675"/>
            <a:ext cx="3381375" cy="1004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NB2 e boosting Poisson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Exposição em veículos-km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Segmentos-ano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F2CC3-8A6E-4355-A54A-644D3C26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3241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09C525-BF15-4EDD-9DD0-EAA7C29E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428875"/>
            <a:ext cx="619125" cy="3547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D160C-8893-4B17-9FC8-D20C628B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3429000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Perfis e casos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364579-F094-4D38-A501-A67C3FBE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76675"/>
            <a:ext cx="3381375" cy="132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Persistência e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agrupamento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Estabilidade e comparação</a:t>
            </a:r>
          </a:p>
          <a:p xmlns:a="http://schemas.openxmlformats.org/drawingml/2006/main">
            <a:pPr>
              <a:defRPr sz="202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Trechos e episódios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A6753-7D05-46EA-A011-5F07F979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1087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335AB-9E4E-4C1C-899C-8C000B63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57825"/>
            <a:ext cx="10668000" cy="331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Treino 2022–2023 → teste 2024–2025 + teste em corredores reservados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48BC6C-D22F-430C-898D-93E0389B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74B4F-9138-4FF3-9953-FE33A44B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Os modelos preditivos não identificam governança causal. Fonte independente é necessária para validar detecção.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6C8DF-2A58-4E5E-A749-EA8DE257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567825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7ED67-8612-47DC-8B21-154420FD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EXTENSÃO EXECUTADA · TESTE TEMPORAL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E906C-E967-465D-94A1-4E410CD9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Há ganho preditivo modesto, com limites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substantivos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9575F71-ECA9-4B65-8806-2D9C386C4D18}"/>
              </a:ext>
            </a:extLst>
          </p:cNvPr>
          <p:cNvGraphicFramePr/>
          <p:nvPr/>
        </p:nvGraphicFramePr>
        <p:xfrm>
          <a:off xmlns:a="http://schemas.openxmlformats.org/drawingml/2006/main" x="590550" y="2390775"/>
          <a:ext xmlns:a="http://schemas.openxmlformats.org/drawingml/2006/main" cx="6334125" cy="2876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2a73147ffe461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4A616-C08A-49F3-8912-B5BFBC35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33650"/>
            <a:ext cx="3810000" cy="9688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3,4%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219E1-8544-497C-8813-B3BF2527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57575"/>
            <a:ext cx="3638550" cy="732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redução do desvio</a:t>
            </a:r>
          </a:p>
          <a:p xmlns:a="http://schemas.openxmlformats.org/drawingml/2006/main">
            <a:pPr>
              <a:defRPr sz="21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frente ao NB2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448585-99B6-46C7-AEF1-205166DF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81900" y="4343400"/>
            <a:ext cx="3943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CFC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8C1C7-BF4F-435E-887B-AD331FD8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Classificação fatal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FDAD6-6EE2-495B-9D9F-8247A81A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91100"/>
            <a:ext cx="3810000" cy="6617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Sensibilidade 3,8%</a:t>
            </a:r>
          </a:p>
          <a:p xmlns:a="http://schemas.openxmlformats.org/drawingml/2006/main">
            <a:pPr>
              <a:defRPr sz="1950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pela maior probabilidade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304C2-A281-4BD2-B98F-E49203D9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53075"/>
            <a:ext cx="6191250" cy="283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Desvio Poisson · contagens de mortes registradas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2569D7-0416-45CF-ACC9-179AF011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5DA34-60E0-4670-891E-01BF7F32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Log loss da gravidade melhora pouco; a classificação não está validada para decisão operacional.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82E4C6-C0BC-45D8-8C34-907C618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391563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024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4F0352-FB62-492E-9031-7BD1438A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O QUE A ANÁLISE ACRESCENTA À COMPREENSÃO DA TEORIA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C7F5F-ACEE-47B0-A62B-2E21322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contribuição exige explicar como o indicador</a:t>
            </a:r>
          </a:p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 produzido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A01D2-7861-41A1-99BA-7E745054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952500" cy="957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55D0D-6212-4A11-85E5-C260644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19475"/>
            <a:ext cx="34290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Mensuração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283BC-0C25-4023-9B26-8DEB8C40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10025"/>
            <a:ext cx="3381375" cy="1004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 comparação muda com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exposição, universo e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controles.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801D3-6907-43D3-8D65-17312AEB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952500" cy="957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7E8E9-FC63-4572-949D-6FF7D72C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19475"/>
            <a:ext cx="34290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Seleção de casos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95E1D9-91D2-472A-A2EE-B3D68DD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10025"/>
            <a:ext cx="3381375" cy="132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Dois perfis estáveis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ajudam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 procurar episódios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comparáveis.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44A6B-50D1-4AFD-8C8D-C5CEB9FF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952500" cy="9570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75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5775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4134C-0B96-4D08-8EA2-219DADD8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19475"/>
            <a:ext cx="3429000" cy="401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Mecanismo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3F2451-1986-4F02-B31D-6C43EEF9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10025"/>
            <a:ext cx="3381375" cy="13232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O passo decisivo é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vincular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observação, obrigação e</a:t>
            </a:r>
          </a:p>
          <a:p xmlns:a="http://schemas.openxmlformats.org/drawingml/2006/main">
            <a:pPr>
              <a:defRPr sz="20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resposta.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9B3DAB-1D39-45DF-A5AC-7B51ACF3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5F5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674DC-6C12-4D1C-8498-BD6086F9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A extensão prepara testes do mecanismo. Não confirma, por si só, VGPR, detecção ou falha de governança.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F68E5-0128-47E8-9D00-504F7DAC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016462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ED0591-7F3F-4835-806D-CE8316C8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VIABILIDADE E PRÓXIMOS TESTES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166D0-FBD9-43DB-A145-A2412255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A evidência disponível delimita o que já pode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ser afirmado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02BDF-2D46-42D2-A7AA-71AD4E46F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66975"/>
            <a:ext cx="3381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26A5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453148-6791-4C00-8093-AD30996D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3381375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526A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26A5C"/>
                </a:solidFill>
                <a:latin typeface="Arial"/>
                <a:ea typeface="Arial"/>
                <a:cs typeface="Arial"/>
              </a:rPr>
              <a:t>Executado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81801-D570-44C3-8586-5580DF47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A5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E8AA2C-183E-4E41-B713-FDDA9C77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Auditoria e exposição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69E8F-9581-4844-893C-70378758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A5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A0431-FF98-44F4-A56B-CD8F548C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Gravidade e contagens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7ECA7-EB8F-4F29-A74A-C67EB03F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A5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BB738-F679-4FF6-B86E-9456BC14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Persistência e perfis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AFB2B-AB44-410A-A098-0F000A31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26A5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D3A3A-83E7-40B3-9C90-841B3B75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Teste temporal e espacial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E22CD3-3708-466D-B530-226D12D3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66975"/>
            <a:ext cx="3381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8A3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BEC50-BE2A-4172-A251-57DB96B4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3381375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C38A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38A32"/>
                </a:solidFill>
                <a:latin typeface="Arial"/>
                <a:ea typeface="Arial"/>
                <a:cs typeface="Arial"/>
              </a:rPr>
              <a:t>Parcial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79AA92-4912-447F-AB87-9DCB758C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A3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45646-1CA2-4268-B261-39734F26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337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Capacidade instrumental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F34CB-09A6-48C0-A4EF-D8BF4639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A3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F1E615-7E5D-46D4-819B-B2171D79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5762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Candidatos documentais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8F3654-3592-49F4-AD7C-379C73BCA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A3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7D97EF-4087-423C-874B-BE5B0162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3815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Comparabilidade cadastral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EA84A-764A-4256-A06A-C9124AE9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38A3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6358CE-3222-4A2E-A1EE-11A53E04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0537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Explicações concorrentes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04B480-5B2B-471A-B3E1-E7AD8AFE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66975"/>
            <a:ext cx="3381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C7A5B0-F636-40A0-B886-AD7FCF13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62250"/>
            <a:ext cx="3381375" cy="449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 reconstruir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9D3822-2C9E-4705-8BAA-944A6BD8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95E4DE-F653-40C5-A86C-4081DAFB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Operação histórica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A26DF-B6A3-49C2-98DE-90E56A60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10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9B07ED-E66C-4515-B2CD-3DEDC791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5762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Obrigações vigentes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6153F4-FFE8-4777-A014-0C8CAD15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533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BC0E3-0507-4124-BD97-824A7E0B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81500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Alerta → decisão → obra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C4E500-9706-4CD0-970D-913AC3AF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57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80E7E-6E9D-4C46-922C-04000001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05375"/>
            <a:ext cx="3171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72726"/>
                </a:solidFill>
                <a:latin typeface="Arial"/>
                <a:ea typeface="Arial"/>
                <a:cs typeface="Arial"/>
              </a:rPr>
              <a:t>Cobertura independente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50B2F6-2BFC-4CFF-BD9E-6439073E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404ED8-35EE-4EA3-BCDB-A994F390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Prioridade para a tese: históricos por trecho e evidências documentais que permitam confirmar ou refutar o mecanismo.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BEAB43-D7CC-4E4F-AFD0-B79E9D1E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746818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9878A8-6B00-48D0-A1FC-7FDD0278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PLANO DE TRABALHO · SÍNTESE DO QUADRO 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2D9F6-2258-425B-8E1C-553012E8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10633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O cronograma deve fechar a cadeia entre dados e</a:t>
            </a:r>
          </a:p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mecanismo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EC0F-1C9E-4CBC-92A1-960B8E6C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2190CA-D9D9-4F5D-9D76-952E5B2D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90775"/>
            <a:ext cx="2495550" cy="390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Out–Dez/26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135772-3B39-45CC-978C-5EA9835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2514600" cy="685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Auditoria e</a:t>
            </a:r>
          </a:p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revisão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FC55A-4169-4D51-B8E2-EAC910F7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A5A68-9A04-486B-9312-4A5B4B86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390775"/>
            <a:ext cx="2495550" cy="390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Jan–Mar/27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49951-5CCE-4414-9222-5E85930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62350"/>
            <a:ext cx="2514600" cy="685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Diagnóstico e</a:t>
            </a:r>
          </a:p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documentos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B9031-280D-472B-9C2F-41C9A5C3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29EAB5-9B43-4442-B74B-2B061C39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90775"/>
            <a:ext cx="2495550" cy="390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Abr–Jun/27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0D558C-3D2C-4B33-A458-08424213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2514600" cy="685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Modelos e</a:t>
            </a:r>
          </a:p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persistência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06636C-8ECA-4F35-990C-28085A9E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7432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B3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4C2AF-C1FA-4A07-8CA0-2D9355F5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90775"/>
            <a:ext cx="2495550" cy="3901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Jul–Set/27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7E07AA-DA81-4FAF-AC9C-4FFA91B3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62350"/>
            <a:ext cx="2514600" cy="685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Validação e</a:t>
            </a:r>
          </a:p>
          <a:p xmlns:a="http://schemas.openxmlformats.org/drawingml/2006/main">
            <a:pPr>
              <a:defRPr sz="20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redação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96306-51FA-4D60-82E8-AA94C9EE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5000" y="3000375"/>
            <a:ext cx="230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816D1D-D54B-429F-986F-C2C1F837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114800" y="29337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B2B0FB-46F7-433A-BC03-DBC596AC9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14800" y="30003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B5D293-E116-43D4-BB75-34DF65B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724400" y="3000375"/>
            <a:ext cx="230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7B4B-6DEA-4F69-BDA8-081134307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34200" y="29337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7991E5-BCA7-47D0-A8B7-AB9E8730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34200" y="30003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69CBD0-324E-4B23-9AC8-CD7CE0DA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543800" y="3000375"/>
            <a:ext cx="23050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61D73-049F-4420-A31A-D77E5D13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53600" y="2933700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7F6D52-6EB8-4ADB-911A-FC714C6E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53600" y="3000375"/>
            <a:ext cx="952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33B3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128FFA-2B58-4F4E-B506-917AF5C3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43450"/>
            <a:ext cx="110871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4B11A5-41A5-4E9C-B385-BF2686D2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43475"/>
            <a:ext cx="10629900" cy="42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teste final deve unir informação, intervenção e resultado.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E1E6F3-D65D-45E3-B2AA-BBBE5786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0629900" cy="3074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E9DF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E9DFD2"/>
                </a:solidFill>
                <a:latin typeface="Arial"/>
                <a:ea typeface="Arial"/>
                <a:cs typeface="Arial"/>
              </a:rPr>
              <a:t>O cronograma integral está nos dois slides de apêndice.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8EDE89-E3C9-4CBD-845F-12A13A05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8F4B6-1CD3-4436-84D1-C682B645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A agenda informada é 27/out/2026 às 15h; o Quadro 8 prevê qualificação em nov–dez. Divergência a harmonizar.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336DDA-A769-451A-8F5B-D2CA660A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133167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F2A6D-A38A-4C28-94AD-CBC65C5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APÊNDICE · CONSULTA DURANTE A DISCUSSÃO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3106C-28F5-4A22-83F1-A2A7814E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55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Cronograma integral 1/2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25EED-6634-4E9F-BAAA-79513F701687}"/>
              </a:ext>
            </a:extLst>
          </p:cNvPr>
          <p:cNvGraphicFramePr/>
          <p:nvPr/>
        </p:nvGraphicFramePr>
        <p:xfrm>
          <a:off xmlns:a="http://schemas.openxmlformats.org/drawingml/2006/main" x="552450" y="2200275"/>
          <a:ext xmlns:a="http://schemas.openxmlformats.org/drawingml/2006/main" cx="110871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</a:tblGrid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Dez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Fev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Abr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Mai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Jun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Jul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Ago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Auditoria e consolidação da base de dados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Revisão final do projeto e envio à banca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Qualificação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Ajustes pós-qualificação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 1 – Diagnóstico informacional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Etapas 2 e 3 – Sinistros esperados e distribuição da visibilidade (P1)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 4 – Gradiente de gravidade (P2)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DFBEF-F6A4-42E8-9B64-ACDA238F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14625-CB22-4BFE-9833-C80C8783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2026: out–dez · 2027: jan–set. Fonte: Quadro 8 do projeto; qualificação nov–dez mantida como na fonte.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1497E9-F9CA-41E4-9B11-4092877F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855557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9462B-BD2A-4304-A51B-06D8F109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0668000" cy="212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defPPr>
            <a:lvl1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1pPr>
            <a:lvl2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2pPr>
            <a:lvl3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3pPr>
            <a:lvl4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4pPr>
            <a:lvl5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5pPr>
            <a:lvl6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6pPr>
            <a:lvl7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7pPr>
            <a:lvl8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8pPr>
            <a:lvl9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1">
                <a:solidFill>
                  <a:srgbClr val="A33B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33B32"/>
                </a:solidFill>
                <a:latin typeface="Arial"/>
                <a:ea typeface="Arial"/>
                <a:cs typeface="Arial"/>
              </a:rPr>
              <a:t>APÊNDICE · CONSULTA DURANTE A DISCUSSÃO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717F45-421A-485A-AEC1-D5E23EAD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52475"/>
            <a:ext cx="11087100" cy="555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defPPr>
            <a:lvl1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1pPr>
            <a:lvl2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2pPr>
            <a:lvl3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3pPr>
            <a:lvl4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4pPr>
            <a:lvl5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5pPr>
            <a:lvl6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6pPr>
            <a:lvl7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7pPr>
            <a:lvl8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8pPr>
            <a:lvl9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7272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72726"/>
                </a:solidFill>
                <a:latin typeface="Arial"/>
                <a:ea typeface="Arial"/>
                <a:cs typeface="Arial"/>
              </a:rPr>
              <a:t>Cronograma integral 2/2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44022B-8004-4894-81A9-60EAF0E3BA6E}"/>
              </a:ext>
            </a:extLst>
          </p:cNvPr>
          <p:cNvGraphicFramePr/>
          <p:nvPr/>
        </p:nvGraphicFramePr>
        <p:xfrm>
          <a:off xmlns:a="http://schemas.openxmlformats.org/drawingml/2006/main" x="552450" y="2200275"/>
          <a:ext xmlns:a="http://schemas.openxmlformats.org/drawingml/2006/main" cx="11087100" cy="3390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72000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  <a:gridCol w="542925"/>
              </a:tblGrid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Atividade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Out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Nov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Dez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Jan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Fev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Mar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Abr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Mai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Jun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Jul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Ago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1">
                          <a:solidFill>
                            <a:srgbClr val="A33B32"/>
                          </a:solidFill>
                          <a:latin typeface="Arial"/>
                          <a:ea typeface="Arial"/>
                          <a:cs typeface="Arial"/>
                        </a:rPr>
                        <a:t>Set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T w="4763">
                      <a:solidFill>
                        <a:srgbClr val="D9CFC2"/>
                      </a:solidFill>
                      <a:prstDash val="solid"/>
                    </a:lnT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 5 – Perdas não registradas e anomalias (P3)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 6 – Análise documental do ciclo PDCA e pedidos via LAI (P4)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 7 – Persistência do risco e resposta registrada (P4)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Etapa 8 – Modelo de governança observável e validação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Redação da tese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Elaboração de artigos derivados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</a:tr>
              <a:tr h="423863">
                <a:tc>
                  <a:txBody>
                    <a:bodyPr lIns="47625" tIns="47625" rIns="47625" bIns="47625"/>
                    <a:lstStyle/>
                    <a:p>
                      <a:r>
                        <a:rPr sz="1050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>Revisão final, depósito e defesa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D9CFC2"/>
                      </a:solidFill>
                      <a:prstDash val="solid"/>
                    </a:lnL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27272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F6F2EC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  <a:tc>
                  <a:txBody>
                    <a:bodyPr lIns="47625" tIns="47625" rIns="47625" bIns="47625"/>
                    <a:lstStyle/>
                    <a:p>
                      <a:r>
                        <a:rPr sz="1125" b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D9CFC2"/>
                      </a:solidFill>
                      <a:prstDash val="solid"/>
                    </a:lnR>
                    <a:lnB w="4763">
                      <a:solidFill>
                        <a:srgbClr val="D9CFC2"/>
                      </a:solidFill>
                      <a:prstDash val="solid"/>
                    </a:lnB>
                    <a:solidFill>
                      <a:srgbClr val="A33B32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724F3-346E-4000-8D00-2B73ADDC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52450" y="6181725"/>
            <a:ext cx="11087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28BAD3-885D-4F87-968D-366B3B36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34125"/>
            <a:ext cx="10953750" cy="2247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2026: out–dez · 2027: jan–set. Fonte: Quadro 8 do projeto; qualificação nov–dez mantida como na fonte.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2F578-D4D4-4A31-B9DE-6BCAE3AC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670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72695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2695F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03214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2026-10-17T17:25:38.1680000Z</dcterms:created>
  <dcterms:modified xsi:type="dcterms:W3CDTF">2026-10-17T17:25:38.1680000Z</dcterms:modified>
</coreProperties>
</file>